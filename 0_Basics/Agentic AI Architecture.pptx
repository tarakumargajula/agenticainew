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9" r:id="rId13"/>
    <p:sldId id="270" r:id="rId14"/>
    <p:sldId id="282" r:id="rId15"/>
    <p:sldId id="271" r:id="rId16"/>
    <p:sldId id="272" r:id="rId17"/>
    <p:sldId id="273" r:id="rId18"/>
    <p:sldId id="274" r:id="rId19"/>
    <p:sldId id="275" r:id="rId20"/>
    <p:sldId id="683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84" r:id="rId29"/>
    <p:sldId id="287" r:id="rId30"/>
    <p:sldId id="285" r:id="rId31"/>
    <p:sldId id="286" r:id="rId32"/>
    <p:sldId id="288" r:id="rId33"/>
    <p:sldId id="28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5B677-8C40-244D-1146-41BA520F67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C43C4-6013-BA2A-5649-6F94351BC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6A5CD-9620-B318-6D9F-B79E65FA3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DBC3-C82C-4BFE-AF2E-6041DE01239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A6F38-7E43-1029-AFBC-551D56591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C9403-4EB1-600C-685F-DBC65C4A5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816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22C49-83E1-7DD3-0D29-06749C898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D15A8-A75D-BD10-6F84-12CEF5A28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88738-1E41-828D-4C51-09368DEDE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DBC3-C82C-4BFE-AF2E-6041DE01239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4377D-7585-69DC-B20F-8C44FFCE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9F24B-F93A-BAF2-B98A-C85EEB40E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891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D9569-40C2-FD17-6FD3-DF7A78CB1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5473F-80CD-F2A1-EB4E-1E793350B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04ACA-B4BF-9622-FCFC-DE0DD6FBA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DBC3-C82C-4BFE-AF2E-6041DE01239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163E1-C204-55E5-47BE-D96F475DA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2DD70-25EC-A76C-3996-216798F2B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173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B6340-DC49-3A9C-7E01-F3D4BA597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6B9ED-FB06-963C-11F7-F81C9DF63D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7734EA-C845-6E07-581B-D9F5B2C662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C0D40-BA10-2E98-082E-798B0DF96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DBC3-C82C-4BFE-AF2E-6041DE01239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F7A19E-E226-778D-59BD-57A65A669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D9C97-A637-A66C-E5E6-EF749632D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764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0531B-C559-F62A-B20A-12B2EF01C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938A8-ED65-498F-FA75-E4D5A3486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EF9581-E5C2-24D2-8FDC-300835D4C4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6CB5E7-CDDE-996E-928C-5BFC718EB4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9FD2B2-BF25-4672-796F-4DA8C82052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0835D4-ED8B-5251-CCEE-1B3D2CFAC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DBC3-C82C-4BFE-AF2E-6041DE01239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27EEC8-FD5A-8D6F-D88F-A2B98758B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09333F-E8C6-F2E1-3462-986C695D2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434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95FDF-54F2-1C27-E25F-75184A09A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44279E-1A22-9424-65A9-841B49DAE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DBC3-C82C-4BFE-AF2E-6041DE01239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1340CE-7CD0-6497-256D-21F081D19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58A1F1-2BDF-8F91-3382-378B06078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59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A0AF83-9B44-83DE-AAFE-0E60BE037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DBC3-C82C-4BFE-AF2E-6041DE01239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06BFFA-8AE8-8536-086B-D4F9677E0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FAA4F-30B2-79F9-84C3-95BA5EFBC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640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026FE-3B2D-8849-3467-3AE64B28B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44108-4F23-1BC9-7708-ACE0981DE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0B16F5-6FDF-8276-8966-7608DA84DD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D00B1-A6D2-D320-0099-130F8FAC2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DBC3-C82C-4BFE-AF2E-6041DE01239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C7532E-91AB-BDA1-4FF0-C694AFED7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04606E-8E56-EE7F-FD81-C81D4CBF7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455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07A56-5C29-2ACE-426D-52D075133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12BBF5-C0D3-4B6A-4FF5-AEEF2C6120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5A0C20-E665-F65E-66FD-A8F9E5A936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A6F08-387E-A4A6-40DB-82ED0B822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DBC3-C82C-4BFE-AF2E-6041DE01239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06859-437A-525F-68FA-68560AB5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D0F7F4-4F71-E736-77E1-383BB9110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19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1C48E-FEF0-177C-397D-6B6DE5EF5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00D11E-12EC-03F1-E9D4-0855DCFC2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A7A77-79A7-FFBB-522E-8955BE63B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DBC3-C82C-4BFE-AF2E-6041DE01239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4908-6EC3-6063-22D9-3B8E102D3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5B841-4FC8-E6AC-485E-2D5B285F8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110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5B261D-B8BA-92DC-07BD-2D5B95850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1C7EA-CC2B-5FEC-3A3E-D9C30036D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DD143-9DD2-0018-8F82-3D04FA93E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DBC3-C82C-4BFE-AF2E-6041DE01239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83113-069D-CE74-EE07-7CD09F942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3F79A-0C61-495C-B851-5F19FFC5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802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558429-C131-9B07-2199-99A8F4A4C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FC8-111E-16F4-1FAF-400962BE1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66124-6F7E-F4DD-E00F-7585416FEC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3FDBC3-C82C-4BFE-AF2E-6041DE01239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0DE50-75D4-479B-6BC6-FCAFBD57F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37D3C-13DC-A214-B00F-77DFFED94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271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library/unittest.mock.html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B9FE1-D504-C9DA-985C-C1E70C56BA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Agentic AI </a:t>
            </a:r>
            <a:br>
              <a:rPr lang="en-IN" dirty="0"/>
            </a:br>
            <a:r>
              <a:rPr lang="en-IN" dirty="0"/>
              <a:t>Architectural Aspects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FBE8D7-6819-8A03-8F23-B73D61AEBC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Atul Kahate</a:t>
            </a:r>
          </a:p>
        </p:txBody>
      </p:sp>
    </p:spTree>
    <p:extLst>
      <p:ext uri="{BB962C8B-B14F-4D97-AF65-F5344CB8AC3E}">
        <p14:creationId xmlns:p14="http://schemas.microsoft.com/office/powerpoint/2010/main" val="2476505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5149F-DD54-BB19-638B-2B5366C00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1A5CA9-6C82-8054-73A2-FF4183D87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Basics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A280C5-D6CB-FFB4-0400-DB55BEA43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2783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2D026-BAE0-CC91-A552-9A557B1EE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Agentic AI Architecture: Main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DE60E-B140-9F2C-1C85-7B8054F4A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Loop through three measure things until a solution is found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Makes them resilient in dynamic environments</a:t>
            </a:r>
          </a:p>
          <a:p>
            <a:pPr lvl="1"/>
            <a:r>
              <a:rPr lang="en-IN" dirty="0"/>
              <a:t>If a step fails or new information arrives, agent can reflect on the outcome, update the context, and adjust the plan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AF0164B-9E23-C474-C1B1-E0F807C111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39519"/>
              </p:ext>
            </p:extLst>
          </p:nvPr>
        </p:nvGraphicFramePr>
        <p:xfrm>
          <a:off x="745733" y="2261880"/>
          <a:ext cx="10515600" cy="280416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730339">
                  <a:extLst>
                    <a:ext uri="{9D8B030D-6E8A-4147-A177-3AD203B41FA5}">
                      <a16:colId xmlns:a16="http://schemas.microsoft.com/office/drawing/2014/main" val="1109019664"/>
                    </a:ext>
                  </a:extLst>
                </a:gridCol>
                <a:gridCol w="8785261">
                  <a:extLst>
                    <a:ext uri="{9D8B030D-6E8A-4147-A177-3AD203B41FA5}">
                      <a16:colId xmlns:a16="http://schemas.microsoft.com/office/drawing/2014/main" val="12911189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Concept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Description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4263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Memory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Maintaining context across steps; an active store that the agent queries to inform future decisions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8793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Reasoning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Deciding what to do next — beyond simple conditional logic. Includes evaluating options, reviewing/criticizing own decisions, planning multi-step workflows, and following a “chain of thought”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0412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Tool use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Executing operations by transforming abstract plans into measurable actions. Examples: query a database, trigger a cloud function, perform a web search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4739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4297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DCF79-8620-220A-6487-BCA05ECA4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31AA1-2FC9-87F1-3579-198FA1D11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Evolution of Autonomous Agents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AB3DB27-5A6F-F754-034F-9AA8BA2CD7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0609002"/>
              </p:ext>
            </p:extLst>
          </p:nvPr>
        </p:nvGraphicFramePr>
        <p:xfrm>
          <a:off x="739739" y="1825625"/>
          <a:ext cx="10849512" cy="4536207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1027416">
                  <a:extLst>
                    <a:ext uri="{9D8B030D-6E8A-4147-A177-3AD203B41FA5}">
                      <a16:colId xmlns:a16="http://schemas.microsoft.com/office/drawing/2014/main" val="2604367446"/>
                    </a:ext>
                  </a:extLst>
                </a:gridCol>
                <a:gridCol w="2044557">
                  <a:extLst>
                    <a:ext uri="{9D8B030D-6E8A-4147-A177-3AD203B41FA5}">
                      <a16:colId xmlns:a16="http://schemas.microsoft.com/office/drawing/2014/main" val="308726224"/>
                    </a:ext>
                  </a:extLst>
                </a:gridCol>
                <a:gridCol w="4058292">
                  <a:extLst>
                    <a:ext uri="{9D8B030D-6E8A-4147-A177-3AD203B41FA5}">
                      <a16:colId xmlns:a16="http://schemas.microsoft.com/office/drawing/2014/main" val="2158883478"/>
                    </a:ext>
                  </a:extLst>
                </a:gridCol>
                <a:gridCol w="3719247">
                  <a:extLst>
                    <a:ext uri="{9D8B030D-6E8A-4147-A177-3AD203B41FA5}">
                      <a16:colId xmlns:a16="http://schemas.microsoft.com/office/drawing/2014/main" val="2690049300"/>
                    </a:ext>
                  </a:extLst>
                </a:gridCol>
              </a:tblGrid>
              <a:tr h="226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Stage</a:t>
                      </a:r>
                      <a:endParaRPr lang="en-IN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Type of Agent</a:t>
                      </a:r>
                      <a:endParaRPr lang="en-IN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Strengths</a:t>
                      </a:r>
                      <a:endParaRPr lang="en-IN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Problems / Limitations</a:t>
                      </a:r>
                      <a:endParaRPr lang="en-IN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5456558"/>
                  </a:ext>
                </a:extLst>
              </a:tr>
              <a:tr h="1073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Stage 1</a:t>
                      </a:r>
                      <a:endParaRPr lang="en-IN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>
                          <a:solidFill>
                            <a:srgbClr val="FF0000"/>
                          </a:solidFill>
                        </a:rPr>
                        <a:t>Early agents (Rule Engines)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Rigid, rule-based (If–Then–Else branches). Excelled in narrowly defined tasks (e.g., routing helpdesk calls)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Complex environments required hundreds of branches → workflows collapsed. Adding a single new rule required massive updates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3487344"/>
                  </a:ext>
                </a:extLst>
              </a:tr>
              <a:tr h="9041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Stage 2</a:t>
                      </a:r>
                      <a:endParaRPr lang="en-IN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>
                          <a:solidFill>
                            <a:srgbClr val="FF0000"/>
                          </a:solidFill>
                        </a:rPr>
                        <a:t>Modern (Reactive) agents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Parse inputs and select from a library of responses using pattern matching or heuristics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Lacked continuity — Each interaction was isolated, No memory, Prior context, or Long-term objectives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7367322"/>
                  </a:ext>
                </a:extLst>
              </a:tr>
              <a:tr h="1243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Stage 3</a:t>
                      </a:r>
                      <a:endParaRPr lang="en-IN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>
                          <a:solidFill>
                            <a:srgbClr val="FF0000"/>
                          </a:solidFill>
                        </a:rPr>
                        <a:t>Reinforcement Learning (RL)-based agents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Trial-and-error optimization, Learned policies to maximize reward signals. Effective in controlled environments (robots, games)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Struggled to integrate external knowledge or complex APIs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5583194"/>
                  </a:ext>
                </a:extLst>
              </a:tr>
              <a:tr h="9041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Stage 4</a:t>
                      </a:r>
                      <a:endParaRPr lang="en-IN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 err="1">
                          <a:solidFill>
                            <a:srgbClr val="FF0000"/>
                          </a:solidFill>
                        </a:rPr>
                        <a:t>ReAct</a:t>
                      </a:r>
                      <a:r>
                        <a:rPr lang="en-IN" sz="1800" b="0" dirty="0">
                          <a:solidFill>
                            <a:srgbClr val="FF0000"/>
                          </a:solidFill>
                        </a:rPr>
                        <a:t> (Reasoning + Acting) agents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Chain-of-thought prompting integrated with actions. Supports multi-step logic and reasoning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Still evolving; complexity increases with richer tasks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7084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0572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93FE5-A531-9DD0-DD58-79C1B5C29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AE5C2-4F2D-6D9B-DDDB-07F836D8D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Not a passive ledger, but foundation for coherent, context-aware behaviour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16AAFB-811B-D57B-4914-D530ABE5CB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97754"/>
              </p:ext>
            </p:extLst>
          </p:nvPr>
        </p:nvGraphicFramePr>
        <p:xfrm>
          <a:off x="838200" y="2904014"/>
          <a:ext cx="10515600" cy="35661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603643">
                  <a:extLst>
                    <a:ext uri="{9D8B030D-6E8A-4147-A177-3AD203B41FA5}">
                      <a16:colId xmlns:a16="http://schemas.microsoft.com/office/drawing/2014/main" val="906239459"/>
                    </a:ext>
                  </a:extLst>
                </a:gridCol>
                <a:gridCol w="3996647">
                  <a:extLst>
                    <a:ext uri="{9D8B030D-6E8A-4147-A177-3AD203B41FA5}">
                      <a16:colId xmlns:a16="http://schemas.microsoft.com/office/drawing/2014/main" val="3612396315"/>
                    </a:ext>
                  </a:extLst>
                </a:gridCol>
                <a:gridCol w="3915310">
                  <a:extLst>
                    <a:ext uri="{9D8B030D-6E8A-4147-A177-3AD203B41FA5}">
                      <a16:colId xmlns:a16="http://schemas.microsoft.com/office/drawing/2014/main" val="30115626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Memory Type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Purpose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Examples</a:t>
                      </a:r>
                      <a:endParaRPr lang="en-IN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39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Short-term memory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Tracks the state of the ongoing workflow - Keeps context within the current session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Which subtasks are complete, what results have been fetched, what questions remain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3543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Long-term memory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Archives insights across sessions for reuse in the future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User preferences, past decisions, domain-specific tasks the agent can leverage later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1358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8736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8525E-4670-FC25-9FA5-D0E50D204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827D6-5165-27C1-45A1-7E11937C4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09617-888D-D545-7120-AA2B14D3E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Transforms raw context into deliberate action</a:t>
            </a:r>
          </a:p>
          <a:p>
            <a:r>
              <a:rPr lang="en-IN" dirty="0"/>
              <a:t>Agents use LLMs to perform </a:t>
            </a:r>
            <a:r>
              <a:rPr lang="en-IN" i="1" dirty="0"/>
              <a:t>thought </a:t>
            </a:r>
            <a:r>
              <a:rPr lang="en-IN" dirty="0"/>
              <a:t>steps</a:t>
            </a:r>
          </a:p>
          <a:p>
            <a:pPr lvl="1"/>
            <a:r>
              <a:rPr lang="en-IN" dirty="0"/>
              <a:t>Evaluating, Alternative approaches, Estimating risks, Selecting the next operation</a:t>
            </a:r>
          </a:p>
          <a:p>
            <a:r>
              <a:rPr lang="en-IN" dirty="0"/>
              <a:t>Prompting the LLM to articulate its rationale before executing an action (called ‘self-critique’) helps catch logical gaps early</a:t>
            </a:r>
          </a:p>
          <a:p>
            <a:r>
              <a:rPr lang="en-IN" dirty="0"/>
              <a:t>Effective reasoning: Open-ended creativity + Guardrails</a:t>
            </a:r>
          </a:p>
          <a:p>
            <a:pPr lvl="1"/>
            <a:r>
              <a:rPr lang="en-IN" dirty="0"/>
              <a:t>Constrain the model’s output format, Parse and validate its plan programmatically</a:t>
            </a:r>
          </a:p>
        </p:txBody>
      </p:sp>
    </p:spTree>
    <p:extLst>
      <p:ext uri="{BB962C8B-B14F-4D97-AF65-F5344CB8AC3E}">
        <p14:creationId xmlns:p14="http://schemas.microsoft.com/office/powerpoint/2010/main" val="689038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1EB52-DA1D-30D6-C511-C2B9D3A9A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5C064-090B-7FD8-4F57-253C3E689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29E0E-F4CF-2809-C0ED-E39DA3DBF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‘Actuators’ of agentic workflow</a:t>
            </a:r>
          </a:p>
          <a:p>
            <a:r>
              <a:rPr lang="en-IN" dirty="0"/>
              <a:t>One tool (Database connector, Search API, Code-execution sandbox) = One specific ability</a:t>
            </a:r>
          </a:p>
          <a:p>
            <a:r>
              <a:rPr lang="en-IN" dirty="0"/>
              <a:t>Important point: Define the interface for an external tool very clearly</a:t>
            </a:r>
          </a:p>
          <a:p>
            <a:pPr lvl="1"/>
            <a:r>
              <a:rPr lang="en-IN" dirty="0"/>
              <a:t>Reason: If an external service changes, we only change its wrapper (i.e. tool call), not the agent logic</a:t>
            </a:r>
          </a:p>
          <a:p>
            <a:r>
              <a:rPr lang="en-IN" b="1" dirty="0"/>
              <a:t>Tool chaining</a:t>
            </a:r>
            <a:r>
              <a:rPr lang="en-IN" dirty="0"/>
              <a:t>: The reasoning component decides which sequence of tools to invoke, then each tool executes its task, and feeds results into memory for subsequent steps</a:t>
            </a:r>
          </a:p>
          <a:p>
            <a:r>
              <a:rPr lang="en-IN" dirty="0"/>
              <a:t>Loop: [Memory -&gt; Informs Reasoning -&gt; Reasoning select Tools -&gt; Tool outputs update Memory]</a:t>
            </a:r>
          </a:p>
        </p:txBody>
      </p:sp>
    </p:spTree>
    <p:extLst>
      <p:ext uri="{BB962C8B-B14F-4D97-AF65-F5344CB8AC3E}">
        <p14:creationId xmlns:p14="http://schemas.microsoft.com/office/powerpoint/2010/main" val="3807426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88ACC-71AA-EC8F-CA3C-43EDD98E4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When to Use an Agent Architecture?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844B7BD-96AC-CB7D-BCC6-DF82C4140B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7681955"/>
              </p:ext>
            </p:extLst>
          </p:nvPr>
        </p:nvGraphicFramePr>
        <p:xfrm>
          <a:off x="626724" y="1825625"/>
          <a:ext cx="11024169" cy="4918868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948683">
                  <a:extLst>
                    <a:ext uri="{9D8B030D-6E8A-4147-A177-3AD203B41FA5}">
                      <a16:colId xmlns:a16="http://schemas.microsoft.com/office/drawing/2014/main" val="2910332279"/>
                    </a:ext>
                  </a:extLst>
                </a:gridCol>
                <a:gridCol w="3667874">
                  <a:extLst>
                    <a:ext uri="{9D8B030D-6E8A-4147-A177-3AD203B41FA5}">
                      <a16:colId xmlns:a16="http://schemas.microsoft.com/office/drawing/2014/main" val="3541057862"/>
                    </a:ext>
                  </a:extLst>
                </a:gridCol>
                <a:gridCol w="4407612">
                  <a:extLst>
                    <a:ext uri="{9D8B030D-6E8A-4147-A177-3AD203B41FA5}">
                      <a16:colId xmlns:a16="http://schemas.microsoft.com/office/drawing/2014/main" val="1614118321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Scenario</a:t>
                      </a:r>
                      <a:endParaRPr lang="en-IN" sz="180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Description</a:t>
                      </a:r>
                      <a:endParaRPr lang="en-IN" sz="180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Why Agentic Systems Help</a:t>
                      </a:r>
                      <a:endParaRPr lang="en-IN" sz="1800"/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735159129"/>
                  </a:ext>
                </a:extLst>
              </a:tr>
              <a:tr h="942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Complex, Multi-step Process</a:t>
                      </a:r>
                      <a:endParaRPr lang="en-IN" sz="180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Workflow involves dependent operations (gather data → transform → validate → follow-up actions)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Agents monitor outcome at each step, reflect on success/failure, and adjust plans dynamically (unlike rigid pipelines)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179725701"/>
                  </a:ext>
                </a:extLst>
              </a:tr>
              <a:tr h="942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Uncertain or Evolving Environments</a:t>
                      </a:r>
                      <a:endParaRPr lang="en-IN" sz="180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Service endpoints may fail, responses may change format, or new inputs may arrive mid-execution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Agents adapt in real time, handling errors and evolving conditions without collapsing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658193937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Integration with Diverse Tools and Services</a:t>
                      </a:r>
                      <a:endParaRPr lang="en-US" sz="180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Applications must interface with multiple APIs, databases, or custom functions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Encapsulates each capability into a tool module, and lets the reasoning engine sequence them effectively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371125850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Long-running or Stateful Interactions</a:t>
                      </a:r>
                      <a:endParaRPr lang="en-IN" sz="180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Processes that span extended periods (reminders, ongoing research, iterative planning)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Memory preserves state across sessions so the agent can resume where it left off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4138843850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Need of Self-correction and Reliability</a:t>
                      </a:r>
                      <a:endParaRPr lang="en-US" sz="180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Outcomes must meet high accuracy or compliance standards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Reflection loop allows self-critique, evaluation of outputs, and retry/reroute when needed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777455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5708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B37A13-DF51-9B92-E84B-3BAB009AE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Goal Decomposition and Planning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FBF62E-F986-962D-58C3-D260B44F2A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81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668DD-06C9-40A9-EAC8-005EEDC84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B7802-C984-DC0E-F96B-2DDC628E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Goal Decomposition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DFCF9-3CD4-16A2-E15B-A15E63F3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Goal: Produce a quarterly business overview</a:t>
            </a:r>
          </a:p>
          <a:p>
            <a:r>
              <a:rPr lang="en-IN" dirty="0"/>
              <a:t>Tasks</a:t>
            </a:r>
          </a:p>
          <a:p>
            <a:pPr lvl="1"/>
            <a:r>
              <a:rPr lang="en-IN" dirty="0"/>
              <a:t>Fetch financial data</a:t>
            </a:r>
          </a:p>
          <a:p>
            <a:pPr lvl="1"/>
            <a:r>
              <a:rPr lang="en-IN" dirty="0"/>
              <a:t>Analyse revenue trends</a:t>
            </a:r>
          </a:p>
          <a:p>
            <a:pPr lvl="1"/>
            <a:r>
              <a:rPr lang="en-IN" dirty="0"/>
              <a:t>Visualize comparison</a:t>
            </a:r>
          </a:p>
          <a:p>
            <a:pPr lvl="1"/>
            <a:r>
              <a:rPr lang="en-IN" dirty="0"/>
              <a:t>Draft insights</a:t>
            </a:r>
          </a:p>
          <a:p>
            <a:r>
              <a:rPr lang="en-IN" dirty="0"/>
              <a:t>Clearly identifies granular milestones</a:t>
            </a:r>
          </a:p>
          <a:p>
            <a:pPr lvl="1"/>
            <a:r>
              <a:rPr lang="en-IN" dirty="0"/>
              <a:t>Becomes easy to identify success as well as failure</a:t>
            </a:r>
          </a:p>
          <a:p>
            <a:r>
              <a:rPr lang="en-IN" dirty="0"/>
              <a:t>Two decomposition patterns: </a:t>
            </a:r>
            <a:r>
              <a:rPr lang="en-IN" b="1" dirty="0"/>
              <a:t>Hierarchical planning</a:t>
            </a:r>
            <a:r>
              <a:rPr lang="en-IN" dirty="0"/>
              <a:t> and </a:t>
            </a:r>
            <a:r>
              <a:rPr lang="en-IN" b="1" dirty="0"/>
              <a:t>Linear chaining</a:t>
            </a:r>
          </a:p>
        </p:txBody>
      </p:sp>
    </p:spTree>
    <p:extLst>
      <p:ext uri="{BB962C8B-B14F-4D97-AF65-F5344CB8AC3E}">
        <p14:creationId xmlns:p14="http://schemas.microsoft.com/office/powerpoint/2010/main" val="3617293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BB4AF-9A3C-679C-73FD-ABF0EC754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Goal Decomposition Patterns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524B30-FE8A-97A5-3113-AB01AF7B71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2042656"/>
              </p:ext>
            </p:extLst>
          </p:nvPr>
        </p:nvGraphicFramePr>
        <p:xfrm>
          <a:off x="838200" y="1899715"/>
          <a:ext cx="10515600" cy="423672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19898117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6114278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9505326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8584163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629600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Approach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Structure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Example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Notes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Best Suited For</a:t>
                      </a:r>
                      <a:endParaRPr lang="en-IN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7351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Hierarchical Planning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Tree-like sub-task structure - Some tasks run in parallel, others sequentially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Stock analysis → Collect data → Clean data → </a:t>
                      </a:r>
                      <a:r>
                        <a:rPr lang="en-IN" sz="2000" dirty="0" err="1"/>
                        <a:t>Analyze</a:t>
                      </a:r>
                      <a:r>
                        <a:rPr lang="en-IN" sz="2000" dirty="0"/>
                        <a:t> data → Summarize results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Flexible, supports dependencies, but more complex to manage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Complex problem-solving, research tasks, adaptive workflows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8487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Linear Chaining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Strict step-by-step order; each task depends on the previous 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ETL pipeline, multi-stage report generation, approval workflow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Easy to debug and trace end-to-end, but rigid (no parallelism)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Standardized production workflows, reporting pipelines, compliance processes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5548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6456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A2E93-BE4D-FE86-F4BA-328EB4F32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515600" cy="750014"/>
          </a:xfrm>
        </p:spPr>
        <p:txBody>
          <a:bodyPr/>
          <a:lstStyle/>
          <a:p>
            <a:r>
              <a:rPr lang="en-IN" dirty="0"/>
              <a:t>Goal Decomposition Patterns: Key Aspects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2EF8FE-CE6C-A8B2-AC8F-FFB5B05E85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9473917"/>
              </p:ext>
            </p:extLst>
          </p:nvPr>
        </p:nvGraphicFramePr>
        <p:xfrm>
          <a:off x="174661" y="718327"/>
          <a:ext cx="11399607" cy="6067753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1068628">
                  <a:extLst>
                    <a:ext uri="{9D8B030D-6E8A-4147-A177-3AD203B41FA5}">
                      <a16:colId xmlns:a16="http://schemas.microsoft.com/office/drawing/2014/main" val="965218389"/>
                    </a:ext>
                  </a:extLst>
                </a:gridCol>
                <a:gridCol w="1338526">
                  <a:extLst>
                    <a:ext uri="{9D8B030D-6E8A-4147-A177-3AD203B41FA5}">
                      <a16:colId xmlns:a16="http://schemas.microsoft.com/office/drawing/2014/main" val="1633750921"/>
                    </a:ext>
                  </a:extLst>
                </a:gridCol>
                <a:gridCol w="2790441">
                  <a:extLst>
                    <a:ext uri="{9D8B030D-6E8A-4147-A177-3AD203B41FA5}">
                      <a16:colId xmlns:a16="http://schemas.microsoft.com/office/drawing/2014/main" val="199745523"/>
                    </a:ext>
                  </a:extLst>
                </a:gridCol>
                <a:gridCol w="2705561">
                  <a:extLst>
                    <a:ext uri="{9D8B030D-6E8A-4147-A177-3AD203B41FA5}">
                      <a16:colId xmlns:a16="http://schemas.microsoft.com/office/drawing/2014/main" val="2964626619"/>
                    </a:ext>
                  </a:extLst>
                </a:gridCol>
                <a:gridCol w="3496451">
                  <a:extLst>
                    <a:ext uri="{9D8B030D-6E8A-4147-A177-3AD203B41FA5}">
                      <a16:colId xmlns:a16="http://schemas.microsoft.com/office/drawing/2014/main" val="3482470957"/>
                    </a:ext>
                  </a:extLst>
                </a:gridCol>
              </a:tblGrid>
              <a:tr h="3067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Aspect</a:t>
                      </a:r>
                      <a:endParaRPr lang="en-IN" sz="1600"/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Topic</a:t>
                      </a:r>
                      <a:endParaRPr lang="en-IN" sz="1600" dirty="0"/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Details</a:t>
                      </a:r>
                      <a:endParaRPr lang="en-IN" sz="1600"/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Example</a:t>
                      </a:r>
                      <a:endParaRPr lang="en-IN" sz="1600"/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Tools / LangGraph Implementation</a:t>
                      </a:r>
                      <a:endParaRPr lang="en-IN" sz="1600"/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4334765"/>
                  </a:ext>
                </a:extLst>
              </a:tr>
              <a:tr h="1099366">
                <a:tc row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Planning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Clarity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Each subtask has a precise description and well-defined inputs and outputs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“Fetch stock data from API X” clearly specifies input (stock symbol) and output (JSON with prices)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Node in LangGraph with defined </a:t>
                      </a:r>
                      <a:r>
                        <a:rPr lang="en-US" sz="1600" dirty="0" err="1"/>
                        <a:t>input_schema</a:t>
                      </a:r>
                      <a:r>
                        <a:rPr lang="en-US" sz="1600" dirty="0"/>
                        <a:t> and </a:t>
                      </a:r>
                      <a:r>
                        <a:rPr lang="en-US" sz="1600" dirty="0" err="1"/>
                        <a:t>output_schema</a:t>
                      </a:r>
                      <a:endParaRPr lang="en-US" sz="1600" dirty="0"/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7235187"/>
                  </a:ext>
                </a:extLst>
              </a:tr>
              <a:tr h="136358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Bounded Scope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Tasks should not be too fine-grained (causes overhead) or too coarse (lacks clarity of progress)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Instead of “Analyze stock market,” break it into “Fetch data,” “Clean data,” “Compute indicators,” “Generate summary”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Separate nodes for each step; allows parallel execution if independent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11551"/>
                  </a:ext>
                </a:extLst>
              </a:tr>
              <a:tr h="109936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Validation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Before execution, planners vet subtasks against allowed operations to prevent hallucinated or unsafe actions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Ensure API endpoints exist and inputs are valid before running “Fetch stock data”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Pre-execution validation function in each node or a global validator node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8756705"/>
                  </a:ext>
                </a:extLst>
              </a:tr>
              <a:tr h="1099366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Capabilities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State Management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Each node must report its status to a shared store (Pending, Running, Successful, Failed)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After “Clean data” runs, the node updates the store as Successful so downstream tasks can proceed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Use LangGraph’s central state store; nodes update status field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4023661"/>
                  </a:ext>
                </a:extLst>
              </a:tr>
              <a:tr h="109936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Error Handling Policies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Instead of letting failures cascade, define remediation subtasks (e.g., clean input, switch endpoint, escalate)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If “Fetch stock data” fails, retry with alternative API or log issue for manual review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Define retry/alternate nodes; link error handling nodes in the workflow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0000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5607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E84FE-C4FF-1DDC-5878-723354384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A697508-B39F-1071-1DA4-C0369738EA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2924815"/>
              </p:ext>
            </p:extLst>
          </p:nvPr>
        </p:nvGraphicFramePr>
        <p:xfrm>
          <a:off x="688368" y="1825625"/>
          <a:ext cx="10515600" cy="4731576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174012">
                  <a:extLst>
                    <a:ext uri="{9D8B030D-6E8A-4147-A177-3AD203B41FA5}">
                      <a16:colId xmlns:a16="http://schemas.microsoft.com/office/drawing/2014/main" val="3860268335"/>
                    </a:ext>
                  </a:extLst>
                </a:gridCol>
                <a:gridCol w="4241686">
                  <a:extLst>
                    <a:ext uri="{9D8B030D-6E8A-4147-A177-3AD203B41FA5}">
                      <a16:colId xmlns:a16="http://schemas.microsoft.com/office/drawing/2014/main" val="3468462703"/>
                    </a:ext>
                  </a:extLst>
                </a:gridCol>
                <a:gridCol w="4099902">
                  <a:extLst>
                    <a:ext uri="{9D8B030D-6E8A-4147-A177-3AD203B41FA5}">
                      <a16:colId xmlns:a16="http://schemas.microsoft.com/office/drawing/2014/main" val="2398990744"/>
                    </a:ext>
                  </a:extLst>
                </a:gridCol>
              </a:tblGrid>
              <a:tr h="406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Topic</a:t>
                      </a:r>
                      <a:endParaRPr lang="en-IN" sz="1800" dirty="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Details</a:t>
                      </a:r>
                      <a:endParaRPr lang="en-IN" sz="18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Example / Implementation</a:t>
                      </a:r>
                      <a:endParaRPr lang="en-IN" sz="1800"/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4176537926"/>
                  </a:ext>
                </a:extLst>
              </a:tr>
              <a:tr h="754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Separate Planning from Execution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Create a Planner node and an Executor node – easy to update, switch, or evaluate independently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Planner node generates the workflow; Executor node runs each step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2962608665"/>
                  </a:ext>
                </a:extLst>
              </a:tr>
              <a:tr h="754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Prompt Templates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Clear instructions or prompts help the model generate consistent plans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Planner node prompt: “Break down this goal into 3–5 sub-tasks with inputs and outputs”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2981817651"/>
                  </a:ext>
                </a:extLst>
              </a:tr>
              <a:tr h="928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Model Choice and Temperature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Lower temperature = more consistent, deterministic plans; Higher temperature = more creative execution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Planner node: temperature 0.2; Executor node: temperature 0.8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2182364257"/>
                  </a:ext>
                </a:extLst>
              </a:tr>
              <a:tr h="754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Error Handling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Wrap each Executor call in a try-catch block; schedule retries or fallback tasks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If “Fetch data” fails, retry 3 times or switch to an alternate API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936772697"/>
                  </a:ext>
                </a:extLst>
              </a:tr>
              <a:tr h="754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Caching Plans*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Cache planner outputs for recurring goals to avoid repeated planning calls and reduce cost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Store planner output in a key-value store keyed by goal; Executor reuses cached plan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3628235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3512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5B7EE-FBDA-6725-C41B-FB9C444C3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Caching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31472-186E-AAA8-E89E-866A93782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IN" dirty="0"/>
              <a:t>from </a:t>
            </a:r>
            <a:r>
              <a:rPr lang="en-IN" dirty="0" err="1"/>
              <a:t>functools</a:t>
            </a:r>
            <a:r>
              <a:rPr lang="en-IN" dirty="0"/>
              <a:t> import </a:t>
            </a:r>
            <a:r>
              <a:rPr lang="en-IN" dirty="0" err="1"/>
              <a:t>lru_cache</a:t>
            </a:r>
            <a:endParaRPr lang="en-IN" dirty="0"/>
          </a:p>
          <a:p>
            <a:endParaRPr lang="en-IN" dirty="0"/>
          </a:p>
          <a:p>
            <a:r>
              <a:rPr lang="en-IN" dirty="0"/>
              <a:t>@lru_cache(maxsize=1024)</a:t>
            </a:r>
          </a:p>
          <a:p>
            <a:r>
              <a:rPr lang="en-IN" dirty="0"/>
              <a:t>def </a:t>
            </a:r>
            <a:r>
              <a:rPr lang="en-IN" dirty="0" err="1"/>
              <a:t>cache_agent_results</a:t>
            </a:r>
            <a:r>
              <a:rPr lang="en-IN" dirty="0"/>
              <a:t>(prompt: str) -&gt; str:</a:t>
            </a:r>
          </a:p>
          <a:p>
            <a:r>
              <a:rPr lang="en-IN" dirty="0"/>
              <a:t>    print(</a:t>
            </a:r>
            <a:r>
              <a:rPr lang="en-IN" dirty="0" err="1"/>
              <a:t>f"Calling</a:t>
            </a:r>
            <a:r>
              <a:rPr lang="en-IN" dirty="0"/>
              <a:t> LLM for: {prompt}")  # will only print on first call</a:t>
            </a:r>
          </a:p>
          <a:p>
            <a:endParaRPr lang="en-IN" dirty="0"/>
          </a:p>
          <a:p>
            <a:r>
              <a:rPr lang="en-IN" dirty="0"/>
              <a:t>    response = </a:t>
            </a:r>
            <a:r>
              <a:rPr lang="en-IN" dirty="0" err="1"/>
              <a:t>client.chat.completions.create</a:t>
            </a:r>
            <a:r>
              <a:rPr lang="en-IN" dirty="0"/>
              <a:t>(</a:t>
            </a:r>
          </a:p>
          <a:p>
            <a:r>
              <a:rPr lang="en-IN" dirty="0"/>
              <a:t>        model="gpt-4o-mini",</a:t>
            </a:r>
          </a:p>
          <a:p>
            <a:r>
              <a:rPr lang="en-IN" dirty="0"/>
              <a:t>        messages=[{"role": "user", "content": prompt}],</a:t>
            </a:r>
          </a:p>
          <a:p>
            <a:r>
              <a:rPr lang="en-IN" dirty="0"/>
              <a:t>    )</a:t>
            </a:r>
          </a:p>
          <a:p>
            <a:r>
              <a:rPr lang="en-IN" dirty="0"/>
              <a:t>    return </a:t>
            </a:r>
            <a:r>
              <a:rPr lang="en-IN" dirty="0" err="1"/>
              <a:t>response.choices</a:t>
            </a:r>
            <a:r>
              <a:rPr lang="en-IN" dirty="0"/>
              <a:t>[0].</a:t>
            </a:r>
            <a:r>
              <a:rPr lang="en-IN" dirty="0" err="1"/>
              <a:t>message.content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if __name__ == "__main__":</a:t>
            </a:r>
          </a:p>
          <a:p>
            <a:r>
              <a:rPr lang="en-IN" dirty="0"/>
              <a:t>    print(</a:t>
            </a:r>
            <a:r>
              <a:rPr lang="en-IN" dirty="0" err="1"/>
              <a:t>cache_agent_results</a:t>
            </a:r>
            <a:r>
              <a:rPr lang="en-IN" dirty="0"/>
              <a:t>("Explain wave-particle duality in one sentence.")) # First call – Cache miss – Store results in cache</a:t>
            </a:r>
          </a:p>
          <a:p>
            <a:r>
              <a:rPr lang="en-IN" dirty="0"/>
              <a:t>    print(</a:t>
            </a:r>
            <a:r>
              <a:rPr lang="en-IN" dirty="0" err="1"/>
              <a:t>cache_agent_results</a:t>
            </a:r>
            <a:r>
              <a:rPr lang="en-IN" dirty="0"/>
              <a:t>("Explain wave-particle duality in one sentence."))   # Cache hit</a:t>
            </a:r>
          </a:p>
          <a:p>
            <a:r>
              <a:rPr lang="en-IN" dirty="0"/>
              <a:t>    print(</a:t>
            </a:r>
            <a:r>
              <a:rPr lang="en-IN" dirty="0" err="1"/>
              <a:t>cache_agent_results</a:t>
            </a:r>
            <a:r>
              <a:rPr lang="en-IN" dirty="0"/>
              <a:t>("Give me a Python example of bubble sort.")) # Cache miss – Call LLM and store results in cache</a:t>
            </a:r>
          </a:p>
        </p:txBody>
      </p:sp>
    </p:spTree>
    <p:extLst>
      <p:ext uri="{BB962C8B-B14F-4D97-AF65-F5344CB8AC3E}">
        <p14:creationId xmlns:p14="http://schemas.microsoft.com/office/powerpoint/2010/main" val="1388842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9399D-8C16-604D-5636-058745A50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76E45-35B6-F736-C076-D2F65516A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Possible Pitfalls in Planning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330D03E-3BDA-E6AC-8980-635FFE5685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1890109"/>
              </p:ext>
            </p:extLst>
          </p:nvPr>
        </p:nvGraphicFramePr>
        <p:xfrm>
          <a:off x="702067" y="1558497"/>
          <a:ext cx="10787865" cy="5050233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486345">
                  <a:extLst>
                    <a:ext uri="{9D8B030D-6E8A-4147-A177-3AD203B41FA5}">
                      <a16:colId xmlns:a16="http://schemas.microsoft.com/office/drawing/2014/main" val="3295504070"/>
                    </a:ext>
                  </a:extLst>
                </a:gridCol>
                <a:gridCol w="3952127">
                  <a:extLst>
                    <a:ext uri="{9D8B030D-6E8A-4147-A177-3AD203B41FA5}">
                      <a16:colId xmlns:a16="http://schemas.microsoft.com/office/drawing/2014/main" val="1213952477"/>
                    </a:ext>
                  </a:extLst>
                </a:gridCol>
                <a:gridCol w="4349393">
                  <a:extLst>
                    <a:ext uri="{9D8B030D-6E8A-4147-A177-3AD203B41FA5}">
                      <a16:colId xmlns:a16="http://schemas.microsoft.com/office/drawing/2014/main" val="2888721891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Problem Type</a:t>
                      </a:r>
                      <a:endParaRPr lang="en-IN" sz="20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Description</a:t>
                      </a:r>
                      <a:endParaRPr lang="en-IN" sz="200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Example / Notes</a:t>
                      </a:r>
                      <a:endParaRPr lang="en-IN" sz="2000"/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945456573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Overly Fine-Grained Steps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Splitting tasks into excessively small sub-tasks can make workflows very slow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“Trim nulls”, “Remove whitespace”, etc. → many tiny operations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877526987"/>
                  </a:ext>
                </a:extLst>
              </a:tr>
              <a:tr h="942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Under-Granularity / Opaque Tasks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Lumping too much into a single step can obscure failures and make recovery difficult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“Generate executive summary” can be broken into “Extract key metrics”, “Draft bullet points”, “Compose report”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4209165976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Recursive or Unbounded Planning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Allowing unlimited or uncontrolled planning loops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Agent keeps generating sub-tasks indefinitely → may never terminate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637434380"/>
                  </a:ext>
                </a:extLst>
              </a:tr>
              <a:tr h="942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Hallucinated or Irrelevant Sub-tasks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Planner creates tasks that are unnecessary or nonsensical in the current environment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Example: “Verify blockchain hashes” in a non-blockchain project. Using logs or HITL (human-in-the-loop) can help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190122351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Planning Latency and Costs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Frequent dynamic replanning can increase runtime and LLM costs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Limit replanning to only new data or new tasks instead of re-planning the entire workflow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660525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6821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83FA2A-3E1C-2E45-A9B2-E4EA4E163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Reflection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6D0687-B3B0-3466-B11A-58EEDAE89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250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E3D74-55CA-CEA3-9245-9828857B3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Reflection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94744-DD1E-EE67-1EAE-319F22321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4AA987C-E09F-D055-B658-572653CDDB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677001"/>
              </p:ext>
            </p:extLst>
          </p:nvPr>
        </p:nvGraphicFramePr>
        <p:xfrm>
          <a:off x="838200" y="1898174"/>
          <a:ext cx="10515600" cy="432816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627598">
                  <a:extLst>
                    <a:ext uri="{9D8B030D-6E8A-4147-A177-3AD203B41FA5}">
                      <a16:colId xmlns:a16="http://schemas.microsoft.com/office/drawing/2014/main" val="3092806747"/>
                    </a:ext>
                  </a:extLst>
                </a:gridCol>
                <a:gridCol w="2650732">
                  <a:extLst>
                    <a:ext uri="{9D8B030D-6E8A-4147-A177-3AD203B41FA5}">
                      <a16:colId xmlns:a16="http://schemas.microsoft.com/office/drawing/2014/main" val="2225913666"/>
                    </a:ext>
                  </a:extLst>
                </a:gridCol>
                <a:gridCol w="2815119">
                  <a:extLst>
                    <a:ext uri="{9D8B030D-6E8A-4147-A177-3AD203B41FA5}">
                      <a16:colId xmlns:a16="http://schemas.microsoft.com/office/drawing/2014/main" val="4261680928"/>
                    </a:ext>
                  </a:extLst>
                </a:gridCol>
                <a:gridCol w="3422151">
                  <a:extLst>
                    <a:ext uri="{9D8B030D-6E8A-4147-A177-3AD203B41FA5}">
                      <a16:colId xmlns:a16="http://schemas.microsoft.com/office/drawing/2014/main" val="18620192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Step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Description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Purpose / Why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Example / Implementation</a:t>
                      </a:r>
                      <a:endParaRPr lang="en-IN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7102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Execute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Run a subtask or 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Perform the planned action to achieve the subtask’s goal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Execute “Fetch stock data from API X” or “Clean dataset”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1289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Evaluate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Prompt the model to assess its own results against clear success criteria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Detect errors, inconsistencies, or incomplete outputs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Ask: “Does the cleaned dataset have missing values or duplicates?” or “Are all key metrics computed correctly?”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3372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Revise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Feed the evaluation/criticism back into a revision prompt for improvement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Iteratively improve outputs until success criteria are met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If duplicates exist, prompt: “Remove duplicates and recompute metrics” Then re-execute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0454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4467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37351-2C96-5F50-A4C6-3808A0D10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ReAct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C991A-34F0-8348-AD5E-8740024DB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err="1"/>
              <a:t>ReAct</a:t>
            </a:r>
            <a:r>
              <a:rPr lang="en-IN" b="1" dirty="0"/>
              <a:t>: Reason, Act</a:t>
            </a:r>
          </a:p>
          <a:p>
            <a:r>
              <a:rPr lang="en-IN" dirty="0"/>
              <a:t>Interleaves the </a:t>
            </a:r>
            <a:r>
              <a:rPr lang="en-IN" i="1" dirty="0"/>
              <a:t>Thought </a:t>
            </a:r>
            <a:r>
              <a:rPr lang="en-IN" dirty="0"/>
              <a:t>and </a:t>
            </a:r>
            <a:r>
              <a:rPr lang="en-IN" i="1" dirty="0"/>
              <a:t>Action</a:t>
            </a:r>
            <a:r>
              <a:rPr lang="en-IN" dirty="0"/>
              <a:t> steps into a single loop</a:t>
            </a:r>
          </a:p>
          <a:p>
            <a:r>
              <a:rPr lang="en-IN" dirty="0"/>
              <a:t>Allows the agent to reason, act, observe results, and immediately adapt its next reasoning step based on new information</a:t>
            </a:r>
          </a:p>
          <a:p>
            <a:r>
              <a:rPr lang="en-IN" dirty="0"/>
              <a:t>Loop steps</a:t>
            </a:r>
          </a:p>
          <a:p>
            <a:pPr lvl="1"/>
            <a:r>
              <a:rPr lang="en-IN" b="1" dirty="0"/>
              <a:t>Thought</a:t>
            </a:r>
            <a:r>
              <a:rPr lang="en-IN" dirty="0"/>
              <a:t>: Model reflects on the current goal and past observations</a:t>
            </a:r>
          </a:p>
          <a:p>
            <a:pPr lvl="1"/>
            <a:r>
              <a:rPr lang="en-IN" b="1" dirty="0"/>
              <a:t>Action</a:t>
            </a:r>
            <a:r>
              <a:rPr lang="en-IN" dirty="0"/>
              <a:t>: Selects from the available tools (APIs, code executors) and issues a call</a:t>
            </a:r>
          </a:p>
          <a:p>
            <a:pPr lvl="1"/>
            <a:r>
              <a:rPr lang="en-IN" b="1" dirty="0"/>
              <a:t>Observation</a:t>
            </a:r>
            <a:r>
              <a:rPr lang="en-IN" dirty="0"/>
              <a:t>: Environment returns the tool’s output</a:t>
            </a:r>
          </a:p>
          <a:p>
            <a:pPr lvl="1"/>
            <a:r>
              <a:rPr lang="en-IN" b="1" dirty="0"/>
              <a:t>Next Thought</a:t>
            </a:r>
            <a:r>
              <a:rPr lang="en-IN" dirty="0"/>
              <a:t>: Model integrates the observation into reasoning, deciding the next tool or conclusion</a:t>
            </a:r>
          </a:p>
        </p:txBody>
      </p:sp>
    </p:spTree>
    <p:extLst>
      <p:ext uri="{BB962C8B-B14F-4D97-AF65-F5344CB8AC3E}">
        <p14:creationId xmlns:p14="http://schemas.microsoft.com/office/powerpoint/2010/main" val="393797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28519-5A6E-E5B4-7327-1DEFC35EA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4D9BDD-7BC5-F454-BBA3-F30069F4E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Multi-Agent Collaboration Models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4AA6B1-0F38-E646-4BC3-CB5A0C16A0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6244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31910-AB44-5E92-C450-79AA28BAB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Multiagent Architecture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11F47-0887-1822-6ABA-E77C42E70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Advantages				Challenges</a:t>
            </a: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3ACDDE-E686-1BFD-50C5-A78E8C9468CE}"/>
              </a:ext>
            </a:extLst>
          </p:cNvPr>
          <p:cNvGraphicFramePr>
            <a:graphicFrameLocks noGrp="1"/>
          </p:cNvGraphicFramePr>
          <p:nvPr/>
        </p:nvGraphicFramePr>
        <p:xfrm>
          <a:off x="768398" y="2431574"/>
          <a:ext cx="4997208" cy="3139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02429">
                  <a:extLst>
                    <a:ext uri="{9D8B030D-6E8A-4147-A177-3AD203B41FA5}">
                      <a16:colId xmlns:a16="http://schemas.microsoft.com/office/drawing/2014/main" val="2072945132"/>
                    </a:ext>
                  </a:extLst>
                </a:gridCol>
                <a:gridCol w="3594779">
                  <a:extLst>
                    <a:ext uri="{9D8B030D-6E8A-4147-A177-3AD203B41FA5}">
                      <a16:colId xmlns:a16="http://schemas.microsoft.com/office/drawing/2014/main" val="2737554603"/>
                    </a:ext>
                  </a:extLst>
                </a:gridCol>
              </a:tblGrid>
              <a:tr h="288027">
                <a:tc>
                  <a:txBody>
                    <a:bodyPr/>
                    <a:lstStyle/>
                    <a:p>
                      <a:r>
                        <a:rPr lang="en-IN" sz="1600" dirty="0"/>
                        <a:t>Advantage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Details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989548"/>
                  </a:ext>
                </a:extLst>
              </a:tr>
              <a:tr h="288027">
                <a:tc>
                  <a:txBody>
                    <a:bodyPr/>
                    <a:lstStyle/>
                    <a:p>
                      <a:r>
                        <a:rPr lang="en-IN" sz="1600" b="1" dirty="0"/>
                        <a:t>Collaboration and Specialization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Each agent can be designed to specialize in specific tasks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1040452"/>
                  </a:ext>
                </a:extLst>
              </a:tr>
              <a:tr h="288027">
                <a:tc>
                  <a:txBody>
                    <a:bodyPr/>
                    <a:lstStyle/>
                    <a:p>
                      <a:r>
                        <a:rPr lang="en-IN" sz="1600" b="1" dirty="0"/>
                        <a:t>Parallelism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Perform multiple tasks in simultaneously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220925"/>
                  </a:ext>
                </a:extLst>
              </a:tr>
              <a:tr h="288027">
                <a:tc>
                  <a:txBody>
                    <a:bodyPr/>
                    <a:lstStyle/>
                    <a:p>
                      <a:r>
                        <a:rPr lang="en-IN" sz="1600" b="1" dirty="0"/>
                        <a:t>Improved Scalability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0" dirty="0"/>
                        <a:t>As the system grows, more agents can be introduced to handle more tasks or distribute the workload</a:t>
                      </a:r>
                      <a:endParaRPr lang="en-GB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384283"/>
                  </a:ext>
                </a:extLst>
              </a:tr>
              <a:tr h="288027">
                <a:tc>
                  <a:txBody>
                    <a:bodyPr/>
                    <a:lstStyle/>
                    <a:p>
                      <a:r>
                        <a:rPr lang="en-IN" sz="1600" b="1" dirty="0"/>
                        <a:t>Redundancy and Resilience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Because agents operate independently, failure in one agent does not necessarily compromise the entire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178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38281A4-57B1-9485-7611-D2650ACC93E5}"/>
              </a:ext>
            </a:extLst>
          </p:cNvPr>
          <p:cNvGraphicFramePr>
            <a:graphicFrameLocks noGrp="1"/>
          </p:cNvGraphicFramePr>
          <p:nvPr/>
        </p:nvGraphicFramePr>
        <p:xfrm>
          <a:off x="6356592" y="2431574"/>
          <a:ext cx="4997208" cy="2560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44941">
                  <a:extLst>
                    <a:ext uri="{9D8B030D-6E8A-4147-A177-3AD203B41FA5}">
                      <a16:colId xmlns:a16="http://schemas.microsoft.com/office/drawing/2014/main" val="2072945132"/>
                    </a:ext>
                  </a:extLst>
                </a:gridCol>
                <a:gridCol w="3452267">
                  <a:extLst>
                    <a:ext uri="{9D8B030D-6E8A-4147-A177-3AD203B41FA5}">
                      <a16:colId xmlns:a16="http://schemas.microsoft.com/office/drawing/2014/main" val="2737554603"/>
                    </a:ext>
                  </a:extLst>
                </a:gridCol>
              </a:tblGrid>
              <a:tr h="288027">
                <a:tc>
                  <a:txBody>
                    <a:bodyPr/>
                    <a:lstStyle/>
                    <a:p>
                      <a:r>
                        <a:rPr lang="en-IN" sz="1600" dirty="0"/>
                        <a:t>Challenge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Details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989548"/>
                  </a:ext>
                </a:extLst>
              </a:tr>
              <a:tr h="288027">
                <a:tc>
                  <a:txBody>
                    <a:bodyPr/>
                    <a:lstStyle/>
                    <a:p>
                      <a:r>
                        <a:rPr lang="en-IN" sz="1600" b="1" dirty="0"/>
                        <a:t>Coordination and Communication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Efficient exchange information, Action coordination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1040452"/>
                  </a:ext>
                </a:extLst>
              </a:tr>
              <a:tr h="288027">
                <a:tc>
                  <a:txBody>
                    <a:bodyPr/>
                    <a:lstStyle/>
                    <a:p>
                      <a:r>
                        <a:rPr lang="en-IN" sz="1600" b="1" dirty="0"/>
                        <a:t>Increased Complexity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Communication, Coordination, Synchronization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220925"/>
                  </a:ext>
                </a:extLst>
              </a:tr>
              <a:tr h="288027">
                <a:tc>
                  <a:txBody>
                    <a:bodyPr/>
                    <a:lstStyle/>
                    <a:p>
                      <a:r>
                        <a:rPr lang="en-IN" sz="1600" b="1" dirty="0"/>
                        <a:t>Lower Efficiency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0" dirty="0"/>
                        <a:t>Increased token usage, More communication between agents slowing down the processing </a:t>
                      </a:r>
                      <a:endParaRPr lang="en-GB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384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24842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07FB3-7246-7D21-C813-CE88D4E3D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38A41-1245-41BD-EAF6-A380A6F81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AFDBB-D357-0C81-7AA0-BB3B91E4E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7D972C-2A78-5A5C-A231-4101562A68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637001"/>
              </p:ext>
            </p:extLst>
          </p:nvPr>
        </p:nvGraphicFramePr>
        <p:xfrm>
          <a:off x="838200" y="1692239"/>
          <a:ext cx="10812696" cy="4650958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771436">
                  <a:extLst>
                    <a:ext uri="{9D8B030D-6E8A-4147-A177-3AD203B41FA5}">
                      <a16:colId xmlns:a16="http://schemas.microsoft.com/office/drawing/2014/main" val="1170272246"/>
                    </a:ext>
                  </a:extLst>
                </a:gridCol>
                <a:gridCol w="2969231">
                  <a:extLst>
                    <a:ext uri="{9D8B030D-6E8A-4147-A177-3AD203B41FA5}">
                      <a16:colId xmlns:a16="http://schemas.microsoft.com/office/drawing/2014/main" val="507657783"/>
                    </a:ext>
                  </a:extLst>
                </a:gridCol>
                <a:gridCol w="2476072">
                  <a:extLst>
                    <a:ext uri="{9D8B030D-6E8A-4147-A177-3AD203B41FA5}">
                      <a16:colId xmlns:a16="http://schemas.microsoft.com/office/drawing/2014/main" val="3679768647"/>
                    </a:ext>
                  </a:extLst>
                </a:gridCol>
                <a:gridCol w="3595957">
                  <a:extLst>
                    <a:ext uri="{9D8B030D-6E8A-4147-A177-3AD203B41FA5}">
                      <a16:colId xmlns:a16="http://schemas.microsoft.com/office/drawing/2014/main" val="1813707514"/>
                    </a:ext>
                  </a:extLst>
                </a:gridCol>
              </a:tblGrid>
              <a:tr h="491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Pattern</a:t>
                      </a:r>
                      <a:endParaRPr lang="en-IN" sz="1800"/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Description / How It Works</a:t>
                      </a:r>
                      <a:endParaRPr lang="en-IN" sz="1800"/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Benefits / Notes</a:t>
                      </a:r>
                      <a:endParaRPr lang="en-IN" sz="1800"/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Example / Use Case</a:t>
                      </a:r>
                      <a:endParaRPr lang="en-IN" sz="1800"/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2194926657"/>
                  </a:ext>
                </a:extLst>
              </a:tr>
              <a:tr h="912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Pipeline Pattern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Agent A completes its task and passes results to Agent B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Easy debugging; keeps agents decoupled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ETL workflow: Agent A fetches data → Agent B cleans data → Agent C analyzes data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2362678736"/>
                  </a:ext>
                </a:extLst>
              </a:tr>
              <a:tr h="1122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Group-Chat (Shared Context) Pattern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Agents exchange messages on a common blackboard; each reads/writes relevant info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Peer-to-peer coordination without rigid sequencing; flexible interaction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Multi-agent research assistant where each agent contributes expertise to a shared knowledge base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3660368347"/>
                  </a:ext>
                </a:extLst>
              </a:tr>
              <a:tr h="912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Debate Pattern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Two or more agents argue different positions; a third agent judges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Encourages critical reasoning; exposes multiple perspectives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Fact-checking, model-based evaluation, or policy recommendation scenarios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1599995360"/>
                  </a:ext>
                </a:extLst>
              </a:tr>
              <a:tr h="912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Swarm Pattern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Spawn multiple copies of the same agent to explore variations in parallel, then aggregate results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Encourages creativity, explores alternatives efficiently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Brainstorming marketing taglines, generating multiple code solutions, or creative content ideas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1626024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44054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37459-529A-942B-4570-972B66ADE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06A335-BE8F-F80D-3ACA-9C02B99FD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Monolithic and Micro-Agent Architectures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9C35F6-4F73-E0AC-EA54-8A9864EE1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471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C0758-2F62-9ECD-0305-2B4C36524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CBD4C-8178-ACC4-8651-7BF8C097C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Monolithic versus Micro-Agent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CF0C3-E7B0-F346-4D63-3D8ED61C1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Monolithic Architecture</a:t>
            </a:r>
            <a:r>
              <a:rPr lang="en-IN" dirty="0"/>
              <a:t>: Bundle planning, reasoning, memory management, and tool integrations into a single service</a:t>
            </a:r>
          </a:p>
          <a:p>
            <a:r>
              <a:rPr lang="en-IN" b="1" dirty="0"/>
              <a:t>Micro-Agent Architecture</a:t>
            </a:r>
            <a:r>
              <a:rPr lang="en-IN" dirty="0"/>
              <a:t>: Separate these into focused services by running separate processes/containers</a:t>
            </a:r>
          </a:p>
          <a:p>
            <a:pPr lvl="1"/>
            <a:r>
              <a:rPr lang="en-IN" dirty="0"/>
              <a:t>Use Kafka/Another messaging middleware for inter-agent communication, instead of agent-to-agent communication</a:t>
            </a:r>
          </a:p>
          <a:p>
            <a:pPr lvl="1"/>
            <a:r>
              <a:rPr lang="en-IN" dirty="0"/>
              <a:t>Every message would be JSON: </a:t>
            </a:r>
            <a:r>
              <a:rPr lang="en-IN" dirty="0" err="1"/>
              <a:t>task_id</a:t>
            </a:r>
            <a:r>
              <a:rPr lang="en-IN" dirty="0"/>
              <a:t>, </a:t>
            </a:r>
            <a:r>
              <a:rPr lang="en-IN" dirty="0" err="1"/>
              <a:t>task_type</a:t>
            </a:r>
            <a:r>
              <a:rPr lang="en-IN" dirty="0"/>
              <a:t>, payload</a:t>
            </a:r>
          </a:p>
          <a:p>
            <a:pPr lvl="1"/>
            <a:r>
              <a:rPr lang="en-IN" dirty="0"/>
              <a:t>Example: Planner agent will write “</a:t>
            </a:r>
            <a:r>
              <a:rPr lang="en-IN" dirty="0" err="1"/>
              <a:t>task_type</a:t>
            </a:r>
            <a:r>
              <a:rPr lang="en-IN" dirty="0"/>
              <a:t>”: “plan” and Tool Agents will listen for “</a:t>
            </a:r>
            <a:r>
              <a:rPr lang="en-IN" dirty="0" err="1"/>
              <a:t>task_type</a:t>
            </a:r>
            <a:r>
              <a:rPr lang="en-IN" dirty="0"/>
              <a:t>”: “execute”</a:t>
            </a:r>
          </a:p>
          <a:p>
            <a:endParaRPr lang="en-IN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285119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5922D-2DFE-E024-7109-0B6E6F8F6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Stateful Versus Stateless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2D01058-3A1E-5FF7-1FF5-47C31869BA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463129"/>
              </p:ext>
            </p:extLst>
          </p:nvPr>
        </p:nvGraphicFramePr>
        <p:xfrm>
          <a:off x="565079" y="1307515"/>
          <a:ext cx="10715946" cy="48279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398427">
                  <a:extLst>
                    <a:ext uri="{9D8B030D-6E8A-4147-A177-3AD203B41FA5}">
                      <a16:colId xmlns:a16="http://schemas.microsoft.com/office/drawing/2014/main" val="1087030182"/>
                    </a:ext>
                  </a:extLst>
                </a:gridCol>
                <a:gridCol w="2444579">
                  <a:extLst>
                    <a:ext uri="{9D8B030D-6E8A-4147-A177-3AD203B41FA5}">
                      <a16:colId xmlns:a16="http://schemas.microsoft.com/office/drawing/2014/main" val="9561963"/>
                    </a:ext>
                  </a:extLst>
                </a:gridCol>
                <a:gridCol w="2586562">
                  <a:extLst>
                    <a:ext uri="{9D8B030D-6E8A-4147-A177-3AD203B41FA5}">
                      <a16:colId xmlns:a16="http://schemas.microsoft.com/office/drawing/2014/main" val="1442767383"/>
                    </a:ext>
                  </a:extLst>
                </a:gridCol>
                <a:gridCol w="2143189">
                  <a:extLst>
                    <a:ext uri="{9D8B030D-6E8A-4147-A177-3AD203B41FA5}">
                      <a16:colId xmlns:a16="http://schemas.microsoft.com/office/drawing/2014/main" val="1581176606"/>
                    </a:ext>
                  </a:extLst>
                </a:gridCol>
                <a:gridCol w="2143189">
                  <a:extLst>
                    <a:ext uri="{9D8B030D-6E8A-4147-A177-3AD203B41FA5}">
                      <a16:colId xmlns:a16="http://schemas.microsoft.com/office/drawing/2014/main" val="817641409"/>
                    </a:ext>
                  </a:extLst>
                </a:gridCol>
              </a:tblGrid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Type</a:t>
                      </a:r>
                      <a:endParaRPr lang="en-IN" sz="200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Description</a:t>
                      </a:r>
                      <a:endParaRPr lang="en-IN" sz="200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Pros / Benefits</a:t>
                      </a:r>
                      <a:endParaRPr lang="en-IN" sz="200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Cons / Limitations</a:t>
                      </a:r>
                      <a:endParaRPr lang="en-IN" sz="200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Example / Notes</a:t>
                      </a:r>
                      <a:endParaRPr lang="en-IN" sz="2000"/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4027628885"/>
                  </a:ext>
                </a:extLst>
              </a:tr>
              <a:tr h="21330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Stateless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Each request is a fresh start; loads any required context from external stores, performs its work, and discards in-memory state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Easy horizontal scaling; simpler deployment; no session-specific data stored in memory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Slightly higher latency due to repeated context loading; may require more external storage access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Microservices architecture; serverless LLM calls where each invocation is independent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83201198"/>
                  </a:ext>
                </a:extLst>
              </a:tr>
              <a:tr h="1877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Stateful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Keeps context in memory across multiple calls; may use a session object in a long-running process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Reduced latency by avoiding repeated serialization/external calls; allows multi-step interactions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Harder to scale horizontally; memory leaks or stale data possible; needs session management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Chatbots maintaining conversation state; long-running workflows; memory-augmented agents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679504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15191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CBE66C-3572-5AB5-55D5-CA4A80AD7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Vector Embeddings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CEDB0F-8D3A-C7FC-BFA5-C2EEA7BE8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8307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2F010-F128-BAB8-F1AC-4DBB6A1A8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Vector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6A9E5-6B50-22B6-6906-AF1B70705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Vector embeddings</a:t>
            </a:r>
            <a:r>
              <a:rPr lang="en-IN" dirty="0"/>
              <a:t>: Convert unstructured text into high-dimensional numeric representations, enabling semantic similarity searches that go beyond exact keyword matching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Tip: Batch multiple inputs together and cache results to avoid re-computation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35A96B-0686-3552-2FBB-B4570398B29C}"/>
              </a:ext>
            </a:extLst>
          </p:cNvPr>
          <p:cNvSpPr txBox="1"/>
          <p:nvPr/>
        </p:nvSpPr>
        <p:spPr>
          <a:xfrm>
            <a:off x="1078786" y="3248008"/>
            <a:ext cx="241442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Generate embeddings using a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169A52-654A-1C90-5FC6-9D2E0838C429}"/>
              </a:ext>
            </a:extLst>
          </p:cNvPr>
          <p:cNvSpPr txBox="1"/>
          <p:nvPr/>
        </p:nvSpPr>
        <p:spPr>
          <a:xfrm>
            <a:off x="4025757" y="3248007"/>
            <a:ext cx="2529155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Index embeddings inti a vector store (e.g. FAISS)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0E367C-D884-B2DB-5A65-CCB079B5833E}"/>
              </a:ext>
            </a:extLst>
          </p:cNvPr>
          <p:cNvSpPr txBox="1"/>
          <p:nvPr/>
        </p:nvSpPr>
        <p:spPr>
          <a:xfrm>
            <a:off x="7087456" y="3248006"/>
            <a:ext cx="4266344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Perform nearest-neighbour queries to retrieve the most relevant documents</a:t>
            </a:r>
          </a:p>
        </p:txBody>
      </p:sp>
      <p:sp>
        <p:nvSpPr>
          <p:cNvPr id="7" name="Arrow: Striped Right 6">
            <a:extLst>
              <a:ext uri="{FF2B5EF4-FFF2-40B4-BE49-F238E27FC236}">
                <a16:creationId xmlns:a16="http://schemas.microsoft.com/office/drawing/2014/main" id="{EBFA552E-BC79-8D5B-0C83-D7CC4764113C}"/>
              </a:ext>
            </a:extLst>
          </p:cNvPr>
          <p:cNvSpPr/>
          <p:nvPr/>
        </p:nvSpPr>
        <p:spPr>
          <a:xfrm>
            <a:off x="3493213" y="3411021"/>
            <a:ext cx="532544" cy="308225"/>
          </a:xfrm>
          <a:prstGeom prst="stripedRight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Arrow: Striped Right 7">
            <a:extLst>
              <a:ext uri="{FF2B5EF4-FFF2-40B4-BE49-F238E27FC236}">
                <a16:creationId xmlns:a16="http://schemas.microsoft.com/office/drawing/2014/main" id="{8F9C9160-1B57-FA87-BA16-8057791650AE}"/>
              </a:ext>
            </a:extLst>
          </p:cNvPr>
          <p:cNvSpPr/>
          <p:nvPr/>
        </p:nvSpPr>
        <p:spPr>
          <a:xfrm>
            <a:off x="6554912" y="3409308"/>
            <a:ext cx="532544" cy="308225"/>
          </a:xfrm>
          <a:prstGeom prst="stripedRight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08135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425209-3984-7705-A180-84BEEAB03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Observability and Testing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76CAF6-CFD7-32BA-C261-9B1C0545A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3332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AD0E2-6745-9BDE-81C8-50A0E49A0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Observability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25C14-0DF5-F2F1-2929-085BA362B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Observability</a:t>
            </a:r>
            <a:r>
              <a:rPr lang="en-IN" dirty="0"/>
              <a:t>: Turn an opaque agentic system into a diagnosable, resilient platform</a:t>
            </a:r>
          </a:p>
          <a:p>
            <a:r>
              <a:rPr lang="en-IN" dirty="0"/>
              <a:t>Get performance insights, Spot failures, and Prove compliance</a:t>
            </a:r>
          </a:p>
          <a:p>
            <a:r>
              <a:rPr lang="en-IN" dirty="0"/>
              <a:t>Structured logging: Use JSON</a:t>
            </a:r>
          </a:p>
          <a:p>
            <a:pPr lvl="1"/>
            <a:r>
              <a:rPr lang="en-IN" dirty="0"/>
              <a:t>Instead of plain text, JSON has consistent fields – Timestamps, Levels, Tasks, Session IDs, Human-readable messages</a:t>
            </a:r>
          </a:p>
          <a:p>
            <a:pPr lvl="1"/>
            <a:r>
              <a:rPr lang="en-IN" dirty="0"/>
              <a:t>Easy to filter and correlate</a:t>
            </a:r>
          </a:p>
          <a:p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77617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CEF62A-218C-0F15-490D-DA913D9E1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D98C81-920A-5270-ACD8-C44CDA974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3220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F25E6-513B-C4A1-F7C3-5F9FD23C8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5AD88-0D2B-E3A2-C40B-D01BFD7FA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Test planners, executors, and reflection loops by mocking LLM responses</a:t>
            </a:r>
          </a:p>
          <a:p>
            <a:r>
              <a:rPr lang="en-IN" dirty="0"/>
              <a:t>Isolates our logic from API vulnerabilities and speeds up feedback</a:t>
            </a:r>
          </a:p>
          <a:p>
            <a:r>
              <a:rPr lang="en-IN" dirty="0"/>
              <a:t>Use Python’s </a:t>
            </a:r>
            <a:r>
              <a:rPr lang="en-IN" dirty="0" err="1"/>
              <a:t>MagicMock</a:t>
            </a:r>
            <a:r>
              <a:rPr lang="en-IN" dirty="0"/>
              <a:t>: </a:t>
            </a:r>
            <a:r>
              <a:rPr lang="en-IN" dirty="0">
                <a:hlinkClick r:id="rId2"/>
              </a:rPr>
              <a:t>https://docs.python.org/3/library/unittest.mock.html</a:t>
            </a:r>
            <a:endParaRPr lang="en-IN" dirty="0"/>
          </a:p>
          <a:p>
            <a:r>
              <a:rPr lang="en-IN" dirty="0"/>
              <a:t>Sample code: Next slide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41123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C2069-9095-587C-9E64-A64A85EE8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Mocking LLM 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2A74C-1D30-A89A-1D5A-5BEE59B1A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dirty="0"/>
              <a:t>from </a:t>
            </a:r>
            <a:r>
              <a:rPr lang="en-IN" dirty="0" err="1"/>
              <a:t>unittest.mock</a:t>
            </a:r>
            <a:r>
              <a:rPr lang="en-IN" dirty="0"/>
              <a:t> import </a:t>
            </a:r>
            <a:r>
              <a:rPr lang="en-IN" dirty="0" err="1"/>
              <a:t>MagicMock</a:t>
            </a:r>
            <a:endParaRPr lang="en-IN" dirty="0"/>
          </a:p>
          <a:p>
            <a:endParaRPr lang="en-IN" dirty="0"/>
          </a:p>
          <a:p>
            <a:r>
              <a:rPr lang="en-IN" dirty="0" err="1"/>
              <a:t>fake_llm</a:t>
            </a:r>
            <a:r>
              <a:rPr lang="en-IN" dirty="0"/>
              <a:t> = </a:t>
            </a:r>
            <a:r>
              <a:rPr lang="en-IN" dirty="0" err="1"/>
              <a:t>MagicMock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# Tell </a:t>
            </a:r>
            <a:r>
              <a:rPr lang="en-IN" dirty="0" err="1"/>
              <a:t>MagicMock</a:t>
            </a:r>
            <a:r>
              <a:rPr lang="en-IN" dirty="0"/>
              <a:t>: whenever someone calls </a:t>
            </a:r>
            <a:r>
              <a:rPr lang="en-IN" dirty="0" err="1"/>
              <a:t>fake_llm.chat.completions.create</a:t>
            </a:r>
            <a:r>
              <a:rPr lang="en-IN" dirty="0"/>
              <a:t>(), </a:t>
            </a:r>
          </a:p>
          <a:p>
            <a:r>
              <a:rPr lang="en-IN" dirty="0"/>
              <a:t># return an object with .choices[0].</a:t>
            </a:r>
            <a:r>
              <a:rPr lang="en-IN" dirty="0" err="1"/>
              <a:t>message.content</a:t>
            </a:r>
            <a:r>
              <a:rPr lang="en-IN" dirty="0"/>
              <a:t> = "This is mocked"</a:t>
            </a:r>
          </a:p>
          <a:p>
            <a:r>
              <a:rPr lang="en-IN" dirty="0" err="1"/>
              <a:t>fake_llm.chat.completions.create.return_value</a:t>
            </a:r>
            <a:r>
              <a:rPr lang="en-IN" dirty="0"/>
              <a:t> = </a:t>
            </a:r>
            <a:r>
              <a:rPr lang="en-IN" dirty="0" err="1"/>
              <a:t>MagicMock</a:t>
            </a:r>
            <a:r>
              <a:rPr lang="en-IN" dirty="0"/>
              <a:t>(</a:t>
            </a:r>
          </a:p>
          <a:p>
            <a:r>
              <a:rPr lang="en-IN" dirty="0"/>
              <a:t>    choices=[</a:t>
            </a:r>
            <a:r>
              <a:rPr lang="en-IN" dirty="0" err="1"/>
              <a:t>MagicMock</a:t>
            </a:r>
            <a:r>
              <a:rPr lang="en-IN" dirty="0"/>
              <a:t>(message=</a:t>
            </a:r>
            <a:r>
              <a:rPr lang="en-IN" dirty="0" err="1"/>
              <a:t>MagicMock</a:t>
            </a:r>
            <a:r>
              <a:rPr lang="en-IN" dirty="0"/>
              <a:t>(content="This is a mocked LLM response."))]</a:t>
            </a:r>
          </a:p>
          <a:p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response = </a:t>
            </a:r>
            <a:r>
              <a:rPr lang="en-IN" dirty="0" err="1"/>
              <a:t>fake_llm.chat.completions.create</a:t>
            </a:r>
            <a:r>
              <a:rPr lang="en-IN" dirty="0"/>
              <a:t>(</a:t>
            </a:r>
          </a:p>
          <a:p>
            <a:r>
              <a:rPr lang="en-IN" dirty="0"/>
              <a:t>    model="gpt-4o-mini",</a:t>
            </a:r>
          </a:p>
          <a:p>
            <a:r>
              <a:rPr lang="en-IN" dirty="0"/>
              <a:t>    messages=[{"role": "user", "content": "Hi"}],</a:t>
            </a:r>
          </a:p>
          <a:p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print(</a:t>
            </a:r>
            <a:r>
              <a:rPr lang="en-IN" dirty="0" err="1"/>
              <a:t>response.choices</a:t>
            </a:r>
            <a:r>
              <a:rPr lang="en-IN" dirty="0"/>
              <a:t>[0].</a:t>
            </a:r>
            <a:r>
              <a:rPr lang="en-IN" dirty="0" err="1"/>
              <a:t>message.content</a:t>
            </a:r>
            <a:r>
              <a:rPr lang="en-IN" dirty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18683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7E75E-B2C7-189D-D460-FC836B84F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Contract Testing for Custom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BDA63-8BCD-8CAA-FE5B-463B09EF4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Ensuring that tool wrappers adhere to expected inputs and outputs, especially when they make external API calls</a:t>
            </a:r>
          </a:p>
          <a:p>
            <a:r>
              <a:rPr lang="en-IN" dirty="0"/>
              <a:t>How? Do not actually make external API calls, but hard code responses from the tool</a:t>
            </a:r>
          </a:p>
          <a:p>
            <a:r>
              <a:rPr lang="en-IN" dirty="0"/>
              <a:t>Remember: We are checking the interface (contract) only</a:t>
            </a:r>
          </a:p>
          <a:p>
            <a:r>
              <a:rPr lang="en-IN" dirty="0"/>
              <a:t>Example: Next slide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54087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DC886-7DB8-D78F-E792-2BB0F0062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Contract Testing for Custom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5A6CC-1550-1E9F-22E4-1696181D7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class </a:t>
            </a:r>
            <a:r>
              <a:rPr lang="en-US" dirty="0" err="1"/>
              <a:t>SearchEngineTool</a:t>
            </a:r>
            <a:r>
              <a:rPr lang="en-US" dirty="0"/>
              <a:t>(Tool):  </a:t>
            </a:r>
          </a:p>
          <a:p>
            <a:r>
              <a:rPr lang="en-US" dirty="0"/>
              <a:t>    Input Contract:</a:t>
            </a:r>
          </a:p>
          <a:p>
            <a:r>
              <a:rPr lang="en-US" dirty="0"/>
              <a:t>    - 'query' (str): The search query to perform.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Output Contract:</a:t>
            </a:r>
          </a:p>
          <a:p>
            <a:r>
              <a:rPr lang="en-US" dirty="0"/>
              <a:t>    - </a:t>
            </a:r>
            <a:r>
              <a:rPr lang="en-US" dirty="0" err="1"/>
              <a:t>Dict</a:t>
            </a:r>
            <a:r>
              <a:rPr lang="en-US" dirty="0"/>
              <a:t> with a 'results' key containing a list of objects.</a:t>
            </a:r>
          </a:p>
          <a:p>
            <a:r>
              <a:rPr lang="en-US" dirty="0"/>
              <a:t>    - Each object in the list has 'title' (str) and '</a:t>
            </a:r>
            <a:r>
              <a:rPr lang="en-US" dirty="0" err="1"/>
              <a:t>url</a:t>
            </a:r>
            <a:r>
              <a:rPr lang="en-US" dirty="0"/>
              <a:t>' (str) keys.</a:t>
            </a:r>
          </a:p>
          <a:p>
            <a:r>
              <a:rPr lang="en-US" dirty="0"/>
              <a:t>    """</a:t>
            </a:r>
          </a:p>
          <a:p>
            <a:r>
              <a:rPr lang="en-US" dirty="0"/>
              <a:t>    def run(self, query: str) -&gt; </a:t>
            </a:r>
            <a:r>
              <a:rPr lang="en-US" dirty="0" err="1"/>
              <a:t>Dict</a:t>
            </a:r>
            <a:r>
              <a:rPr lang="en-US" dirty="0"/>
              <a:t>[str, Any]:</a:t>
            </a:r>
          </a:p>
          <a:p>
            <a:r>
              <a:rPr lang="en-US" dirty="0"/>
              <a:t>        print(</a:t>
            </a:r>
            <a:r>
              <a:rPr lang="en-US" dirty="0" err="1"/>
              <a:t>f"Agent</a:t>
            </a:r>
            <a:r>
              <a:rPr lang="en-US" dirty="0"/>
              <a:t> is calling </a:t>
            </a:r>
            <a:r>
              <a:rPr lang="en-US" dirty="0" err="1"/>
              <a:t>SearchEngine</a:t>
            </a:r>
            <a:r>
              <a:rPr lang="en-US" dirty="0"/>
              <a:t> with query: '{query}'")</a:t>
            </a:r>
          </a:p>
          <a:p>
            <a:r>
              <a:rPr lang="en-US" dirty="0"/>
              <a:t>        </a:t>
            </a:r>
          </a:p>
          <a:p>
            <a:r>
              <a:rPr lang="en-US" dirty="0"/>
              <a:t>        # This is where we hard-code the mock response.</a:t>
            </a:r>
          </a:p>
          <a:p>
            <a:r>
              <a:rPr lang="en-US" dirty="0"/>
              <a:t>        # It strictly adheres to the defined output contract.</a:t>
            </a:r>
          </a:p>
          <a:p>
            <a:r>
              <a:rPr lang="en-US" dirty="0"/>
              <a:t>        </a:t>
            </a:r>
            <a:r>
              <a:rPr lang="en-US" dirty="0" err="1"/>
              <a:t>mock_response</a:t>
            </a:r>
            <a:r>
              <a:rPr lang="en-US" dirty="0"/>
              <a:t> = {</a:t>
            </a:r>
          </a:p>
          <a:p>
            <a:r>
              <a:rPr lang="en-US" dirty="0"/>
              <a:t>            "results": [</a:t>
            </a:r>
          </a:p>
          <a:p>
            <a:r>
              <a:rPr lang="en-US" dirty="0"/>
              <a:t>                {</a:t>
            </a:r>
          </a:p>
          <a:p>
            <a:r>
              <a:rPr lang="en-US" dirty="0"/>
              <a:t>                    "title": "Google AI Blog: Latest Developments",</a:t>
            </a:r>
          </a:p>
          <a:p>
            <a:r>
              <a:rPr lang="en-US" dirty="0"/>
              <a:t>                    "</a:t>
            </a:r>
            <a:r>
              <a:rPr lang="en-US" dirty="0" err="1"/>
              <a:t>url</a:t>
            </a:r>
            <a:r>
              <a:rPr lang="en-US" dirty="0"/>
              <a:t>": "https://ai.googleblog.com/"</a:t>
            </a:r>
          </a:p>
          <a:p>
            <a:r>
              <a:rPr lang="en-US" dirty="0"/>
              <a:t>                }</a:t>
            </a:r>
          </a:p>
          <a:p>
            <a:r>
              <a:rPr lang="en-US" dirty="0"/>
              <a:t>            ]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    return </a:t>
            </a:r>
            <a:r>
              <a:rPr lang="en-US" dirty="0" err="1"/>
              <a:t>mock_response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4091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2873</Words>
  <Application>Microsoft Office PowerPoint</Application>
  <PresentationFormat>Widescreen</PresentationFormat>
  <Paragraphs>359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Office Theme</vt:lpstr>
      <vt:lpstr>Agentic AI  Architectural Aspects</vt:lpstr>
      <vt:lpstr>The Basics</vt:lpstr>
      <vt:lpstr>Agentic AI Architecture: Main Principles</vt:lpstr>
      <vt:lpstr>Evolution of Autonomous Agents</vt:lpstr>
      <vt:lpstr>Memory</vt:lpstr>
      <vt:lpstr>Reasoning</vt:lpstr>
      <vt:lpstr>Tool Use</vt:lpstr>
      <vt:lpstr>When to Use an Agent Architecture? </vt:lpstr>
      <vt:lpstr>Goal Decomposition and Planning</vt:lpstr>
      <vt:lpstr>Goal Decomposition</vt:lpstr>
      <vt:lpstr>Goal Decomposition Patterns</vt:lpstr>
      <vt:lpstr>Goal Decomposition Patterns: Key Aspects</vt:lpstr>
      <vt:lpstr>Best Practices</vt:lpstr>
      <vt:lpstr>Caching in Python</vt:lpstr>
      <vt:lpstr>Possible Pitfalls in Planning</vt:lpstr>
      <vt:lpstr>Reflection</vt:lpstr>
      <vt:lpstr>Reflection Loop</vt:lpstr>
      <vt:lpstr>ReAct</vt:lpstr>
      <vt:lpstr>Multi-Agent Collaboration Models</vt:lpstr>
      <vt:lpstr>Multiagent Architecture</vt:lpstr>
      <vt:lpstr>Patterns</vt:lpstr>
      <vt:lpstr>Monolithic and Micro-Agent Architectures</vt:lpstr>
      <vt:lpstr>Monolithic versus Micro-Agent Architectures</vt:lpstr>
      <vt:lpstr>Stateful Versus Stateless</vt:lpstr>
      <vt:lpstr>Vector Embeddings</vt:lpstr>
      <vt:lpstr>Vector Embeddings</vt:lpstr>
      <vt:lpstr>Observability and Testing</vt:lpstr>
      <vt:lpstr>Observability</vt:lpstr>
      <vt:lpstr>Testing</vt:lpstr>
      <vt:lpstr>Unit Testing</vt:lpstr>
      <vt:lpstr>Mocking LLM Calls</vt:lpstr>
      <vt:lpstr>Contract Testing for Custom Tools</vt:lpstr>
      <vt:lpstr>Contract Testing for Custom Tools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21</cp:revision>
  <dcterms:created xsi:type="dcterms:W3CDTF">2025-09-17T05:03:27Z</dcterms:created>
  <dcterms:modified xsi:type="dcterms:W3CDTF">2025-11-02T14:28:26Z</dcterms:modified>
</cp:coreProperties>
</file>