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461" r:id="rId2"/>
    <p:sldId id="462" r:id="rId3"/>
    <p:sldId id="506" r:id="rId4"/>
    <p:sldId id="464" r:id="rId5"/>
    <p:sldId id="480" r:id="rId6"/>
    <p:sldId id="481" r:id="rId7"/>
    <p:sldId id="465" r:id="rId8"/>
    <p:sldId id="423" r:id="rId9"/>
    <p:sldId id="424" r:id="rId10"/>
    <p:sldId id="482" r:id="rId11"/>
    <p:sldId id="502" r:id="rId12"/>
    <p:sldId id="504" r:id="rId13"/>
    <p:sldId id="505" r:id="rId14"/>
    <p:sldId id="503" r:id="rId15"/>
    <p:sldId id="686" r:id="rId16"/>
    <p:sldId id="648" r:id="rId17"/>
    <p:sldId id="508" r:id="rId18"/>
    <p:sldId id="509" r:id="rId19"/>
    <p:sldId id="510" r:id="rId20"/>
    <p:sldId id="511" r:id="rId21"/>
    <p:sldId id="687" r:id="rId22"/>
    <p:sldId id="688" r:id="rId23"/>
    <p:sldId id="630" r:id="rId24"/>
    <p:sldId id="716" r:id="rId25"/>
    <p:sldId id="7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6" autoAdjust="0"/>
    <p:restoredTop sz="94660"/>
  </p:normalViewPr>
  <p:slideViewPr>
    <p:cSldViewPr snapToGrid="0">
      <p:cViewPr varScale="1">
        <p:scale>
          <a:sx n="91" d="100"/>
          <a:sy n="91" d="100"/>
        </p:scale>
        <p:origin x="796" y="4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6B05E-5FCA-40A7-9267-101895E9507F}" type="datetimeFigureOut">
              <a:rPr lang="en-GB" smtClean="0"/>
              <a:t>08/11/2025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C635DC-9CC0-4B98-8665-C917B9C66C50}" type="slidenum">
              <a:rPr lang="en-GB" smtClean="0"/>
              <a:t>‹#›</a:t>
            </a:fld>
            <a:endParaRPr lang="en-GB"/>
          </a:p>
        </p:txBody>
      </p:sp>
    </p:spTree>
    <p:extLst>
      <p:ext uri="{BB962C8B-B14F-4D97-AF65-F5344CB8AC3E}">
        <p14:creationId xmlns:p14="http://schemas.microsoft.com/office/powerpoint/2010/main" val="1079687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DA3FE73-CC94-4F23-B51B-5E3E293A6B94}" type="slidenum">
              <a:rPr lang="en-GB" smtClean="0"/>
              <a:t>16</a:t>
            </a:fld>
            <a:endParaRPr lang="en-GB"/>
          </a:p>
        </p:txBody>
      </p:sp>
    </p:spTree>
    <p:extLst>
      <p:ext uri="{BB962C8B-B14F-4D97-AF65-F5344CB8AC3E}">
        <p14:creationId xmlns:p14="http://schemas.microsoft.com/office/powerpoint/2010/main" val="3330087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EEB6-6D9B-D798-9B50-B6F25C79F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02E1C41-457B-BECA-A596-9D68E5CC02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B5E8A1F-FC48-5F9E-D233-AEA1FDF2F67D}"/>
              </a:ext>
            </a:extLst>
          </p:cNvPr>
          <p:cNvSpPr>
            <a:spLocks noGrp="1"/>
          </p:cNvSpPr>
          <p:nvPr>
            <p:ph type="dt" sz="half" idx="10"/>
          </p:nvPr>
        </p:nvSpPr>
        <p:spPr/>
        <p:txBody>
          <a:bodyPr/>
          <a:lstStyle/>
          <a:p>
            <a:fld id="{D875620C-0B6E-46A5-84C2-F899A90491EE}" type="datetimeFigureOut">
              <a:rPr lang="en-GB" smtClean="0"/>
              <a:t>08/11/2025</a:t>
            </a:fld>
            <a:endParaRPr lang="en-GB"/>
          </a:p>
        </p:txBody>
      </p:sp>
      <p:sp>
        <p:nvSpPr>
          <p:cNvPr id="5" name="Footer Placeholder 4">
            <a:extLst>
              <a:ext uri="{FF2B5EF4-FFF2-40B4-BE49-F238E27FC236}">
                <a16:creationId xmlns:a16="http://schemas.microsoft.com/office/drawing/2014/main" id="{4E6EFC83-4705-112F-1212-A37728537C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E9CDE1-1799-A400-3C08-D69EE7D88A59}"/>
              </a:ext>
            </a:extLst>
          </p:cNvPr>
          <p:cNvSpPr>
            <a:spLocks noGrp="1"/>
          </p:cNvSpPr>
          <p:nvPr>
            <p:ph type="sldNum" sz="quarter" idx="12"/>
          </p:nvPr>
        </p:nvSpPr>
        <p:spPr/>
        <p:txBody>
          <a:bodyPr/>
          <a:lstStyle/>
          <a:p>
            <a:fld id="{2D37CD82-0E98-4AAB-99B7-88432D0872B1}" type="slidenum">
              <a:rPr lang="en-GB" smtClean="0"/>
              <a:t>‹#›</a:t>
            </a:fld>
            <a:endParaRPr lang="en-GB"/>
          </a:p>
        </p:txBody>
      </p:sp>
    </p:spTree>
    <p:extLst>
      <p:ext uri="{BB962C8B-B14F-4D97-AF65-F5344CB8AC3E}">
        <p14:creationId xmlns:p14="http://schemas.microsoft.com/office/powerpoint/2010/main" val="3585729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919C1-F496-360B-F9CD-B5D31CC18BE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4365045-4E2D-891F-7B32-215DAA8AA1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F030B7-D96D-54B6-C2E8-D6EB815DD8B7}"/>
              </a:ext>
            </a:extLst>
          </p:cNvPr>
          <p:cNvSpPr>
            <a:spLocks noGrp="1"/>
          </p:cNvSpPr>
          <p:nvPr>
            <p:ph type="dt" sz="half" idx="10"/>
          </p:nvPr>
        </p:nvSpPr>
        <p:spPr/>
        <p:txBody>
          <a:bodyPr/>
          <a:lstStyle/>
          <a:p>
            <a:fld id="{D875620C-0B6E-46A5-84C2-F899A90491EE}" type="datetimeFigureOut">
              <a:rPr lang="en-GB" smtClean="0"/>
              <a:t>08/11/2025</a:t>
            </a:fld>
            <a:endParaRPr lang="en-GB"/>
          </a:p>
        </p:txBody>
      </p:sp>
      <p:sp>
        <p:nvSpPr>
          <p:cNvPr id="5" name="Footer Placeholder 4">
            <a:extLst>
              <a:ext uri="{FF2B5EF4-FFF2-40B4-BE49-F238E27FC236}">
                <a16:creationId xmlns:a16="http://schemas.microsoft.com/office/drawing/2014/main" id="{C7427D65-FC98-57E6-A882-648FFBD3A1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1FD1EE-4FC6-DCE9-115B-322E36B331E9}"/>
              </a:ext>
            </a:extLst>
          </p:cNvPr>
          <p:cNvSpPr>
            <a:spLocks noGrp="1"/>
          </p:cNvSpPr>
          <p:nvPr>
            <p:ph type="sldNum" sz="quarter" idx="12"/>
          </p:nvPr>
        </p:nvSpPr>
        <p:spPr/>
        <p:txBody>
          <a:bodyPr/>
          <a:lstStyle/>
          <a:p>
            <a:fld id="{2D37CD82-0E98-4AAB-99B7-88432D0872B1}" type="slidenum">
              <a:rPr lang="en-GB" smtClean="0"/>
              <a:t>‹#›</a:t>
            </a:fld>
            <a:endParaRPr lang="en-GB"/>
          </a:p>
        </p:txBody>
      </p:sp>
    </p:spTree>
    <p:extLst>
      <p:ext uri="{BB962C8B-B14F-4D97-AF65-F5344CB8AC3E}">
        <p14:creationId xmlns:p14="http://schemas.microsoft.com/office/powerpoint/2010/main" val="3752880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B64F0-9C4D-CC0E-45E4-427F6B0EEC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6ACAEA4-6D07-563A-12DB-2448323770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7581DB-26CA-D5CF-FBAF-4A8B96227F99}"/>
              </a:ext>
            </a:extLst>
          </p:cNvPr>
          <p:cNvSpPr>
            <a:spLocks noGrp="1"/>
          </p:cNvSpPr>
          <p:nvPr>
            <p:ph type="dt" sz="half" idx="10"/>
          </p:nvPr>
        </p:nvSpPr>
        <p:spPr/>
        <p:txBody>
          <a:bodyPr/>
          <a:lstStyle/>
          <a:p>
            <a:fld id="{D875620C-0B6E-46A5-84C2-F899A90491EE}" type="datetimeFigureOut">
              <a:rPr lang="en-GB" smtClean="0"/>
              <a:t>08/11/2025</a:t>
            </a:fld>
            <a:endParaRPr lang="en-GB"/>
          </a:p>
        </p:txBody>
      </p:sp>
      <p:sp>
        <p:nvSpPr>
          <p:cNvPr id="5" name="Footer Placeholder 4">
            <a:extLst>
              <a:ext uri="{FF2B5EF4-FFF2-40B4-BE49-F238E27FC236}">
                <a16:creationId xmlns:a16="http://schemas.microsoft.com/office/drawing/2014/main" id="{913A64BE-7CAA-D8A0-7930-6A3417078C0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662023-CA5C-F37D-AB75-7D836DD602AF}"/>
              </a:ext>
            </a:extLst>
          </p:cNvPr>
          <p:cNvSpPr>
            <a:spLocks noGrp="1"/>
          </p:cNvSpPr>
          <p:nvPr>
            <p:ph type="sldNum" sz="quarter" idx="12"/>
          </p:nvPr>
        </p:nvSpPr>
        <p:spPr/>
        <p:txBody>
          <a:bodyPr/>
          <a:lstStyle/>
          <a:p>
            <a:fld id="{2D37CD82-0E98-4AAB-99B7-88432D0872B1}" type="slidenum">
              <a:rPr lang="en-GB" smtClean="0"/>
              <a:t>‹#›</a:t>
            </a:fld>
            <a:endParaRPr lang="en-GB"/>
          </a:p>
        </p:txBody>
      </p:sp>
    </p:spTree>
    <p:extLst>
      <p:ext uri="{BB962C8B-B14F-4D97-AF65-F5344CB8AC3E}">
        <p14:creationId xmlns:p14="http://schemas.microsoft.com/office/powerpoint/2010/main" val="3651654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B488F-C4B6-C5D8-EDCB-7F5C92C3F67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FB7FE83-60AB-0F74-B1DE-42F3A4E6E5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03BF810-5A41-CB45-9E3F-43EB0C7B79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31A5D6C-1CA6-97B3-397D-D3F2981C1D10}"/>
              </a:ext>
            </a:extLst>
          </p:cNvPr>
          <p:cNvSpPr>
            <a:spLocks noGrp="1"/>
          </p:cNvSpPr>
          <p:nvPr>
            <p:ph type="dt" sz="half" idx="10"/>
          </p:nvPr>
        </p:nvSpPr>
        <p:spPr/>
        <p:txBody>
          <a:bodyPr/>
          <a:lstStyle/>
          <a:p>
            <a:fld id="{D875620C-0B6E-46A5-84C2-F899A90491EE}" type="datetimeFigureOut">
              <a:rPr lang="en-GB" smtClean="0"/>
              <a:t>08/11/2025</a:t>
            </a:fld>
            <a:endParaRPr lang="en-GB"/>
          </a:p>
        </p:txBody>
      </p:sp>
      <p:sp>
        <p:nvSpPr>
          <p:cNvPr id="6" name="Footer Placeholder 5">
            <a:extLst>
              <a:ext uri="{FF2B5EF4-FFF2-40B4-BE49-F238E27FC236}">
                <a16:creationId xmlns:a16="http://schemas.microsoft.com/office/drawing/2014/main" id="{32AEF892-F0CB-96C7-DCE8-294D0BA5AE8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A68C06-47C5-9A4C-B118-6C0ADF815247}"/>
              </a:ext>
            </a:extLst>
          </p:cNvPr>
          <p:cNvSpPr>
            <a:spLocks noGrp="1"/>
          </p:cNvSpPr>
          <p:nvPr>
            <p:ph type="sldNum" sz="quarter" idx="12"/>
          </p:nvPr>
        </p:nvSpPr>
        <p:spPr/>
        <p:txBody>
          <a:bodyPr/>
          <a:lstStyle/>
          <a:p>
            <a:fld id="{2D37CD82-0E98-4AAB-99B7-88432D0872B1}" type="slidenum">
              <a:rPr lang="en-GB" smtClean="0"/>
              <a:t>‹#›</a:t>
            </a:fld>
            <a:endParaRPr lang="en-GB"/>
          </a:p>
        </p:txBody>
      </p:sp>
    </p:spTree>
    <p:extLst>
      <p:ext uri="{BB962C8B-B14F-4D97-AF65-F5344CB8AC3E}">
        <p14:creationId xmlns:p14="http://schemas.microsoft.com/office/powerpoint/2010/main" val="1218302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0C1D9-1E2E-FBEE-8160-049A48EAC0A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2A9C05-2249-570B-5B42-3C2960E44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A5EA79-CCC0-929A-A99E-0A95505792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EF7A4B4-6553-BC91-003F-3AE5DFFDB4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4A347E-B890-05EE-7E7F-18612A73E8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7E82480-FAA3-AA64-B801-91A94D7AAAC7}"/>
              </a:ext>
            </a:extLst>
          </p:cNvPr>
          <p:cNvSpPr>
            <a:spLocks noGrp="1"/>
          </p:cNvSpPr>
          <p:nvPr>
            <p:ph type="dt" sz="half" idx="10"/>
          </p:nvPr>
        </p:nvSpPr>
        <p:spPr/>
        <p:txBody>
          <a:bodyPr/>
          <a:lstStyle/>
          <a:p>
            <a:fld id="{D875620C-0B6E-46A5-84C2-F899A90491EE}" type="datetimeFigureOut">
              <a:rPr lang="en-GB" smtClean="0"/>
              <a:t>08/11/2025</a:t>
            </a:fld>
            <a:endParaRPr lang="en-GB"/>
          </a:p>
        </p:txBody>
      </p:sp>
      <p:sp>
        <p:nvSpPr>
          <p:cNvPr id="8" name="Footer Placeholder 7">
            <a:extLst>
              <a:ext uri="{FF2B5EF4-FFF2-40B4-BE49-F238E27FC236}">
                <a16:creationId xmlns:a16="http://schemas.microsoft.com/office/drawing/2014/main" id="{AE368924-64AC-0D56-4F77-4A91E75D8B0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4DACB16-7433-2065-083E-71FF317A9561}"/>
              </a:ext>
            </a:extLst>
          </p:cNvPr>
          <p:cNvSpPr>
            <a:spLocks noGrp="1"/>
          </p:cNvSpPr>
          <p:nvPr>
            <p:ph type="sldNum" sz="quarter" idx="12"/>
          </p:nvPr>
        </p:nvSpPr>
        <p:spPr/>
        <p:txBody>
          <a:bodyPr/>
          <a:lstStyle/>
          <a:p>
            <a:fld id="{2D37CD82-0E98-4AAB-99B7-88432D0872B1}" type="slidenum">
              <a:rPr lang="en-GB" smtClean="0"/>
              <a:t>‹#›</a:t>
            </a:fld>
            <a:endParaRPr lang="en-GB"/>
          </a:p>
        </p:txBody>
      </p:sp>
    </p:spTree>
    <p:extLst>
      <p:ext uri="{BB962C8B-B14F-4D97-AF65-F5344CB8AC3E}">
        <p14:creationId xmlns:p14="http://schemas.microsoft.com/office/powerpoint/2010/main" val="1738069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76FD-B82C-2C0C-FFB9-CF1C0D8E343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D265A89-C8F0-AD5D-EEDB-AF40E4C792AB}"/>
              </a:ext>
            </a:extLst>
          </p:cNvPr>
          <p:cNvSpPr>
            <a:spLocks noGrp="1"/>
          </p:cNvSpPr>
          <p:nvPr>
            <p:ph type="dt" sz="half" idx="10"/>
          </p:nvPr>
        </p:nvSpPr>
        <p:spPr/>
        <p:txBody>
          <a:bodyPr/>
          <a:lstStyle/>
          <a:p>
            <a:fld id="{D875620C-0B6E-46A5-84C2-F899A90491EE}" type="datetimeFigureOut">
              <a:rPr lang="en-GB" smtClean="0"/>
              <a:t>08/11/2025</a:t>
            </a:fld>
            <a:endParaRPr lang="en-GB"/>
          </a:p>
        </p:txBody>
      </p:sp>
      <p:sp>
        <p:nvSpPr>
          <p:cNvPr id="4" name="Footer Placeholder 3">
            <a:extLst>
              <a:ext uri="{FF2B5EF4-FFF2-40B4-BE49-F238E27FC236}">
                <a16:creationId xmlns:a16="http://schemas.microsoft.com/office/drawing/2014/main" id="{F418AE71-D47D-81F9-7E2E-D5D07E117ED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366E703-CC6A-9FD4-69E1-765AE98EBFCF}"/>
              </a:ext>
            </a:extLst>
          </p:cNvPr>
          <p:cNvSpPr>
            <a:spLocks noGrp="1"/>
          </p:cNvSpPr>
          <p:nvPr>
            <p:ph type="sldNum" sz="quarter" idx="12"/>
          </p:nvPr>
        </p:nvSpPr>
        <p:spPr/>
        <p:txBody>
          <a:bodyPr/>
          <a:lstStyle/>
          <a:p>
            <a:fld id="{2D37CD82-0E98-4AAB-99B7-88432D0872B1}" type="slidenum">
              <a:rPr lang="en-GB" smtClean="0"/>
              <a:t>‹#›</a:t>
            </a:fld>
            <a:endParaRPr lang="en-GB"/>
          </a:p>
        </p:txBody>
      </p:sp>
    </p:spTree>
    <p:extLst>
      <p:ext uri="{BB962C8B-B14F-4D97-AF65-F5344CB8AC3E}">
        <p14:creationId xmlns:p14="http://schemas.microsoft.com/office/powerpoint/2010/main" val="3124021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50D7A5-FD39-F975-6415-EFBC176B483E}"/>
              </a:ext>
            </a:extLst>
          </p:cNvPr>
          <p:cNvSpPr>
            <a:spLocks noGrp="1"/>
          </p:cNvSpPr>
          <p:nvPr>
            <p:ph type="dt" sz="half" idx="10"/>
          </p:nvPr>
        </p:nvSpPr>
        <p:spPr/>
        <p:txBody>
          <a:bodyPr/>
          <a:lstStyle/>
          <a:p>
            <a:fld id="{D875620C-0B6E-46A5-84C2-F899A90491EE}" type="datetimeFigureOut">
              <a:rPr lang="en-GB" smtClean="0"/>
              <a:t>08/11/2025</a:t>
            </a:fld>
            <a:endParaRPr lang="en-GB"/>
          </a:p>
        </p:txBody>
      </p:sp>
      <p:sp>
        <p:nvSpPr>
          <p:cNvPr id="3" name="Footer Placeholder 2">
            <a:extLst>
              <a:ext uri="{FF2B5EF4-FFF2-40B4-BE49-F238E27FC236}">
                <a16:creationId xmlns:a16="http://schemas.microsoft.com/office/drawing/2014/main" id="{41F82313-3515-BDBB-9A37-77171FB971E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78700EA-770A-5CD5-0666-8A7B1B0BBFF1}"/>
              </a:ext>
            </a:extLst>
          </p:cNvPr>
          <p:cNvSpPr>
            <a:spLocks noGrp="1"/>
          </p:cNvSpPr>
          <p:nvPr>
            <p:ph type="sldNum" sz="quarter" idx="12"/>
          </p:nvPr>
        </p:nvSpPr>
        <p:spPr/>
        <p:txBody>
          <a:bodyPr/>
          <a:lstStyle/>
          <a:p>
            <a:fld id="{2D37CD82-0E98-4AAB-99B7-88432D0872B1}" type="slidenum">
              <a:rPr lang="en-GB" smtClean="0"/>
              <a:t>‹#›</a:t>
            </a:fld>
            <a:endParaRPr lang="en-GB"/>
          </a:p>
        </p:txBody>
      </p:sp>
    </p:spTree>
    <p:extLst>
      <p:ext uri="{BB962C8B-B14F-4D97-AF65-F5344CB8AC3E}">
        <p14:creationId xmlns:p14="http://schemas.microsoft.com/office/powerpoint/2010/main" val="3523101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69277-1048-1848-E687-35B438228B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15F1A5C-30C0-B349-44B8-00D7ABC698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956985D-DFD8-52B6-5CD4-F959E8FBE1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64DA01-CB96-EDA7-65B4-4CD20E14197E}"/>
              </a:ext>
            </a:extLst>
          </p:cNvPr>
          <p:cNvSpPr>
            <a:spLocks noGrp="1"/>
          </p:cNvSpPr>
          <p:nvPr>
            <p:ph type="dt" sz="half" idx="10"/>
          </p:nvPr>
        </p:nvSpPr>
        <p:spPr/>
        <p:txBody>
          <a:bodyPr/>
          <a:lstStyle/>
          <a:p>
            <a:fld id="{D875620C-0B6E-46A5-84C2-F899A90491EE}" type="datetimeFigureOut">
              <a:rPr lang="en-GB" smtClean="0"/>
              <a:t>08/11/2025</a:t>
            </a:fld>
            <a:endParaRPr lang="en-GB"/>
          </a:p>
        </p:txBody>
      </p:sp>
      <p:sp>
        <p:nvSpPr>
          <p:cNvPr id="6" name="Footer Placeholder 5">
            <a:extLst>
              <a:ext uri="{FF2B5EF4-FFF2-40B4-BE49-F238E27FC236}">
                <a16:creationId xmlns:a16="http://schemas.microsoft.com/office/drawing/2014/main" id="{6EC95F16-CDBE-7DEE-9BCD-0FF482F3357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3F79CD6-0CAE-B8EE-96A5-94C8B2C2DB0E}"/>
              </a:ext>
            </a:extLst>
          </p:cNvPr>
          <p:cNvSpPr>
            <a:spLocks noGrp="1"/>
          </p:cNvSpPr>
          <p:nvPr>
            <p:ph type="sldNum" sz="quarter" idx="12"/>
          </p:nvPr>
        </p:nvSpPr>
        <p:spPr/>
        <p:txBody>
          <a:bodyPr/>
          <a:lstStyle/>
          <a:p>
            <a:fld id="{2D37CD82-0E98-4AAB-99B7-88432D0872B1}" type="slidenum">
              <a:rPr lang="en-GB" smtClean="0"/>
              <a:t>‹#›</a:t>
            </a:fld>
            <a:endParaRPr lang="en-GB"/>
          </a:p>
        </p:txBody>
      </p:sp>
    </p:spTree>
    <p:extLst>
      <p:ext uri="{BB962C8B-B14F-4D97-AF65-F5344CB8AC3E}">
        <p14:creationId xmlns:p14="http://schemas.microsoft.com/office/powerpoint/2010/main" val="3108875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B35A-E152-6D49-AC8D-9E9AADF4AA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CC583D8-24F9-CDB5-696C-B4B368C131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414690F-6A89-9E20-FDC9-AD33EC536F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BD42F0-8920-1FA5-2F94-6A2043EA5DA4}"/>
              </a:ext>
            </a:extLst>
          </p:cNvPr>
          <p:cNvSpPr>
            <a:spLocks noGrp="1"/>
          </p:cNvSpPr>
          <p:nvPr>
            <p:ph type="dt" sz="half" idx="10"/>
          </p:nvPr>
        </p:nvSpPr>
        <p:spPr/>
        <p:txBody>
          <a:bodyPr/>
          <a:lstStyle/>
          <a:p>
            <a:fld id="{D875620C-0B6E-46A5-84C2-F899A90491EE}" type="datetimeFigureOut">
              <a:rPr lang="en-GB" smtClean="0"/>
              <a:t>08/11/2025</a:t>
            </a:fld>
            <a:endParaRPr lang="en-GB"/>
          </a:p>
        </p:txBody>
      </p:sp>
      <p:sp>
        <p:nvSpPr>
          <p:cNvPr id="6" name="Footer Placeholder 5">
            <a:extLst>
              <a:ext uri="{FF2B5EF4-FFF2-40B4-BE49-F238E27FC236}">
                <a16:creationId xmlns:a16="http://schemas.microsoft.com/office/drawing/2014/main" id="{DC81EC65-ABEE-E433-4399-A71E04563FB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1988DE-FB3D-6DCE-3643-C180D35E8C10}"/>
              </a:ext>
            </a:extLst>
          </p:cNvPr>
          <p:cNvSpPr>
            <a:spLocks noGrp="1"/>
          </p:cNvSpPr>
          <p:nvPr>
            <p:ph type="sldNum" sz="quarter" idx="12"/>
          </p:nvPr>
        </p:nvSpPr>
        <p:spPr/>
        <p:txBody>
          <a:bodyPr/>
          <a:lstStyle/>
          <a:p>
            <a:fld id="{2D37CD82-0E98-4AAB-99B7-88432D0872B1}" type="slidenum">
              <a:rPr lang="en-GB" smtClean="0"/>
              <a:t>‹#›</a:t>
            </a:fld>
            <a:endParaRPr lang="en-GB"/>
          </a:p>
        </p:txBody>
      </p:sp>
    </p:spTree>
    <p:extLst>
      <p:ext uri="{BB962C8B-B14F-4D97-AF65-F5344CB8AC3E}">
        <p14:creationId xmlns:p14="http://schemas.microsoft.com/office/powerpoint/2010/main" val="117587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A2346-1BD2-C74D-6DD2-C79337E6E83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AB061D-3C40-FC70-A38C-8573495D1B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E4BEBB4-DB53-5D67-02F4-ACB4AF589920}"/>
              </a:ext>
            </a:extLst>
          </p:cNvPr>
          <p:cNvSpPr>
            <a:spLocks noGrp="1"/>
          </p:cNvSpPr>
          <p:nvPr>
            <p:ph type="dt" sz="half" idx="10"/>
          </p:nvPr>
        </p:nvSpPr>
        <p:spPr/>
        <p:txBody>
          <a:bodyPr/>
          <a:lstStyle/>
          <a:p>
            <a:fld id="{D875620C-0B6E-46A5-84C2-F899A90491EE}" type="datetimeFigureOut">
              <a:rPr lang="en-GB" smtClean="0"/>
              <a:t>08/11/2025</a:t>
            </a:fld>
            <a:endParaRPr lang="en-GB"/>
          </a:p>
        </p:txBody>
      </p:sp>
      <p:sp>
        <p:nvSpPr>
          <p:cNvPr id="5" name="Footer Placeholder 4">
            <a:extLst>
              <a:ext uri="{FF2B5EF4-FFF2-40B4-BE49-F238E27FC236}">
                <a16:creationId xmlns:a16="http://schemas.microsoft.com/office/drawing/2014/main" id="{28A414B2-4BD6-110B-69F6-2AC8373C69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55E8A72-562A-1018-5598-29502E1E88AF}"/>
              </a:ext>
            </a:extLst>
          </p:cNvPr>
          <p:cNvSpPr>
            <a:spLocks noGrp="1"/>
          </p:cNvSpPr>
          <p:nvPr>
            <p:ph type="sldNum" sz="quarter" idx="12"/>
          </p:nvPr>
        </p:nvSpPr>
        <p:spPr/>
        <p:txBody>
          <a:bodyPr/>
          <a:lstStyle/>
          <a:p>
            <a:fld id="{2D37CD82-0E98-4AAB-99B7-88432D0872B1}" type="slidenum">
              <a:rPr lang="en-GB" smtClean="0"/>
              <a:t>‹#›</a:t>
            </a:fld>
            <a:endParaRPr lang="en-GB"/>
          </a:p>
        </p:txBody>
      </p:sp>
    </p:spTree>
    <p:extLst>
      <p:ext uri="{BB962C8B-B14F-4D97-AF65-F5344CB8AC3E}">
        <p14:creationId xmlns:p14="http://schemas.microsoft.com/office/powerpoint/2010/main" val="3900309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C2C852-DF2B-586A-ADB3-9E5AE1F161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B2C6A5F-C533-E5E7-D32B-71C7A32F2E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E6AD1E-62B3-380F-ADD7-7069BABDDC03}"/>
              </a:ext>
            </a:extLst>
          </p:cNvPr>
          <p:cNvSpPr>
            <a:spLocks noGrp="1"/>
          </p:cNvSpPr>
          <p:nvPr>
            <p:ph type="dt" sz="half" idx="10"/>
          </p:nvPr>
        </p:nvSpPr>
        <p:spPr/>
        <p:txBody>
          <a:bodyPr/>
          <a:lstStyle/>
          <a:p>
            <a:fld id="{D875620C-0B6E-46A5-84C2-F899A90491EE}" type="datetimeFigureOut">
              <a:rPr lang="en-GB" smtClean="0"/>
              <a:t>08/11/2025</a:t>
            </a:fld>
            <a:endParaRPr lang="en-GB"/>
          </a:p>
        </p:txBody>
      </p:sp>
      <p:sp>
        <p:nvSpPr>
          <p:cNvPr id="5" name="Footer Placeholder 4">
            <a:extLst>
              <a:ext uri="{FF2B5EF4-FFF2-40B4-BE49-F238E27FC236}">
                <a16:creationId xmlns:a16="http://schemas.microsoft.com/office/drawing/2014/main" id="{93E04F0C-AB1B-8840-D570-195ED3ACE63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0ED37E-2D84-5C6A-0288-008F90228706}"/>
              </a:ext>
            </a:extLst>
          </p:cNvPr>
          <p:cNvSpPr>
            <a:spLocks noGrp="1"/>
          </p:cNvSpPr>
          <p:nvPr>
            <p:ph type="sldNum" sz="quarter" idx="12"/>
          </p:nvPr>
        </p:nvSpPr>
        <p:spPr/>
        <p:txBody>
          <a:bodyPr/>
          <a:lstStyle/>
          <a:p>
            <a:fld id="{2D37CD82-0E98-4AAB-99B7-88432D0872B1}" type="slidenum">
              <a:rPr lang="en-GB" smtClean="0"/>
              <a:t>‹#›</a:t>
            </a:fld>
            <a:endParaRPr lang="en-GB"/>
          </a:p>
        </p:txBody>
      </p:sp>
    </p:spTree>
    <p:extLst>
      <p:ext uri="{BB962C8B-B14F-4D97-AF65-F5344CB8AC3E}">
        <p14:creationId xmlns:p14="http://schemas.microsoft.com/office/powerpoint/2010/main" val="2312921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D8C8A8-8C45-396A-25BF-3AB9D1942D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9B1376-5A02-C664-E010-6E3B00FDDF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64E614-4E59-84B2-4267-CC533808E4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75620C-0B6E-46A5-84C2-F899A90491EE}" type="datetimeFigureOut">
              <a:rPr lang="en-GB" smtClean="0"/>
              <a:t>08/11/2025</a:t>
            </a:fld>
            <a:endParaRPr lang="en-GB"/>
          </a:p>
        </p:txBody>
      </p:sp>
      <p:sp>
        <p:nvSpPr>
          <p:cNvPr id="5" name="Footer Placeholder 4">
            <a:extLst>
              <a:ext uri="{FF2B5EF4-FFF2-40B4-BE49-F238E27FC236}">
                <a16:creationId xmlns:a16="http://schemas.microsoft.com/office/drawing/2014/main" id="{636C1850-F82B-4114-BDA2-F37753D986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64E0C7C-2D41-C63C-61C9-9CAC26823B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37CD82-0E98-4AAB-99B7-88432D0872B1}" type="slidenum">
              <a:rPr lang="en-GB" smtClean="0"/>
              <a:t>‹#›</a:t>
            </a:fld>
            <a:endParaRPr lang="en-GB"/>
          </a:p>
        </p:txBody>
      </p:sp>
    </p:spTree>
    <p:extLst>
      <p:ext uri="{BB962C8B-B14F-4D97-AF65-F5344CB8AC3E}">
        <p14:creationId xmlns:p14="http://schemas.microsoft.com/office/powerpoint/2010/main" val="198381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svgsilh.com/image/151791.html"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freesvg.org/simple-keyboard-on-color-background-vector-illustration" TargetMode="External"/><Relationship Id="rId5" Type="http://schemas.openxmlformats.org/officeDocument/2006/relationships/image" Target="../media/image7.png"/><Relationship Id="rId4" Type="http://schemas.openxmlformats.org/officeDocument/2006/relationships/hyperlink" Target="https://pixabay.com/id/vectors/database-penyimpanan-data-silinder-14976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kaggle.com/datasets/kreeshrajani/3k-conversations-dataset-for-chatbot"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0BDB25-DAA8-E930-7711-86B19C4DF165}"/>
              </a:ext>
            </a:extLst>
          </p:cNvPr>
          <p:cNvSpPr>
            <a:spLocks noGrp="1"/>
          </p:cNvSpPr>
          <p:nvPr>
            <p:ph type="title"/>
          </p:nvPr>
        </p:nvSpPr>
        <p:spPr/>
        <p:txBody>
          <a:bodyPr/>
          <a:lstStyle/>
          <a:p>
            <a:r>
              <a:rPr lang="en-IN" dirty="0"/>
              <a:t>2) OpenAI Agents API</a:t>
            </a:r>
          </a:p>
        </p:txBody>
      </p:sp>
      <p:sp>
        <p:nvSpPr>
          <p:cNvPr id="5" name="Text Placeholder 4">
            <a:extLst>
              <a:ext uri="{FF2B5EF4-FFF2-40B4-BE49-F238E27FC236}">
                <a16:creationId xmlns:a16="http://schemas.microsoft.com/office/drawing/2014/main" id="{A21A46AC-CE4C-1453-27FA-111EF7D70779}"/>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204031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7AA3C1-5A66-87CA-F078-914CF7AA2DBC}"/>
              </a:ext>
            </a:extLst>
          </p:cNvPr>
          <p:cNvSpPr>
            <a:spLocks noGrp="1"/>
          </p:cNvSpPr>
          <p:nvPr>
            <p:ph type="title"/>
          </p:nvPr>
        </p:nvSpPr>
        <p:spPr/>
        <p:txBody>
          <a:bodyPr/>
          <a:lstStyle/>
          <a:p>
            <a:r>
              <a:rPr lang="en-IN" dirty="0"/>
              <a:t>Agents API</a:t>
            </a:r>
          </a:p>
        </p:txBody>
      </p:sp>
      <p:sp>
        <p:nvSpPr>
          <p:cNvPr id="5" name="Content Placeholder 4">
            <a:extLst>
              <a:ext uri="{FF2B5EF4-FFF2-40B4-BE49-F238E27FC236}">
                <a16:creationId xmlns:a16="http://schemas.microsoft.com/office/drawing/2014/main" id="{98DF3C67-034A-5F49-9486-64AC7BCA7047}"/>
              </a:ext>
            </a:extLst>
          </p:cNvPr>
          <p:cNvSpPr>
            <a:spLocks noGrp="1"/>
          </p:cNvSpPr>
          <p:nvPr>
            <p:ph idx="1"/>
          </p:nvPr>
        </p:nvSpPr>
        <p:spPr/>
        <p:txBody>
          <a:bodyPr>
            <a:normAutofit fontScale="55000" lnSpcReduction="20000"/>
          </a:bodyPr>
          <a:lstStyle/>
          <a:p>
            <a:endParaRPr lang="en-US" b="1" dirty="0"/>
          </a:p>
          <a:p>
            <a:endParaRPr lang="en-US" dirty="0"/>
          </a:p>
          <a:p>
            <a:endParaRPr lang="en-US" dirty="0"/>
          </a:p>
          <a:p>
            <a:endParaRPr lang="en-US" dirty="0"/>
          </a:p>
          <a:p>
            <a:endParaRPr lang="en-US" dirty="0"/>
          </a:p>
          <a:p>
            <a:endParaRPr lang="en-US"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r>
              <a:rPr lang="it-IT" dirty="0"/>
              <a:t>Code: C:\code\agenticai\2_openai_agents\2_1_openai_agent.py</a:t>
            </a:r>
            <a:endParaRPr lang="en-IN" dirty="0"/>
          </a:p>
        </p:txBody>
      </p:sp>
      <p:graphicFrame>
        <p:nvGraphicFramePr>
          <p:cNvPr id="2" name="Table 1">
            <a:extLst>
              <a:ext uri="{FF2B5EF4-FFF2-40B4-BE49-F238E27FC236}">
                <a16:creationId xmlns:a16="http://schemas.microsoft.com/office/drawing/2014/main" id="{5D4E51A7-D37E-C8EC-39E8-DAFF87769771}"/>
              </a:ext>
            </a:extLst>
          </p:cNvPr>
          <p:cNvGraphicFramePr>
            <a:graphicFrameLocks noGrp="1"/>
          </p:cNvGraphicFramePr>
          <p:nvPr/>
        </p:nvGraphicFramePr>
        <p:xfrm>
          <a:off x="963260" y="1481503"/>
          <a:ext cx="10515599" cy="4224428"/>
        </p:xfrm>
        <a:graphic>
          <a:graphicData uri="http://schemas.openxmlformats.org/drawingml/2006/table">
            <a:tbl>
              <a:tblPr/>
              <a:tblGrid>
                <a:gridCol w="2452241">
                  <a:extLst>
                    <a:ext uri="{9D8B030D-6E8A-4147-A177-3AD203B41FA5}">
                      <a16:colId xmlns:a16="http://schemas.microsoft.com/office/drawing/2014/main" val="4182698781"/>
                    </a:ext>
                  </a:extLst>
                </a:gridCol>
                <a:gridCol w="8063358">
                  <a:extLst>
                    <a:ext uri="{9D8B030D-6E8A-4147-A177-3AD203B41FA5}">
                      <a16:colId xmlns:a16="http://schemas.microsoft.com/office/drawing/2014/main" val="2641310142"/>
                    </a:ext>
                  </a:extLst>
                </a:gridCol>
              </a:tblGrid>
              <a:tr h="265868">
                <a:tc>
                  <a:txBody>
                    <a:bodyPr/>
                    <a:lstStyle/>
                    <a:p>
                      <a:pPr>
                        <a:buNone/>
                      </a:pPr>
                      <a:r>
                        <a:rPr lang="en-GB" sz="1500" b="1"/>
                        <a:t>Aspect</a:t>
                      </a:r>
                      <a:endParaRPr lang="en-GB" sz="150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500" b="1"/>
                        <a:t>Description</a:t>
                      </a:r>
                      <a:endParaRPr lang="en-GB" sz="150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964313008"/>
                  </a:ext>
                </a:extLst>
              </a:tr>
              <a:tr h="854021">
                <a:tc>
                  <a:txBody>
                    <a:bodyPr/>
                    <a:lstStyle/>
                    <a:p>
                      <a:pPr>
                        <a:buNone/>
                      </a:pPr>
                      <a:r>
                        <a:rPr lang="en-GB" sz="1500" b="1"/>
                        <a:t>Official Definition</a:t>
                      </a:r>
                      <a:endParaRPr lang="en-GB" sz="150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500" dirty="0"/>
                        <a:t>“</a:t>
                      </a:r>
                      <a:r>
                        <a:rPr lang="en-US" sz="1500" b="1" dirty="0"/>
                        <a:t>Agents represent systems that intelligently accomplish tasks, ranging from executing simple workflows to pursuing complex, open-ended objectives.</a:t>
                      </a:r>
                      <a:r>
                        <a:rPr lang="en-US" sz="1500" dirty="0"/>
                        <a:t>” — </a:t>
                      </a:r>
                      <a:r>
                        <a:rPr lang="en-US" sz="1500" i="1" dirty="0"/>
                        <a:t>OpenAI</a:t>
                      </a:r>
                      <a:endParaRPr lang="en-US" sz="1500" dirty="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10853121"/>
                  </a:ext>
                </a:extLst>
              </a:tr>
              <a:tr h="656939">
                <a:tc>
                  <a:txBody>
                    <a:bodyPr/>
                    <a:lstStyle/>
                    <a:p>
                      <a:pPr>
                        <a:buNone/>
                      </a:pPr>
                      <a:r>
                        <a:rPr lang="en-GB" sz="1500" b="1"/>
                        <a:t>Purpose</a:t>
                      </a:r>
                      <a:endParaRPr lang="en-GB" sz="150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500" dirty="0"/>
                        <a:t>Agents combine </a:t>
                      </a:r>
                      <a:r>
                        <a:rPr lang="en-US" sz="1500" b="1" dirty="0"/>
                        <a:t>reasoning</a:t>
                      </a:r>
                      <a:r>
                        <a:rPr lang="en-US" sz="1500" dirty="0"/>
                        <a:t>, </a:t>
                      </a:r>
                      <a:r>
                        <a:rPr lang="en-US" sz="1500" b="1" dirty="0"/>
                        <a:t>tool use</a:t>
                      </a:r>
                      <a:r>
                        <a:rPr lang="en-US" sz="1500" dirty="0"/>
                        <a:t>, and </a:t>
                      </a:r>
                      <a:r>
                        <a:rPr lang="en-US" sz="1500" b="1" dirty="0"/>
                        <a:t>memory</a:t>
                      </a:r>
                      <a:r>
                        <a:rPr lang="en-US" sz="1500" dirty="0"/>
                        <a:t> to autonomously complete tasks — from basic automation to multi-step decision-making</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70291019"/>
                  </a:ext>
                </a:extLst>
              </a:tr>
              <a:tr h="656939">
                <a:tc>
                  <a:txBody>
                    <a:bodyPr/>
                    <a:lstStyle/>
                    <a:p>
                      <a:pPr>
                        <a:buNone/>
                      </a:pPr>
                      <a:r>
                        <a:rPr lang="en-GB" sz="1500" b="1"/>
                        <a:t>Examples of Tasks</a:t>
                      </a:r>
                      <a:endParaRPr lang="en-GB" sz="150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500" dirty="0"/>
                        <a:t>• Run data analysis scripts </a:t>
                      </a:r>
                    </a:p>
                    <a:p>
                      <a:pPr>
                        <a:buNone/>
                      </a:pPr>
                      <a:r>
                        <a:rPr lang="en-US" sz="1500" dirty="0"/>
                        <a:t>• Search the web or use APIs </a:t>
                      </a:r>
                    </a:p>
                    <a:p>
                      <a:pPr>
                        <a:buNone/>
                      </a:pPr>
                      <a:r>
                        <a:rPr lang="en-US" sz="1500" dirty="0"/>
                        <a:t>• Send messages or emails </a:t>
                      </a:r>
                    </a:p>
                    <a:p>
                      <a:pPr>
                        <a:buNone/>
                      </a:pPr>
                      <a:r>
                        <a:rPr lang="en-US" sz="1500" dirty="0"/>
                        <a:t>• Plan and execute multi-step goals</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803554786"/>
                  </a:ext>
                </a:extLst>
              </a:tr>
              <a:tr h="265868">
                <a:tc>
                  <a:txBody>
                    <a:bodyPr/>
                    <a:lstStyle/>
                    <a:p>
                      <a:pPr>
                        <a:buNone/>
                      </a:pPr>
                      <a:r>
                        <a:rPr lang="en-GB" sz="1500" b="1"/>
                        <a:t>Installation Command</a:t>
                      </a:r>
                      <a:endParaRPr lang="en-GB" sz="150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500" b="1" dirty="0">
                          <a:latin typeface="Courier New" panose="02070309020205020404" pitchFamily="49" charset="0"/>
                        </a:rPr>
                        <a:t>pip install </a:t>
                      </a:r>
                      <a:r>
                        <a:rPr lang="en-GB" sz="1500" b="1" dirty="0" err="1">
                          <a:latin typeface="Courier New" panose="02070309020205020404" pitchFamily="49" charset="0"/>
                        </a:rPr>
                        <a:t>openai</a:t>
                      </a:r>
                      <a:r>
                        <a:rPr lang="en-GB" sz="1500" b="1" dirty="0">
                          <a:latin typeface="Courier New" panose="02070309020205020404" pitchFamily="49" charset="0"/>
                        </a:rPr>
                        <a:t>-agents</a:t>
                      </a:r>
                      <a:endParaRPr lang="en-GB" sz="1500" b="1" dirty="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978206531"/>
                  </a:ext>
                </a:extLst>
              </a:tr>
              <a:tr h="656939">
                <a:tc>
                  <a:txBody>
                    <a:bodyPr/>
                    <a:lstStyle/>
                    <a:p>
                      <a:pPr>
                        <a:buNone/>
                      </a:pPr>
                      <a:r>
                        <a:rPr lang="en-GB" sz="1500" b="1"/>
                        <a:t>Integration</a:t>
                      </a:r>
                      <a:endParaRPr lang="en-GB" sz="150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500" dirty="0"/>
                        <a:t>Works seamlessly with the </a:t>
                      </a:r>
                      <a:r>
                        <a:rPr lang="en-US" sz="1500" b="1" dirty="0"/>
                        <a:t>OpenAI Responses API</a:t>
                      </a:r>
                      <a:r>
                        <a:rPr lang="en-US" sz="1500" dirty="0"/>
                        <a:t>, enabling dynamic tool-calling and multi-step task completion</a:t>
                      </a:r>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871716649"/>
                  </a:ext>
                </a:extLst>
              </a:tr>
              <a:tr h="459857">
                <a:tc>
                  <a:txBody>
                    <a:bodyPr/>
                    <a:lstStyle/>
                    <a:p>
                      <a:pPr>
                        <a:buNone/>
                      </a:pPr>
                      <a:r>
                        <a:rPr lang="en-GB" sz="1500" b="1" dirty="0"/>
                        <a:t>Benefit</a:t>
                      </a:r>
                      <a:endParaRPr lang="en-GB" sz="1500" dirty="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500" dirty="0"/>
                        <a:t>Turns LLMs from reactive assistants into </a:t>
                      </a:r>
                      <a:r>
                        <a:rPr lang="en-US" sz="1500" b="1" dirty="0"/>
                        <a:t>goal-driven, autonomous systems</a:t>
                      </a:r>
                      <a:endParaRPr lang="en-US" sz="1500" dirty="0"/>
                    </a:p>
                  </a:txBody>
                  <a:tcPr marL="75023" marR="75023" marT="37512" marB="375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919007989"/>
                  </a:ext>
                </a:extLst>
              </a:tr>
            </a:tbl>
          </a:graphicData>
        </a:graphic>
      </p:graphicFrame>
    </p:spTree>
    <p:extLst>
      <p:ext uri="{BB962C8B-B14F-4D97-AF65-F5344CB8AC3E}">
        <p14:creationId xmlns:p14="http://schemas.microsoft.com/office/powerpoint/2010/main" val="687909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25946-4DD0-BD92-AA53-84A0114EA337}"/>
              </a:ext>
            </a:extLst>
          </p:cNvPr>
          <p:cNvSpPr>
            <a:spLocks noGrp="1"/>
          </p:cNvSpPr>
          <p:nvPr>
            <p:ph type="title"/>
          </p:nvPr>
        </p:nvSpPr>
        <p:spPr/>
        <p:txBody>
          <a:bodyPr/>
          <a:lstStyle/>
          <a:p>
            <a:r>
              <a:rPr lang="en-IN" dirty="0"/>
              <a:t>Agents API Basics</a:t>
            </a:r>
            <a:endParaRPr lang="en-GB" dirty="0"/>
          </a:p>
        </p:txBody>
      </p:sp>
      <p:sp>
        <p:nvSpPr>
          <p:cNvPr id="3" name="Content Placeholder 2">
            <a:extLst>
              <a:ext uri="{FF2B5EF4-FFF2-40B4-BE49-F238E27FC236}">
                <a16:creationId xmlns:a16="http://schemas.microsoft.com/office/drawing/2014/main" id="{58BB5988-D4A7-6685-1814-D5225EC3CF84}"/>
              </a:ext>
            </a:extLst>
          </p:cNvPr>
          <p:cNvSpPr>
            <a:spLocks noGrp="1"/>
          </p:cNvSpPr>
          <p:nvPr>
            <p:ph idx="1"/>
          </p:nvPr>
        </p:nvSpPr>
        <p:spPr/>
        <p:txBody>
          <a:bodyPr/>
          <a:lstStyle/>
          <a:p>
            <a:endParaRPr lang="en-GB" dirty="0"/>
          </a:p>
        </p:txBody>
      </p:sp>
      <p:sp>
        <p:nvSpPr>
          <p:cNvPr id="4" name="TextBox 3">
            <a:extLst>
              <a:ext uri="{FF2B5EF4-FFF2-40B4-BE49-F238E27FC236}">
                <a16:creationId xmlns:a16="http://schemas.microsoft.com/office/drawing/2014/main" id="{BB987856-73F6-E779-223A-A2ED8DB128DC}"/>
              </a:ext>
            </a:extLst>
          </p:cNvPr>
          <p:cNvSpPr txBox="1"/>
          <p:nvPr/>
        </p:nvSpPr>
        <p:spPr>
          <a:xfrm>
            <a:off x="481630" y="2477955"/>
            <a:ext cx="4997789" cy="1877437"/>
          </a:xfrm>
          <a:prstGeom prst="rect">
            <a:avLst/>
          </a:prstGeom>
          <a:solidFill>
            <a:schemeClr val="accent4">
              <a:lumMod val="20000"/>
              <a:lumOff val="80000"/>
            </a:schemeClr>
          </a:solidFill>
        </p:spPr>
        <p:txBody>
          <a:bodyPr wrap="square" rtlCol="0">
            <a:spAutoFit/>
          </a:bodyPr>
          <a:lstStyle/>
          <a:p>
            <a:r>
              <a:rPr lang="en-IN" b="1" dirty="0"/>
              <a:t>Step 1: Defining an Agent</a:t>
            </a:r>
          </a:p>
          <a:p>
            <a:endParaRPr lang="en-GB" dirty="0"/>
          </a:p>
          <a:p>
            <a:r>
              <a:rPr lang="en-GB" sz="1600" dirty="0">
                <a:latin typeface="Cascadia Mono" panose="020B0609020000020004" pitchFamily="49" charset="0"/>
                <a:cs typeface="Cascadia Mono" panose="020B0609020000020004" pitchFamily="49" charset="0"/>
              </a:rPr>
              <a:t>agent = Agent(</a:t>
            </a:r>
          </a:p>
          <a:p>
            <a:r>
              <a:rPr lang="en-GB" sz="1600" dirty="0">
                <a:latin typeface="Cascadia Mono" panose="020B0609020000020004" pitchFamily="49" charset="0"/>
                <a:cs typeface="Cascadia Mono" panose="020B0609020000020004" pitchFamily="49" charset="0"/>
              </a:rPr>
              <a:t>    name="Assistant",</a:t>
            </a:r>
          </a:p>
          <a:p>
            <a:r>
              <a:rPr lang="en-GB" sz="1600" dirty="0">
                <a:latin typeface="Cascadia Mono" panose="020B0609020000020004" pitchFamily="49" charset="0"/>
                <a:cs typeface="Cascadia Mono" panose="020B0609020000020004" pitchFamily="49" charset="0"/>
              </a:rPr>
              <a:t>    instructions=instruction,</a:t>
            </a:r>
          </a:p>
          <a:p>
            <a:r>
              <a:rPr lang="en-GB" sz="1600" dirty="0">
                <a:latin typeface="Cascadia Mono" panose="020B0609020000020004" pitchFamily="49" charset="0"/>
                <a:cs typeface="Cascadia Mono" panose="020B0609020000020004" pitchFamily="49" charset="0"/>
              </a:rPr>
              <a:t>    model=“gpt-4o-mini” // optional</a:t>
            </a:r>
          </a:p>
          <a:p>
            <a:r>
              <a:rPr lang="en-GB" sz="1600" dirty="0">
                <a:latin typeface="Cascadia Mono" panose="020B0609020000020004" pitchFamily="49" charset="0"/>
                <a:cs typeface="Cascadia Mono" panose="020B0609020000020004" pitchFamily="49" charset="0"/>
              </a:rPr>
              <a:t>)</a:t>
            </a:r>
            <a:endParaRPr lang="en-GB" dirty="0"/>
          </a:p>
        </p:txBody>
      </p:sp>
      <p:sp>
        <p:nvSpPr>
          <p:cNvPr id="5" name="TextBox 4">
            <a:extLst>
              <a:ext uri="{FF2B5EF4-FFF2-40B4-BE49-F238E27FC236}">
                <a16:creationId xmlns:a16="http://schemas.microsoft.com/office/drawing/2014/main" id="{ACDCACEE-5C36-A4FC-5F88-1B63CE418D68}"/>
              </a:ext>
            </a:extLst>
          </p:cNvPr>
          <p:cNvSpPr txBox="1"/>
          <p:nvPr/>
        </p:nvSpPr>
        <p:spPr>
          <a:xfrm>
            <a:off x="5786542" y="2387379"/>
            <a:ext cx="5193234" cy="1354217"/>
          </a:xfrm>
          <a:prstGeom prst="rect">
            <a:avLst/>
          </a:prstGeom>
          <a:solidFill>
            <a:schemeClr val="accent6">
              <a:lumMod val="40000"/>
              <a:lumOff val="60000"/>
            </a:schemeClr>
          </a:solidFill>
        </p:spPr>
        <p:txBody>
          <a:bodyPr wrap="square" rtlCol="0">
            <a:spAutoFit/>
          </a:bodyPr>
          <a:lstStyle/>
          <a:p>
            <a:r>
              <a:rPr lang="en-IN" sz="1600" dirty="0"/>
              <a:t>Agent: Object representing our intelligent assistant</a:t>
            </a:r>
          </a:p>
          <a:p>
            <a:r>
              <a:rPr lang="en-IN" sz="1600" dirty="0"/>
              <a:t>instructions: Tell the agent how to behave</a:t>
            </a:r>
          </a:p>
          <a:p>
            <a:endParaRPr lang="en-IN" sz="1600" dirty="0"/>
          </a:p>
          <a:p>
            <a:r>
              <a:rPr lang="en-IN" sz="1600" dirty="0"/>
              <a:t>Note: This will create but not run the agent</a:t>
            </a:r>
          </a:p>
          <a:p>
            <a:endParaRPr lang="en-GB" sz="1600" dirty="0"/>
          </a:p>
        </p:txBody>
      </p:sp>
      <p:sp>
        <p:nvSpPr>
          <p:cNvPr id="6" name="TextBox 5">
            <a:extLst>
              <a:ext uri="{FF2B5EF4-FFF2-40B4-BE49-F238E27FC236}">
                <a16:creationId xmlns:a16="http://schemas.microsoft.com/office/drawing/2014/main" id="{FCDFB2CE-B9D9-23AC-8969-ABEDF6A54210}"/>
              </a:ext>
            </a:extLst>
          </p:cNvPr>
          <p:cNvSpPr txBox="1"/>
          <p:nvPr/>
        </p:nvSpPr>
        <p:spPr>
          <a:xfrm>
            <a:off x="481630" y="4368146"/>
            <a:ext cx="4997789" cy="1169551"/>
          </a:xfrm>
          <a:prstGeom prst="rect">
            <a:avLst/>
          </a:prstGeom>
          <a:solidFill>
            <a:schemeClr val="accent4">
              <a:lumMod val="20000"/>
              <a:lumOff val="80000"/>
            </a:schemeClr>
          </a:solidFill>
        </p:spPr>
        <p:txBody>
          <a:bodyPr wrap="square" rtlCol="0">
            <a:spAutoFit/>
          </a:bodyPr>
          <a:lstStyle/>
          <a:p>
            <a:r>
              <a:rPr lang="en-IN" b="1" dirty="0"/>
              <a:t>Step 2: Running the Agent</a:t>
            </a:r>
          </a:p>
          <a:p>
            <a:endParaRPr lang="en-GB" dirty="0"/>
          </a:p>
          <a:p>
            <a:r>
              <a:rPr lang="en-GB" sz="1600" dirty="0">
                <a:latin typeface="Cascadia Mono" panose="020B0609020000020004" pitchFamily="49" charset="0"/>
                <a:cs typeface="Cascadia Mono" panose="020B0609020000020004" pitchFamily="49" charset="0"/>
              </a:rPr>
              <a:t>result = </a:t>
            </a:r>
            <a:r>
              <a:rPr lang="en-GB" sz="1600" dirty="0" err="1">
                <a:latin typeface="Cascadia Mono" panose="020B0609020000020004" pitchFamily="49" charset="0"/>
                <a:cs typeface="Cascadia Mono" panose="020B0609020000020004" pitchFamily="49" charset="0"/>
              </a:rPr>
              <a:t>Runner.run_sync</a:t>
            </a:r>
            <a:r>
              <a:rPr lang="en-GB" sz="1600" dirty="0">
                <a:latin typeface="Cascadia Mono" panose="020B0609020000020004" pitchFamily="49" charset="0"/>
                <a:cs typeface="Cascadia Mono" panose="020B0609020000020004" pitchFamily="49" charset="0"/>
              </a:rPr>
              <a:t>(agent, message)</a:t>
            </a:r>
          </a:p>
          <a:p>
            <a:endParaRPr lang="en-GB" dirty="0"/>
          </a:p>
        </p:txBody>
      </p:sp>
      <p:sp>
        <p:nvSpPr>
          <p:cNvPr id="7" name="TextBox 6">
            <a:extLst>
              <a:ext uri="{FF2B5EF4-FFF2-40B4-BE49-F238E27FC236}">
                <a16:creationId xmlns:a16="http://schemas.microsoft.com/office/drawing/2014/main" id="{C417E146-5ACA-6717-0FFB-2F94366438B4}"/>
              </a:ext>
            </a:extLst>
          </p:cNvPr>
          <p:cNvSpPr txBox="1"/>
          <p:nvPr/>
        </p:nvSpPr>
        <p:spPr>
          <a:xfrm>
            <a:off x="5786542" y="3928562"/>
            <a:ext cx="5193234" cy="2616101"/>
          </a:xfrm>
          <a:prstGeom prst="rect">
            <a:avLst/>
          </a:prstGeom>
          <a:solidFill>
            <a:schemeClr val="accent6">
              <a:lumMod val="40000"/>
              <a:lumOff val="60000"/>
            </a:schemeClr>
          </a:solidFill>
        </p:spPr>
        <p:txBody>
          <a:bodyPr wrap="square" rtlCol="0">
            <a:spAutoFit/>
          </a:bodyPr>
          <a:lstStyle/>
          <a:p>
            <a:r>
              <a:rPr lang="en-US" sz="1600" dirty="0" err="1"/>
              <a:t>Runner.run_sync</a:t>
            </a:r>
            <a:r>
              <a:rPr lang="en-US" sz="1600" dirty="0"/>
              <a:t> executes the agent synchronously</a:t>
            </a:r>
          </a:p>
          <a:p>
            <a:endParaRPr lang="en-US" sz="1600" dirty="0"/>
          </a:p>
          <a:p>
            <a:r>
              <a:rPr lang="en-US" sz="1600" dirty="0"/>
              <a:t>Sends the message to the agent along with instructions</a:t>
            </a:r>
          </a:p>
          <a:p>
            <a:endParaRPr lang="en-US" sz="1600" dirty="0"/>
          </a:p>
          <a:p>
            <a:r>
              <a:rPr lang="en-US" sz="1600" dirty="0"/>
              <a:t>Internally:</a:t>
            </a:r>
          </a:p>
          <a:p>
            <a:r>
              <a:rPr lang="en-US" sz="1600" dirty="0"/>
              <a:t>1. The agent formats the message for the LLM</a:t>
            </a:r>
          </a:p>
          <a:p>
            <a:r>
              <a:rPr lang="en-US" sz="1600" dirty="0"/>
              <a:t>2. The LLM generates a response based on the instruction and message</a:t>
            </a:r>
          </a:p>
          <a:p>
            <a:r>
              <a:rPr lang="en-US" sz="1600" dirty="0"/>
              <a:t>3. Runner wraps this execution and stores the final output in result</a:t>
            </a:r>
            <a:endParaRPr lang="en-GB" sz="1600" dirty="0"/>
          </a:p>
        </p:txBody>
      </p:sp>
      <p:sp>
        <p:nvSpPr>
          <p:cNvPr id="8" name="TextBox 7">
            <a:extLst>
              <a:ext uri="{FF2B5EF4-FFF2-40B4-BE49-F238E27FC236}">
                <a16:creationId xmlns:a16="http://schemas.microsoft.com/office/drawing/2014/main" id="{C03D05C8-12DD-80FE-0A0F-79488B7CAC71}"/>
              </a:ext>
            </a:extLst>
          </p:cNvPr>
          <p:cNvSpPr txBox="1"/>
          <p:nvPr/>
        </p:nvSpPr>
        <p:spPr>
          <a:xfrm>
            <a:off x="838200" y="1348571"/>
            <a:ext cx="9745745" cy="954107"/>
          </a:xfrm>
          <a:prstGeom prst="rect">
            <a:avLst/>
          </a:prstGeom>
          <a:solidFill>
            <a:schemeClr val="accent4">
              <a:lumMod val="60000"/>
              <a:lumOff val="40000"/>
            </a:schemeClr>
          </a:solidFill>
        </p:spPr>
        <p:txBody>
          <a:bodyPr wrap="square" rtlCol="0">
            <a:spAutoFit/>
          </a:bodyPr>
          <a:lstStyle/>
          <a:p>
            <a:r>
              <a:rPr lang="en-US" sz="1400" dirty="0"/>
              <a:t>instruction = "You are a helpful customer support analyst.“</a:t>
            </a:r>
          </a:p>
          <a:p>
            <a:endParaRPr lang="en-US" sz="1400" dirty="0"/>
          </a:p>
          <a:p>
            <a:r>
              <a:rPr lang="en-US" sz="1400" dirty="0"/>
              <a:t>message = "Analyze this customer feedback and suggest improvements to the product: 'The packaging is great, but the delivery was delayed by two days.'"</a:t>
            </a:r>
            <a:endParaRPr lang="en-GB" sz="1400" dirty="0"/>
          </a:p>
        </p:txBody>
      </p:sp>
    </p:spTree>
    <p:extLst>
      <p:ext uri="{BB962C8B-B14F-4D97-AF65-F5344CB8AC3E}">
        <p14:creationId xmlns:p14="http://schemas.microsoft.com/office/powerpoint/2010/main" val="750283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C7C96-86DD-FD90-D3E4-8A30CCFA5B3E}"/>
              </a:ext>
            </a:extLst>
          </p:cNvPr>
          <p:cNvSpPr>
            <a:spLocks noGrp="1"/>
          </p:cNvSpPr>
          <p:nvPr>
            <p:ph type="title"/>
          </p:nvPr>
        </p:nvSpPr>
        <p:spPr/>
        <p:txBody>
          <a:bodyPr/>
          <a:lstStyle/>
          <a:p>
            <a:r>
              <a:rPr lang="en-IN" dirty="0"/>
              <a:t>OpenAI Agents SDK</a:t>
            </a:r>
          </a:p>
        </p:txBody>
      </p:sp>
      <p:sp>
        <p:nvSpPr>
          <p:cNvPr id="3" name="Content Placeholder 2">
            <a:extLst>
              <a:ext uri="{FF2B5EF4-FFF2-40B4-BE49-F238E27FC236}">
                <a16:creationId xmlns:a16="http://schemas.microsoft.com/office/drawing/2014/main" id="{243501EB-49D5-3EBA-216C-C6339E04C208}"/>
              </a:ext>
            </a:extLst>
          </p:cNvPr>
          <p:cNvSpPr>
            <a:spLocks noGrp="1"/>
          </p:cNvSpPr>
          <p:nvPr>
            <p:ph idx="1"/>
          </p:nvPr>
        </p:nvSpPr>
        <p:spPr/>
        <p:txBody>
          <a:bodyPr/>
          <a:lstStyle/>
          <a:p>
            <a:r>
              <a:rPr lang="en-IN" dirty="0"/>
              <a:t>Allows us to build agentic apps with basic primitives:</a:t>
            </a:r>
          </a:p>
          <a:p>
            <a:endParaRPr lang="en-IN" dirty="0"/>
          </a:p>
        </p:txBody>
      </p:sp>
      <p:graphicFrame>
        <p:nvGraphicFramePr>
          <p:cNvPr id="4" name="Table 3">
            <a:extLst>
              <a:ext uri="{FF2B5EF4-FFF2-40B4-BE49-F238E27FC236}">
                <a16:creationId xmlns:a16="http://schemas.microsoft.com/office/drawing/2014/main" id="{03025BEE-F3C2-6731-5F43-051E63E968E5}"/>
              </a:ext>
            </a:extLst>
          </p:cNvPr>
          <p:cNvGraphicFramePr>
            <a:graphicFrameLocks noGrp="1"/>
          </p:cNvGraphicFramePr>
          <p:nvPr/>
        </p:nvGraphicFramePr>
        <p:xfrm>
          <a:off x="838200" y="2362027"/>
          <a:ext cx="10515600" cy="4203160"/>
        </p:xfrm>
        <a:graphic>
          <a:graphicData uri="http://schemas.openxmlformats.org/drawingml/2006/table">
            <a:tbl>
              <a:tblPr>
                <a:tableStyleId>{E8B1032C-EA38-4F05-BA0D-38AFFFC7BED3}</a:tableStyleId>
              </a:tblPr>
              <a:tblGrid>
                <a:gridCol w="1596775">
                  <a:extLst>
                    <a:ext uri="{9D8B030D-6E8A-4147-A177-3AD203B41FA5}">
                      <a16:colId xmlns:a16="http://schemas.microsoft.com/office/drawing/2014/main" val="2469913142"/>
                    </a:ext>
                  </a:extLst>
                </a:gridCol>
                <a:gridCol w="4078841">
                  <a:extLst>
                    <a:ext uri="{9D8B030D-6E8A-4147-A177-3AD203B41FA5}">
                      <a16:colId xmlns:a16="http://schemas.microsoft.com/office/drawing/2014/main" val="1365375933"/>
                    </a:ext>
                  </a:extLst>
                </a:gridCol>
                <a:gridCol w="4839984">
                  <a:extLst>
                    <a:ext uri="{9D8B030D-6E8A-4147-A177-3AD203B41FA5}">
                      <a16:colId xmlns:a16="http://schemas.microsoft.com/office/drawing/2014/main" val="3864009623"/>
                    </a:ext>
                  </a:extLst>
                </a:gridCol>
              </a:tblGrid>
              <a:tr h="413956">
                <a:tc>
                  <a:txBody>
                    <a:bodyPr/>
                    <a:lstStyle/>
                    <a:p>
                      <a:pPr>
                        <a:buNone/>
                      </a:pPr>
                      <a:r>
                        <a:rPr lang="en-IN" sz="2000" b="1" dirty="0"/>
                        <a:t>Primitive</a:t>
                      </a:r>
                      <a:endParaRPr lang="en-IN" sz="2000" dirty="0"/>
                    </a:p>
                  </a:txBody>
                  <a:tcPr anchor="ctr"/>
                </a:tc>
                <a:tc>
                  <a:txBody>
                    <a:bodyPr/>
                    <a:lstStyle/>
                    <a:p>
                      <a:pPr>
                        <a:buNone/>
                      </a:pPr>
                      <a:r>
                        <a:rPr lang="en-IN" sz="2000" b="1"/>
                        <a:t>Description</a:t>
                      </a:r>
                      <a:endParaRPr lang="en-IN" sz="2000"/>
                    </a:p>
                  </a:txBody>
                  <a:tcPr anchor="ctr"/>
                </a:tc>
                <a:tc>
                  <a:txBody>
                    <a:bodyPr/>
                    <a:lstStyle/>
                    <a:p>
                      <a:pPr>
                        <a:buNone/>
                      </a:pPr>
                      <a:r>
                        <a:rPr lang="en-IN" sz="2000" b="1"/>
                        <a:t>Example Use Case</a:t>
                      </a:r>
                      <a:endParaRPr lang="en-IN" sz="2000"/>
                    </a:p>
                  </a:txBody>
                  <a:tcPr anchor="ctr"/>
                </a:tc>
                <a:extLst>
                  <a:ext uri="{0D108BD9-81ED-4DB2-BD59-A6C34878D82A}">
                    <a16:rowId xmlns:a16="http://schemas.microsoft.com/office/drawing/2014/main" val="2479516050"/>
                  </a:ext>
                </a:extLst>
              </a:tr>
              <a:tr h="859713">
                <a:tc>
                  <a:txBody>
                    <a:bodyPr/>
                    <a:lstStyle/>
                    <a:p>
                      <a:pPr>
                        <a:buNone/>
                      </a:pPr>
                      <a:r>
                        <a:rPr lang="en-IN" sz="2000" b="1" dirty="0"/>
                        <a:t>Agents</a:t>
                      </a:r>
                      <a:endParaRPr lang="en-IN" sz="2000" dirty="0"/>
                    </a:p>
                  </a:txBody>
                  <a:tcPr anchor="ctr"/>
                </a:tc>
                <a:tc>
                  <a:txBody>
                    <a:bodyPr/>
                    <a:lstStyle/>
                    <a:p>
                      <a:pPr>
                        <a:buNone/>
                      </a:pPr>
                      <a:r>
                        <a:rPr lang="en-US" sz="2000" dirty="0"/>
                        <a:t>LLMs equipped with instructions and tools.</a:t>
                      </a:r>
                    </a:p>
                  </a:txBody>
                  <a:tcPr anchor="ctr"/>
                </a:tc>
                <a:tc>
                  <a:txBody>
                    <a:bodyPr/>
                    <a:lstStyle/>
                    <a:p>
                      <a:pPr>
                        <a:buNone/>
                      </a:pPr>
                      <a:r>
                        <a:rPr lang="en-US" sz="2000" dirty="0"/>
                        <a:t>A customer support bot that answers FAQs using a knowledge base and function calling.</a:t>
                      </a:r>
                    </a:p>
                  </a:txBody>
                  <a:tcPr anchor="ctr"/>
                </a:tc>
                <a:extLst>
                  <a:ext uri="{0D108BD9-81ED-4DB2-BD59-A6C34878D82A}">
                    <a16:rowId xmlns:a16="http://schemas.microsoft.com/office/drawing/2014/main" val="3702438369"/>
                  </a:ext>
                </a:extLst>
              </a:tr>
              <a:tr h="859713">
                <a:tc>
                  <a:txBody>
                    <a:bodyPr/>
                    <a:lstStyle/>
                    <a:p>
                      <a:pPr>
                        <a:buNone/>
                      </a:pPr>
                      <a:r>
                        <a:rPr lang="en-IN" sz="2000" b="1"/>
                        <a:t>Handoffs</a:t>
                      </a:r>
                      <a:endParaRPr lang="en-IN" sz="2000"/>
                    </a:p>
                  </a:txBody>
                  <a:tcPr anchor="ctr"/>
                </a:tc>
                <a:tc>
                  <a:txBody>
                    <a:bodyPr/>
                    <a:lstStyle/>
                    <a:p>
                      <a:pPr>
                        <a:buNone/>
                      </a:pPr>
                      <a:r>
                        <a:rPr lang="en-US" sz="2000"/>
                        <a:t>Allow agents to delegate to other agents for specific tasks.</a:t>
                      </a:r>
                    </a:p>
                  </a:txBody>
                  <a:tcPr anchor="ctr"/>
                </a:tc>
                <a:tc>
                  <a:txBody>
                    <a:bodyPr/>
                    <a:lstStyle/>
                    <a:p>
                      <a:pPr>
                        <a:buNone/>
                      </a:pPr>
                      <a:r>
                        <a:rPr lang="en-US" sz="2000"/>
                        <a:t>A general support agent escalates a billing-related query to a specialized billing agent.</a:t>
                      </a:r>
                    </a:p>
                  </a:txBody>
                  <a:tcPr anchor="ctr"/>
                </a:tc>
                <a:extLst>
                  <a:ext uri="{0D108BD9-81ED-4DB2-BD59-A6C34878D82A}">
                    <a16:rowId xmlns:a16="http://schemas.microsoft.com/office/drawing/2014/main" val="745061710"/>
                  </a:ext>
                </a:extLst>
              </a:tr>
              <a:tr h="1034889">
                <a:tc>
                  <a:txBody>
                    <a:bodyPr/>
                    <a:lstStyle/>
                    <a:p>
                      <a:pPr>
                        <a:buNone/>
                      </a:pPr>
                      <a:r>
                        <a:rPr lang="en-IN" sz="2000" b="1"/>
                        <a:t>Guardrails</a:t>
                      </a:r>
                      <a:endParaRPr lang="en-IN" sz="2000"/>
                    </a:p>
                  </a:txBody>
                  <a:tcPr anchor="ctr"/>
                </a:tc>
                <a:tc>
                  <a:txBody>
                    <a:bodyPr/>
                    <a:lstStyle/>
                    <a:p>
                      <a:pPr>
                        <a:buNone/>
                      </a:pPr>
                      <a:r>
                        <a:rPr lang="en-US" sz="2000"/>
                        <a:t>Enable validation of agent inputs and outputs.</a:t>
                      </a:r>
                    </a:p>
                  </a:txBody>
                  <a:tcPr anchor="ctr"/>
                </a:tc>
                <a:tc>
                  <a:txBody>
                    <a:bodyPr/>
                    <a:lstStyle/>
                    <a:p>
                      <a:pPr>
                        <a:buNone/>
                      </a:pPr>
                      <a:r>
                        <a:rPr lang="en-US" sz="2000"/>
                        <a:t>Prevent an agent from generating unsafe instructions or validate that output is JSON before returning.</a:t>
                      </a:r>
                    </a:p>
                  </a:txBody>
                  <a:tcPr anchor="ctr"/>
                </a:tc>
                <a:extLst>
                  <a:ext uri="{0D108BD9-81ED-4DB2-BD59-A6C34878D82A}">
                    <a16:rowId xmlns:a16="http://schemas.microsoft.com/office/drawing/2014/main" val="2344341352"/>
                  </a:ext>
                </a:extLst>
              </a:tr>
              <a:tr h="1034889">
                <a:tc>
                  <a:txBody>
                    <a:bodyPr/>
                    <a:lstStyle/>
                    <a:p>
                      <a:pPr>
                        <a:buNone/>
                      </a:pPr>
                      <a:r>
                        <a:rPr lang="en-IN" sz="2000" b="1"/>
                        <a:t>Sessions</a:t>
                      </a:r>
                      <a:endParaRPr lang="en-IN" sz="2000"/>
                    </a:p>
                  </a:txBody>
                  <a:tcPr anchor="ctr"/>
                </a:tc>
                <a:tc>
                  <a:txBody>
                    <a:bodyPr/>
                    <a:lstStyle/>
                    <a:p>
                      <a:pPr>
                        <a:buNone/>
                      </a:pPr>
                      <a:r>
                        <a:rPr lang="en-US" sz="2000"/>
                        <a:t>Automatically maintain conversation history across agent runs.</a:t>
                      </a:r>
                    </a:p>
                  </a:txBody>
                  <a:tcPr anchor="ctr"/>
                </a:tc>
                <a:tc>
                  <a:txBody>
                    <a:bodyPr/>
                    <a:lstStyle/>
                    <a:p>
                      <a:pPr>
                        <a:buNone/>
                      </a:pPr>
                      <a:r>
                        <a:rPr lang="en-US" sz="2000" dirty="0"/>
                        <a:t>A tutoring agent remembers what topics a student has already covered across multiple sessions.</a:t>
                      </a:r>
                    </a:p>
                  </a:txBody>
                  <a:tcPr anchor="ctr"/>
                </a:tc>
                <a:extLst>
                  <a:ext uri="{0D108BD9-81ED-4DB2-BD59-A6C34878D82A}">
                    <a16:rowId xmlns:a16="http://schemas.microsoft.com/office/drawing/2014/main" val="3831033266"/>
                  </a:ext>
                </a:extLst>
              </a:tr>
            </a:tbl>
          </a:graphicData>
        </a:graphic>
      </p:graphicFrame>
    </p:spTree>
    <p:extLst>
      <p:ext uri="{BB962C8B-B14F-4D97-AF65-F5344CB8AC3E}">
        <p14:creationId xmlns:p14="http://schemas.microsoft.com/office/powerpoint/2010/main" val="375622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936D3-4109-4E2D-E4F6-551587E9A272}"/>
              </a:ext>
            </a:extLst>
          </p:cNvPr>
          <p:cNvSpPr>
            <a:spLocks noGrp="1"/>
          </p:cNvSpPr>
          <p:nvPr>
            <p:ph type="title"/>
          </p:nvPr>
        </p:nvSpPr>
        <p:spPr/>
        <p:txBody>
          <a:bodyPr/>
          <a:lstStyle/>
          <a:p>
            <a:r>
              <a:rPr lang="en-IN" dirty="0"/>
              <a:t>Agents API: Sync or Async?</a:t>
            </a:r>
            <a:endParaRPr lang="en-GB" dirty="0"/>
          </a:p>
        </p:txBody>
      </p:sp>
      <p:sp>
        <p:nvSpPr>
          <p:cNvPr id="3" name="Content Placeholder 2">
            <a:extLst>
              <a:ext uri="{FF2B5EF4-FFF2-40B4-BE49-F238E27FC236}">
                <a16:creationId xmlns:a16="http://schemas.microsoft.com/office/drawing/2014/main" id="{6A137860-E044-7F56-74A2-7FA1AF3636A3}"/>
              </a:ext>
            </a:extLst>
          </p:cNvPr>
          <p:cNvSpPr>
            <a:spLocks noGrp="1"/>
          </p:cNvSpPr>
          <p:nvPr>
            <p:ph idx="1"/>
          </p:nvPr>
        </p:nvSpPr>
        <p:spPr/>
        <p:txBody>
          <a:bodyPr/>
          <a:lstStyle/>
          <a:p>
            <a:r>
              <a:rPr lang="en-IN" dirty="0"/>
              <a:t>Agents API supports two modes of operation: </a:t>
            </a:r>
            <a:r>
              <a:rPr lang="en-IN" b="1" dirty="0"/>
              <a:t>synchronous</a:t>
            </a:r>
            <a:r>
              <a:rPr lang="en-IN" dirty="0"/>
              <a:t> and </a:t>
            </a:r>
            <a:r>
              <a:rPr lang="en-IN" b="1" dirty="0"/>
              <a:t>asynchronous</a:t>
            </a:r>
          </a:p>
          <a:p>
            <a:endParaRPr lang="en-GB" dirty="0"/>
          </a:p>
        </p:txBody>
      </p:sp>
      <p:graphicFrame>
        <p:nvGraphicFramePr>
          <p:cNvPr id="4" name="Table 3">
            <a:extLst>
              <a:ext uri="{FF2B5EF4-FFF2-40B4-BE49-F238E27FC236}">
                <a16:creationId xmlns:a16="http://schemas.microsoft.com/office/drawing/2014/main" id="{52CE6E5B-E743-D5FB-0800-7B2F164CB2E6}"/>
              </a:ext>
            </a:extLst>
          </p:cNvPr>
          <p:cNvGraphicFramePr>
            <a:graphicFrameLocks noGrp="1"/>
          </p:cNvGraphicFramePr>
          <p:nvPr/>
        </p:nvGraphicFramePr>
        <p:xfrm>
          <a:off x="838200" y="2854883"/>
          <a:ext cx="10679634" cy="3933142"/>
        </p:xfrm>
        <a:graphic>
          <a:graphicData uri="http://schemas.openxmlformats.org/drawingml/2006/table">
            <a:tbl>
              <a:tblPr>
                <a:tableStyleId>{5DA37D80-6434-44D0-A028-1B22A696006F}</a:tableStyleId>
              </a:tblPr>
              <a:tblGrid>
                <a:gridCol w="2240047">
                  <a:extLst>
                    <a:ext uri="{9D8B030D-6E8A-4147-A177-3AD203B41FA5}">
                      <a16:colId xmlns:a16="http://schemas.microsoft.com/office/drawing/2014/main" val="3291926472"/>
                    </a:ext>
                  </a:extLst>
                </a:gridCol>
                <a:gridCol w="3860025">
                  <a:extLst>
                    <a:ext uri="{9D8B030D-6E8A-4147-A177-3AD203B41FA5}">
                      <a16:colId xmlns:a16="http://schemas.microsoft.com/office/drawing/2014/main" val="3225460055"/>
                    </a:ext>
                  </a:extLst>
                </a:gridCol>
                <a:gridCol w="4579562">
                  <a:extLst>
                    <a:ext uri="{9D8B030D-6E8A-4147-A177-3AD203B41FA5}">
                      <a16:colId xmlns:a16="http://schemas.microsoft.com/office/drawing/2014/main" val="612264176"/>
                    </a:ext>
                  </a:extLst>
                </a:gridCol>
              </a:tblGrid>
              <a:tr h="154718">
                <a:tc>
                  <a:txBody>
                    <a:bodyPr/>
                    <a:lstStyle/>
                    <a:p>
                      <a:pPr>
                        <a:buNone/>
                      </a:pPr>
                      <a:r>
                        <a:rPr lang="en-GB" sz="1800" b="1" dirty="0"/>
                        <a:t>Aspect</a:t>
                      </a:r>
                    </a:p>
                  </a:txBody>
                  <a:tcPr marL="52426" marR="52426" marT="26213" marB="26213" anchor="ctr"/>
                </a:tc>
                <a:tc>
                  <a:txBody>
                    <a:bodyPr/>
                    <a:lstStyle/>
                    <a:p>
                      <a:pPr>
                        <a:buNone/>
                      </a:pPr>
                      <a:r>
                        <a:rPr lang="en-GB" sz="1800" b="1" dirty="0">
                          <a:solidFill>
                            <a:srgbClr val="FF0000"/>
                          </a:solidFill>
                        </a:rPr>
                        <a:t>Synchronous</a:t>
                      </a:r>
                      <a:r>
                        <a:rPr lang="en-GB" sz="1800" b="1" dirty="0"/>
                        <a:t>: </a:t>
                      </a:r>
                      <a:r>
                        <a:rPr lang="en-GB" sz="1800" b="1" dirty="0" err="1"/>
                        <a:t>Runner.run_sync</a:t>
                      </a:r>
                      <a:r>
                        <a:rPr lang="en-GB" sz="1800" b="1" dirty="0"/>
                        <a:t>(...)</a:t>
                      </a:r>
                    </a:p>
                  </a:txBody>
                  <a:tcPr marL="52426" marR="52426" marT="26213" marB="26213" anchor="ctr"/>
                </a:tc>
                <a:tc>
                  <a:txBody>
                    <a:bodyPr/>
                    <a:lstStyle/>
                    <a:p>
                      <a:pPr>
                        <a:buNone/>
                      </a:pPr>
                      <a:r>
                        <a:rPr lang="en-GB" sz="1800" b="1" dirty="0">
                          <a:solidFill>
                            <a:srgbClr val="FF0000"/>
                          </a:solidFill>
                        </a:rPr>
                        <a:t>Asynchronous</a:t>
                      </a:r>
                      <a:r>
                        <a:rPr lang="en-GB" sz="1800" b="1" dirty="0"/>
                        <a:t>: await </a:t>
                      </a:r>
                      <a:r>
                        <a:rPr lang="en-GB" sz="1800" b="1" dirty="0" err="1"/>
                        <a:t>Runner.run</a:t>
                      </a:r>
                      <a:r>
                        <a:rPr lang="en-GB" sz="1800" b="1" dirty="0"/>
                        <a:t>(...)</a:t>
                      </a:r>
                    </a:p>
                  </a:txBody>
                  <a:tcPr marL="52426" marR="52426" marT="26213" marB="26213" anchor="ctr"/>
                </a:tc>
                <a:extLst>
                  <a:ext uri="{0D108BD9-81ED-4DB2-BD59-A6C34878D82A}">
                    <a16:rowId xmlns:a16="http://schemas.microsoft.com/office/drawing/2014/main" val="3010442310"/>
                  </a:ext>
                </a:extLst>
              </a:tr>
              <a:tr h="270756">
                <a:tc>
                  <a:txBody>
                    <a:bodyPr/>
                    <a:lstStyle/>
                    <a:p>
                      <a:pPr>
                        <a:buNone/>
                      </a:pPr>
                      <a:r>
                        <a:rPr lang="en-GB" sz="1800" b="1"/>
                        <a:t>Programming style</a:t>
                      </a:r>
                      <a:endParaRPr lang="en-GB" sz="1800"/>
                    </a:p>
                  </a:txBody>
                  <a:tcPr marL="52426" marR="52426" marT="26213" marB="26213" anchor="ctr"/>
                </a:tc>
                <a:tc>
                  <a:txBody>
                    <a:bodyPr/>
                    <a:lstStyle/>
                    <a:p>
                      <a:pPr>
                        <a:buNone/>
                      </a:pPr>
                      <a:r>
                        <a:rPr lang="en-US" sz="1800"/>
                        <a:t>Blocking (runs one task at a time)</a:t>
                      </a:r>
                    </a:p>
                  </a:txBody>
                  <a:tcPr marL="52426" marR="52426" marT="26213" marB="26213" anchor="ctr"/>
                </a:tc>
                <a:tc>
                  <a:txBody>
                    <a:bodyPr/>
                    <a:lstStyle/>
                    <a:p>
                      <a:pPr>
                        <a:buNone/>
                      </a:pPr>
                      <a:r>
                        <a:rPr lang="en-US" sz="1800"/>
                        <a:t>Non-blocking (can run multiple tasks concurrently)</a:t>
                      </a:r>
                    </a:p>
                  </a:txBody>
                  <a:tcPr marL="52426" marR="52426" marT="26213" marB="26213" anchor="ctr"/>
                </a:tc>
                <a:extLst>
                  <a:ext uri="{0D108BD9-81ED-4DB2-BD59-A6C34878D82A}">
                    <a16:rowId xmlns:a16="http://schemas.microsoft.com/office/drawing/2014/main" val="1619753185"/>
                  </a:ext>
                </a:extLst>
              </a:tr>
              <a:tr h="270756">
                <a:tc>
                  <a:txBody>
                    <a:bodyPr/>
                    <a:lstStyle/>
                    <a:p>
                      <a:pPr>
                        <a:buNone/>
                      </a:pPr>
                      <a:r>
                        <a:rPr lang="en-GB" sz="1800" b="1"/>
                        <a:t>Ease of use</a:t>
                      </a:r>
                      <a:endParaRPr lang="en-GB" sz="1800"/>
                    </a:p>
                  </a:txBody>
                  <a:tcPr marL="52426" marR="52426" marT="26213" marB="26213" anchor="ctr"/>
                </a:tc>
                <a:tc>
                  <a:txBody>
                    <a:bodyPr/>
                    <a:lstStyle/>
                    <a:p>
                      <a:pPr>
                        <a:buNone/>
                      </a:pPr>
                      <a:r>
                        <a:rPr lang="en-US" sz="1800"/>
                        <a:t>Simpler to write, no async/await needed</a:t>
                      </a:r>
                    </a:p>
                  </a:txBody>
                  <a:tcPr marL="52426" marR="52426" marT="26213" marB="26213" anchor="ctr"/>
                </a:tc>
                <a:tc>
                  <a:txBody>
                    <a:bodyPr/>
                    <a:lstStyle/>
                    <a:p>
                      <a:pPr>
                        <a:buNone/>
                      </a:pPr>
                      <a:r>
                        <a:rPr lang="en-US" sz="1800" dirty="0"/>
                        <a:t>Requires </a:t>
                      </a:r>
                      <a:r>
                        <a:rPr lang="en-US" sz="1800" b="1" dirty="0" err="1"/>
                        <a:t>asyncio</a:t>
                      </a:r>
                      <a:r>
                        <a:rPr lang="en-US" sz="1800" dirty="0"/>
                        <a:t> and </a:t>
                      </a:r>
                      <a:r>
                        <a:rPr lang="en-US" sz="1800" b="1" dirty="0"/>
                        <a:t>await </a:t>
                      </a:r>
                      <a:r>
                        <a:rPr lang="en-US" sz="1800" dirty="0"/>
                        <a:t>keywords</a:t>
                      </a:r>
                    </a:p>
                  </a:txBody>
                  <a:tcPr marL="52426" marR="52426" marT="26213" marB="26213" anchor="ctr"/>
                </a:tc>
                <a:extLst>
                  <a:ext uri="{0D108BD9-81ED-4DB2-BD59-A6C34878D82A}">
                    <a16:rowId xmlns:a16="http://schemas.microsoft.com/office/drawing/2014/main" val="1494663685"/>
                  </a:ext>
                </a:extLst>
              </a:tr>
              <a:tr h="386795">
                <a:tc>
                  <a:txBody>
                    <a:bodyPr/>
                    <a:lstStyle/>
                    <a:p>
                      <a:pPr>
                        <a:buNone/>
                      </a:pPr>
                      <a:r>
                        <a:rPr lang="en-GB" sz="1800" b="1"/>
                        <a:t>Best for</a:t>
                      </a:r>
                      <a:endParaRPr lang="en-GB" sz="1800"/>
                    </a:p>
                  </a:txBody>
                  <a:tcPr marL="52426" marR="52426" marT="26213" marB="26213" anchor="ctr"/>
                </a:tc>
                <a:tc>
                  <a:txBody>
                    <a:bodyPr/>
                    <a:lstStyle/>
                    <a:p>
                      <a:pPr>
                        <a:buNone/>
                      </a:pPr>
                      <a:r>
                        <a:rPr lang="en-US" sz="1800"/>
                        <a:t>Quick scripts, one-off calls, debugging</a:t>
                      </a:r>
                    </a:p>
                  </a:txBody>
                  <a:tcPr marL="52426" marR="52426" marT="26213" marB="26213" anchor="ctr"/>
                </a:tc>
                <a:tc>
                  <a:txBody>
                    <a:bodyPr/>
                    <a:lstStyle/>
                    <a:p>
                      <a:pPr>
                        <a:buNone/>
                      </a:pPr>
                      <a:r>
                        <a:rPr lang="en-US" sz="1800" dirty="0"/>
                        <a:t>Production apps, web servers, handling multiple sessions or tool calls</a:t>
                      </a:r>
                    </a:p>
                  </a:txBody>
                  <a:tcPr marL="52426" marR="52426" marT="26213" marB="26213" anchor="ctr"/>
                </a:tc>
                <a:extLst>
                  <a:ext uri="{0D108BD9-81ED-4DB2-BD59-A6C34878D82A}">
                    <a16:rowId xmlns:a16="http://schemas.microsoft.com/office/drawing/2014/main" val="2778826006"/>
                  </a:ext>
                </a:extLst>
              </a:tr>
              <a:tr h="270756">
                <a:tc>
                  <a:txBody>
                    <a:bodyPr/>
                    <a:lstStyle/>
                    <a:p>
                      <a:pPr>
                        <a:buNone/>
                      </a:pPr>
                      <a:r>
                        <a:rPr lang="en-GB" sz="1800" b="1"/>
                        <a:t>Concurrency</a:t>
                      </a:r>
                      <a:endParaRPr lang="en-GB" sz="1800"/>
                    </a:p>
                  </a:txBody>
                  <a:tcPr marL="52426" marR="52426" marT="26213" marB="26213" anchor="ctr"/>
                </a:tc>
                <a:tc>
                  <a:txBody>
                    <a:bodyPr/>
                    <a:lstStyle/>
                    <a:p>
                      <a:pPr>
                        <a:buNone/>
                      </a:pPr>
                      <a:r>
                        <a:rPr lang="en-US" sz="1800"/>
                        <a:t>Cannot overlap calls – each waits for the previous to finish</a:t>
                      </a:r>
                    </a:p>
                  </a:txBody>
                  <a:tcPr marL="52426" marR="52426" marT="26213" marB="26213" anchor="ctr"/>
                </a:tc>
                <a:tc>
                  <a:txBody>
                    <a:bodyPr/>
                    <a:lstStyle/>
                    <a:p>
                      <a:pPr>
                        <a:buNone/>
                      </a:pPr>
                      <a:r>
                        <a:rPr lang="en-US" sz="1800"/>
                        <a:t>Can run multiple LLM calls or tool calls in parallel</a:t>
                      </a:r>
                    </a:p>
                  </a:txBody>
                  <a:tcPr marL="52426" marR="52426" marT="26213" marB="26213" anchor="ctr"/>
                </a:tc>
                <a:extLst>
                  <a:ext uri="{0D108BD9-81ED-4DB2-BD59-A6C34878D82A}">
                    <a16:rowId xmlns:a16="http://schemas.microsoft.com/office/drawing/2014/main" val="2464696240"/>
                  </a:ext>
                </a:extLst>
              </a:tr>
              <a:tr h="270756">
                <a:tc>
                  <a:txBody>
                    <a:bodyPr/>
                    <a:lstStyle/>
                    <a:p>
                      <a:pPr>
                        <a:buNone/>
                      </a:pPr>
                      <a:r>
                        <a:rPr lang="en-GB" sz="1800" b="1"/>
                        <a:t>Performance</a:t>
                      </a:r>
                      <a:endParaRPr lang="en-GB" sz="1800"/>
                    </a:p>
                  </a:txBody>
                  <a:tcPr marL="52426" marR="52426" marT="26213" marB="26213" anchor="ctr"/>
                </a:tc>
                <a:tc>
                  <a:txBody>
                    <a:bodyPr/>
                    <a:lstStyle/>
                    <a:p>
                      <a:pPr>
                        <a:buNone/>
                      </a:pPr>
                      <a:r>
                        <a:rPr lang="en-US" sz="1800"/>
                        <a:t>Slower if many requests, since they run sequentially</a:t>
                      </a:r>
                    </a:p>
                  </a:txBody>
                  <a:tcPr marL="52426" marR="52426" marT="26213" marB="26213" anchor="ctr"/>
                </a:tc>
                <a:tc>
                  <a:txBody>
                    <a:bodyPr/>
                    <a:lstStyle/>
                    <a:p>
                      <a:pPr>
                        <a:buNone/>
                      </a:pPr>
                      <a:r>
                        <a:rPr lang="en-US" sz="1800"/>
                        <a:t>Faster throughput when managing many tasks</a:t>
                      </a:r>
                    </a:p>
                  </a:txBody>
                  <a:tcPr marL="52426" marR="52426" marT="26213" marB="26213" anchor="ctr"/>
                </a:tc>
                <a:extLst>
                  <a:ext uri="{0D108BD9-81ED-4DB2-BD59-A6C34878D82A}">
                    <a16:rowId xmlns:a16="http://schemas.microsoft.com/office/drawing/2014/main" val="1043531246"/>
                  </a:ext>
                </a:extLst>
              </a:tr>
              <a:tr h="386795">
                <a:tc>
                  <a:txBody>
                    <a:bodyPr/>
                    <a:lstStyle/>
                    <a:p>
                      <a:pPr>
                        <a:buNone/>
                      </a:pPr>
                      <a:r>
                        <a:rPr lang="en-GB" sz="1800" b="1"/>
                        <a:t>Error handling</a:t>
                      </a:r>
                      <a:endParaRPr lang="en-GB" sz="1800"/>
                    </a:p>
                  </a:txBody>
                  <a:tcPr marL="52426" marR="52426" marT="26213" marB="26213" anchor="ctr"/>
                </a:tc>
                <a:tc>
                  <a:txBody>
                    <a:bodyPr/>
                    <a:lstStyle/>
                    <a:p>
                      <a:pPr>
                        <a:buNone/>
                      </a:pPr>
                      <a:r>
                        <a:rPr lang="en-GB" sz="1800"/>
                        <a:t>Traditional try/except</a:t>
                      </a:r>
                    </a:p>
                  </a:txBody>
                  <a:tcPr marL="52426" marR="52426" marT="26213" marB="26213" anchor="ctr"/>
                </a:tc>
                <a:tc>
                  <a:txBody>
                    <a:bodyPr/>
                    <a:lstStyle/>
                    <a:p>
                      <a:pPr>
                        <a:buNone/>
                      </a:pPr>
                      <a:r>
                        <a:rPr lang="en-US" sz="1800" dirty="0"/>
                        <a:t>Async exception handling (</a:t>
                      </a:r>
                      <a:r>
                        <a:rPr lang="en-US" sz="1800" dirty="0" err="1"/>
                        <a:t>asyncio.gather</a:t>
                      </a:r>
                      <a:r>
                        <a:rPr lang="en-US" sz="1800" dirty="0"/>
                        <a:t>, cancellation, timeouts)</a:t>
                      </a:r>
                    </a:p>
                  </a:txBody>
                  <a:tcPr marL="52426" marR="52426" marT="26213" marB="26213" anchor="ctr"/>
                </a:tc>
                <a:extLst>
                  <a:ext uri="{0D108BD9-81ED-4DB2-BD59-A6C34878D82A}">
                    <a16:rowId xmlns:a16="http://schemas.microsoft.com/office/drawing/2014/main" val="437436130"/>
                  </a:ext>
                </a:extLst>
              </a:tr>
            </a:tbl>
          </a:graphicData>
        </a:graphic>
      </p:graphicFrame>
    </p:spTree>
    <p:extLst>
      <p:ext uri="{BB962C8B-B14F-4D97-AF65-F5344CB8AC3E}">
        <p14:creationId xmlns:p14="http://schemas.microsoft.com/office/powerpoint/2010/main" val="3427023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ADF21-85EA-70A8-D331-38C0B9647656}"/>
              </a:ext>
            </a:extLst>
          </p:cNvPr>
          <p:cNvSpPr>
            <a:spLocks noGrp="1"/>
          </p:cNvSpPr>
          <p:nvPr>
            <p:ph type="title"/>
          </p:nvPr>
        </p:nvSpPr>
        <p:spPr/>
        <p:txBody>
          <a:bodyPr/>
          <a:lstStyle/>
          <a:p>
            <a:r>
              <a:rPr lang="en-IN" dirty="0"/>
              <a:t>Sync versus Async: Sample Code</a:t>
            </a:r>
            <a:endParaRPr lang="en-GB" dirty="0"/>
          </a:p>
        </p:txBody>
      </p:sp>
      <p:graphicFrame>
        <p:nvGraphicFramePr>
          <p:cNvPr id="4" name="Content Placeholder 3">
            <a:extLst>
              <a:ext uri="{FF2B5EF4-FFF2-40B4-BE49-F238E27FC236}">
                <a16:creationId xmlns:a16="http://schemas.microsoft.com/office/drawing/2014/main" id="{B8B4B982-1536-A196-5614-1CC8B2B03B12}"/>
              </a:ext>
            </a:extLst>
          </p:cNvPr>
          <p:cNvGraphicFramePr>
            <a:graphicFrameLocks noGrp="1"/>
          </p:cNvGraphicFramePr>
          <p:nvPr>
            <p:ph idx="1"/>
          </p:nvPr>
        </p:nvGraphicFramePr>
        <p:xfrm>
          <a:off x="782359" y="1392855"/>
          <a:ext cx="10515600" cy="4851400"/>
        </p:xfrm>
        <a:graphic>
          <a:graphicData uri="http://schemas.openxmlformats.org/drawingml/2006/table">
            <a:tbl>
              <a:tblPr firstRow="1" bandRow="1">
                <a:tableStyleId>{72833802-FEF1-4C79-8D5D-14CF1EAF98D9}</a:tableStyleId>
              </a:tblPr>
              <a:tblGrid>
                <a:gridCol w="5257800">
                  <a:extLst>
                    <a:ext uri="{9D8B030D-6E8A-4147-A177-3AD203B41FA5}">
                      <a16:colId xmlns:a16="http://schemas.microsoft.com/office/drawing/2014/main" val="432002974"/>
                    </a:ext>
                  </a:extLst>
                </a:gridCol>
                <a:gridCol w="5257800">
                  <a:extLst>
                    <a:ext uri="{9D8B030D-6E8A-4147-A177-3AD203B41FA5}">
                      <a16:colId xmlns:a16="http://schemas.microsoft.com/office/drawing/2014/main" val="595148707"/>
                    </a:ext>
                  </a:extLst>
                </a:gridCol>
              </a:tblGrid>
              <a:tr h="370840">
                <a:tc>
                  <a:txBody>
                    <a:bodyPr/>
                    <a:lstStyle/>
                    <a:p>
                      <a:r>
                        <a:rPr lang="en-IN" dirty="0"/>
                        <a:t>Sync Approach</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Async Approach</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5975392"/>
                  </a:ext>
                </a:extLst>
              </a:tr>
              <a:tr h="370840">
                <a:tc>
                  <a:txBody>
                    <a:bodyPr/>
                    <a:lstStyle/>
                    <a:p>
                      <a:r>
                        <a:rPr lang="en-GB" dirty="0"/>
                        <a:t>from agents import Agent, Runner</a:t>
                      </a:r>
                    </a:p>
                    <a:p>
                      <a:endParaRPr lang="en-GB" dirty="0"/>
                    </a:p>
                    <a:p>
                      <a:endParaRPr lang="en-GB" dirty="0"/>
                    </a:p>
                    <a:p>
                      <a:r>
                        <a:rPr lang="en-GB" dirty="0"/>
                        <a:t>agent = Agent(name="Assistant", </a:t>
                      </a:r>
                    </a:p>
                    <a:p>
                      <a:r>
                        <a:rPr lang="en-GB" dirty="0"/>
                        <a:t>                          instructions="</a:t>
                      </a:r>
                      <a:r>
                        <a:rPr lang="en-US" sz="1800" b="0" kern="1200" dirty="0">
                          <a:solidFill>
                            <a:schemeClr val="tx1"/>
                          </a:solidFill>
                          <a:effectLst/>
                          <a:latin typeface="+mn-lt"/>
                          <a:ea typeface="+mn-ea"/>
                          <a:cs typeface="+mn-cs"/>
                        </a:rPr>
                        <a:t>You are a helpful customer support analyst.</a:t>
                      </a:r>
                      <a:r>
                        <a:rPr lang="en-GB" dirty="0"/>
                        <a:t>")</a:t>
                      </a:r>
                    </a:p>
                    <a:p>
                      <a:endParaRPr lang="en-GB" dirty="0"/>
                    </a:p>
                    <a:p>
                      <a:r>
                        <a:rPr lang="en-GB" dirty="0"/>
                        <a:t>result = </a:t>
                      </a:r>
                      <a:r>
                        <a:rPr lang="en-GB" dirty="0" err="1">
                          <a:solidFill>
                            <a:srgbClr val="FF0000"/>
                          </a:solidFill>
                        </a:rPr>
                        <a:t>Runner.run_sync</a:t>
                      </a:r>
                      <a:r>
                        <a:rPr lang="en-GB" dirty="0"/>
                        <a:t>(agent,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a:t>
                      </a:r>
                      <a:r>
                        <a:rPr lang="en-US" sz="1800" b="0" kern="1200" dirty="0">
                          <a:solidFill>
                            <a:schemeClr val="tx1"/>
                          </a:solidFill>
                          <a:effectLst/>
                          <a:latin typeface="+mn-lt"/>
                          <a:ea typeface="+mn-ea"/>
                          <a:cs typeface="+mn-cs"/>
                        </a:rPr>
                        <a:t>Analyze this customer feedback and suggest improvements to the product: 'The packaging is great, but the delivery was delayed by two days.'"</a:t>
                      </a:r>
                    </a:p>
                    <a:p>
                      <a:r>
                        <a:rPr lang="en-GB" dirty="0"/>
                        <a:t>")</a:t>
                      </a:r>
                    </a:p>
                    <a:p>
                      <a:endParaRPr lang="en-GB" dirty="0"/>
                    </a:p>
                    <a:p>
                      <a:endParaRPr lang="en-GB" dirty="0"/>
                    </a:p>
                    <a:p>
                      <a:r>
                        <a:rPr lang="en-GB" dirty="0"/>
                        <a:t>print(</a:t>
                      </a:r>
                      <a:r>
                        <a:rPr lang="en-GB" dirty="0" err="1"/>
                        <a:t>result.final_output</a:t>
                      </a:r>
                      <a:r>
                        <a:rPr lang="en-GB"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dirty="0"/>
                        <a:t>import </a:t>
                      </a:r>
                      <a:r>
                        <a:rPr lang="en-GB" dirty="0" err="1"/>
                        <a:t>asyncio</a:t>
                      </a:r>
                      <a:endParaRPr lang="en-GB" dirty="0"/>
                    </a:p>
                    <a:p>
                      <a:r>
                        <a:rPr lang="en-GB" dirty="0"/>
                        <a:t>from agents import Agent, Runner</a:t>
                      </a:r>
                    </a:p>
                    <a:p>
                      <a:endParaRPr lang="en-GB" dirty="0"/>
                    </a:p>
                    <a:p>
                      <a:r>
                        <a:rPr lang="en-GB" dirty="0"/>
                        <a:t>agent = Agent(name="Assistant",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instructions="</a:t>
                      </a:r>
                      <a:r>
                        <a:rPr lang="en-US" sz="1800" b="0" kern="1200" dirty="0">
                          <a:solidFill>
                            <a:schemeClr val="tx1"/>
                          </a:solidFill>
                          <a:effectLst/>
                          <a:latin typeface="+mn-lt"/>
                          <a:ea typeface="+mn-ea"/>
                          <a:cs typeface="+mn-cs"/>
                        </a:rPr>
                        <a:t>You are a helpful customer support analyst.</a:t>
                      </a:r>
                      <a:r>
                        <a:rPr lang="en-GB" dirty="0"/>
                        <a:t>")</a:t>
                      </a:r>
                    </a:p>
                    <a:p>
                      <a:endParaRPr lang="en-GB" dirty="0"/>
                    </a:p>
                    <a:p>
                      <a:r>
                        <a:rPr lang="en-GB" dirty="0">
                          <a:solidFill>
                            <a:srgbClr val="FF0000"/>
                          </a:solidFill>
                        </a:rPr>
                        <a:t>async </a:t>
                      </a:r>
                      <a:r>
                        <a:rPr lang="en-GB" dirty="0"/>
                        <a:t>def main():</a:t>
                      </a:r>
                    </a:p>
                    <a:p>
                      <a:r>
                        <a:rPr lang="en-GB" dirty="0"/>
                        <a:t>    result = </a:t>
                      </a:r>
                      <a:r>
                        <a:rPr lang="en-GB" dirty="0">
                          <a:solidFill>
                            <a:srgbClr val="FF0000"/>
                          </a:solidFill>
                        </a:rPr>
                        <a:t>await </a:t>
                      </a:r>
                      <a:r>
                        <a:rPr lang="en-GB" dirty="0" err="1">
                          <a:solidFill>
                            <a:srgbClr val="FF0000"/>
                          </a:solidFill>
                        </a:rPr>
                        <a:t>Runner.run</a:t>
                      </a:r>
                      <a:r>
                        <a:rPr lang="en-GB" dirty="0"/>
                        <a:t>(agent,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a:t>
                      </a:r>
                      <a:r>
                        <a:rPr lang="en-US" sz="1800" b="0" kern="1200" dirty="0">
                          <a:solidFill>
                            <a:schemeClr val="tx1"/>
                          </a:solidFill>
                          <a:effectLst/>
                          <a:latin typeface="+mn-lt"/>
                          <a:ea typeface="+mn-ea"/>
                          <a:cs typeface="+mn-cs"/>
                        </a:rPr>
                        <a:t>Analyze this customer feedback and suggest improvements to the product: 'The packaging is great, but the delivery was delayed by two days.'"</a:t>
                      </a:r>
                    </a:p>
                    <a:p>
                      <a:r>
                        <a:rPr lang="en-GB" dirty="0"/>
                        <a:t>)</a:t>
                      </a:r>
                    </a:p>
                    <a:p>
                      <a:r>
                        <a:rPr lang="en-GB" dirty="0"/>
                        <a:t>    print(</a:t>
                      </a:r>
                      <a:r>
                        <a:rPr lang="en-GB" dirty="0" err="1"/>
                        <a:t>result.final_output</a:t>
                      </a:r>
                      <a:r>
                        <a:rPr lang="en-GB" dirty="0"/>
                        <a:t>)</a:t>
                      </a:r>
                    </a:p>
                    <a:p>
                      <a:endParaRPr lang="en-GB" dirty="0"/>
                    </a:p>
                    <a:p>
                      <a:r>
                        <a:rPr lang="en-GB" dirty="0" err="1">
                          <a:solidFill>
                            <a:srgbClr val="FF0000"/>
                          </a:solidFill>
                        </a:rPr>
                        <a:t>asyncio.run</a:t>
                      </a:r>
                      <a:r>
                        <a:rPr lang="en-GB" dirty="0"/>
                        <a:t>(main())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2028337"/>
                  </a:ext>
                </a:extLst>
              </a:tr>
            </a:tbl>
          </a:graphicData>
        </a:graphic>
      </p:graphicFrame>
    </p:spTree>
    <p:extLst>
      <p:ext uri="{BB962C8B-B14F-4D97-AF65-F5344CB8AC3E}">
        <p14:creationId xmlns:p14="http://schemas.microsoft.com/office/powerpoint/2010/main" val="444309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4278B-1E8B-F2C2-9CAE-EC0C73D9EDE6}"/>
              </a:ext>
            </a:extLst>
          </p:cNvPr>
          <p:cNvSpPr>
            <a:spLocks noGrp="1"/>
          </p:cNvSpPr>
          <p:nvPr>
            <p:ph type="title"/>
          </p:nvPr>
        </p:nvSpPr>
        <p:spPr/>
        <p:txBody>
          <a:bodyPr/>
          <a:lstStyle/>
          <a:p>
            <a:r>
              <a:rPr lang="en-IN" dirty="0"/>
              <a:t>First Agent SDK Example (Sync Approach)</a:t>
            </a:r>
          </a:p>
        </p:txBody>
      </p:sp>
      <p:sp>
        <p:nvSpPr>
          <p:cNvPr id="3" name="Content Placeholder 2">
            <a:extLst>
              <a:ext uri="{FF2B5EF4-FFF2-40B4-BE49-F238E27FC236}">
                <a16:creationId xmlns:a16="http://schemas.microsoft.com/office/drawing/2014/main" id="{C0E8A2D0-C299-4CE6-136E-7063EDBFDD88}"/>
              </a:ext>
            </a:extLst>
          </p:cNvPr>
          <p:cNvSpPr>
            <a:spLocks noGrp="1"/>
          </p:cNvSpPr>
          <p:nvPr>
            <p:ph idx="1"/>
          </p:nvPr>
        </p:nvSpPr>
        <p:spPr/>
        <p:txBody>
          <a:bodyPr>
            <a:normAutofit/>
          </a:bodyPr>
          <a:lstStyle/>
          <a:p>
            <a:r>
              <a:rPr lang="en-US" dirty="0">
                <a:solidFill>
                  <a:srgbClr val="FF0000"/>
                </a:solidFill>
              </a:rPr>
              <a:t>agent = Agent(name="Assistant", instructions="You are a helpful assistant")</a:t>
            </a:r>
          </a:p>
          <a:p>
            <a:pPr lvl="1"/>
            <a:r>
              <a:rPr lang="en-US" dirty="0"/>
              <a:t>Create an Agent object, giving it a name and system prompt (to tell it what role to perform)</a:t>
            </a:r>
          </a:p>
          <a:p>
            <a:r>
              <a:rPr lang="en-US" dirty="0">
                <a:solidFill>
                  <a:srgbClr val="FF0000"/>
                </a:solidFill>
              </a:rPr>
              <a:t>result = </a:t>
            </a:r>
            <a:r>
              <a:rPr lang="en-US" dirty="0" err="1">
                <a:solidFill>
                  <a:srgbClr val="FF0000"/>
                </a:solidFill>
              </a:rPr>
              <a:t>Runner.run_sync</a:t>
            </a:r>
            <a:r>
              <a:rPr lang="en-US" dirty="0">
                <a:solidFill>
                  <a:srgbClr val="FF0000"/>
                </a:solidFill>
              </a:rPr>
              <a:t>(agent, "Write a joke about vibe coding.")</a:t>
            </a:r>
          </a:p>
          <a:p>
            <a:pPr lvl="1"/>
            <a:r>
              <a:rPr lang="en-US" dirty="0"/>
              <a:t>Runner executes a task for the agent</a:t>
            </a:r>
          </a:p>
          <a:p>
            <a:pPr lvl="1"/>
            <a:r>
              <a:rPr lang="en-US" dirty="0"/>
              <a:t>Actual task is mentioned in the method call</a:t>
            </a:r>
          </a:p>
          <a:p>
            <a:pPr lvl="1"/>
            <a:r>
              <a:rPr lang="en-US" dirty="0"/>
              <a:t>_sync part indicates that the program will wait for the LLM to finish its work</a:t>
            </a:r>
          </a:p>
          <a:p>
            <a:pPr lvl="1"/>
            <a:r>
              <a:rPr lang="en-US" dirty="0"/>
              <a:t>Output is stored in the result variable</a:t>
            </a:r>
            <a:endParaRPr lang="en-IN" dirty="0"/>
          </a:p>
          <a:p>
            <a:r>
              <a:rPr lang="en-IN" dirty="0"/>
              <a:t>Code: 2_1_openai_agent_basic.py</a:t>
            </a:r>
          </a:p>
        </p:txBody>
      </p:sp>
    </p:spTree>
    <p:extLst>
      <p:ext uri="{BB962C8B-B14F-4D97-AF65-F5344CB8AC3E}">
        <p14:creationId xmlns:p14="http://schemas.microsoft.com/office/powerpoint/2010/main" val="2393752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85A0C-3F7B-9A8E-8C4F-6943C6735051}"/>
              </a:ext>
            </a:extLst>
          </p:cNvPr>
          <p:cNvSpPr>
            <a:spLocks noGrp="1"/>
          </p:cNvSpPr>
          <p:nvPr>
            <p:ph type="title"/>
          </p:nvPr>
        </p:nvSpPr>
        <p:spPr/>
        <p:txBody>
          <a:bodyPr/>
          <a:lstStyle/>
          <a:p>
            <a:r>
              <a:rPr lang="en-IN" dirty="0" err="1"/>
              <a:t>asyncio</a:t>
            </a:r>
            <a:r>
              <a:rPr lang="en-IN" dirty="0"/>
              <a:t> in Python</a:t>
            </a:r>
          </a:p>
        </p:txBody>
      </p:sp>
      <p:sp>
        <p:nvSpPr>
          <p:cNvPr id="3" name="Content Placeholder 2">
            <a:extLst>
              <a:ext uri="{FF2B5EF4-FFF2-40B4-BE49-F238E27FC236}">
                <a16:creationId xmlns:a16="http://schemas.microsoft.com/office/drawing/2014/main" id="{38A79B55-E6CB-4060-5775-D7C133CC04CB}"/>
              </a:ext>
            </a:extLst>
          </p:cNvPr>
          <p:cNvSpPr>
            <a:spLocks noGrp="1"/>
          </p:cNvSpPr>
          <p:nvPr>
            <p:ph idx="1"/>
          </p:nvPr>
        </p:nvSpPr>
        <p:spPr/>
        <p:txBody>
          <a:bodyPr>
            <a:normAutofit/>
          </a:bodyPr>
          <a:lstStyle/>
          <a:p>
            <a:r>
              <a:rPr lang="en-US" dirty="0"/>
              <a:t>Normally, Python runs code synchronously (line by line) - If one line is slow (e.g., waiting for a network request), everything else is stuck</a:t>
            </a:r>
          </a:p>
          <a:p>
            <a:r>
              <a:rPr lang="en-US" dirty="0"/>
              <a:t>But with </a:t>
            </a:r>
            <a:r>
              <a:rPr lang="en-US" dirty="0" err="1"/>
              <a:t>asyncio</a:t>
            </a:r>
            <a:r>
              <a:rPr lang="en-US" dirty="0"/>
              <a:t>, we can do something else while waiting</a:t>
            </a:r>
          </a:p>
          <a:p>
            <a:r>
              <a:rPr lang="en-US" dirty="0"/>
              <a:t>Example analogy:</a:t>
            </a:r>
          </a:p>
          <a:p>
            <a:pPr lvl="1"/>
            <a:r>
              <a:rPr lang="en-US" dirty="0"/>
              <a:t>Normal code (sync): We are cooking noodles. We boil water, stand still until it boils, then add noodles.</a:t>
            </a:r>
          </a:p>
          <a:p>
            <a:pPr lvl="1"/>
            <a:r>
              <a:rPr lang="en-US" dirty="0"/>
              <a:t>Async code: While waiting for the water to boil, we cut vegetables and prepare sauce. Nothing is wasted.</a:t>
            </a:r>
          </a:p>
          <a:p>
            <a:r>
              <a:rPr lang="en-US" dirty="0"/>
              <a:t>Code example: Next slide</a:t>
            </a:r>
            <a:endParaRPr lang="en-IN" dirty="0"/>
          </a:p>
        </p:txBody>
      </p:sp>
    </p:spTree>
    <p:extLst>
      <p:ext uri="{BB962C8B-B14F-4D97-AF65-F5344CB8AC3E}">
        <p14:creationId xmlns:p14="http://schemas.microsoft.com/office/powerpoint/2010/main" val="3086364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49EAE-0294-A462-83C8-D157C0A89A77}"/>
              </a:ext>
            </a:extLst>
          </p:cNvPr>
          <p:cNvSpPr>
            <a:spLocks noGrp="1"/>
          </p:cNvSpPr>
          <p:nvPr>
            <p:ph type="title"/>
          </p:nvPr>
        </p:nvSpPr>
        <p:spPr/>
        <p:txBody>
          <a:bodyPr/>
          <a:lstStyle/>
          <a:p>
            <a:r>
              <a:rPr lang="en-IN" dirty="0" err="1"/>
              <a:t>asyncio</a:t>
            </a:r>
            <a:r>
              <a:rPr lang="en-IN" dirty="0"/>
              <a:t> Code Example</a:t>
            </a:r>
          </a:p>
        </p:txBody>
      </p:sp>
      <p:sp>
        <p:nvSpPr>
          <p:cNvPr id="3" name="Content Placeholder 2">
            <a:extLst>
              <a:ext uri="{FF2B5EF4-FFF2-40B4-BE49-F238E27FC236}">
                <a16:creationId xmlns:a16="http://schemas.microsoft.com/office/drawing/2014/main" id="{25F5E676-170D-1715-4CE6-6FEA3661A2E3}"/>
              </a:ext>
            </a:extLst>
          </p:cNvPr>
          <p:cNvSpPr>
            <a:spLocks noGrp="1"/>
          </p:cNvSpPr>
          <p:nvPr>
            <p:ph idx="1"/>
          </p:nvPr>
        </p:nvSpPr>
        <p:spPr/>
        <p:txBody>
          <a:bodyPr>
            <a:normAutofit fontScale="92500" lnSpcReduction="20000"/>
          </a:bodyPr>
          <a:lstStyle/>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import </a:t>
            </a:r>
            <a:r>
              <a:rPr lang="en-IN" sz="1400" dirty="0" err="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asyncio</a:t>
            </a:r>
            <a:endPar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endParaRPr>
          </a:p>
          <a:p>
            <a:endPar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endParaRPr>
          </a:p>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async def task(name, delay):</a:t>
            </a:r>
          </a:p>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print(</a:t>
            </a:r>
            <a:r>
              <a:rPr lang="en-IN" sz="1400" dirty="0" err="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f"Task</a:t>
            </a:r>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{name} started")</a:t>
            </a:r>
          </a:p>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await </a:t>
            </a:r>
            <a:r>
              <a:rPr lang="en-IN" sz="1400" dirty="0" err="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asyncio.sleep</a:t>
            </a:r>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(delay)   # simulate waiting</a:t>
            </a:r>
          </a:p>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print(</a:t>
            </a:r>
            <a:r>
              <a:rPr lang="en-IN" sz="1400" dirty="0" err="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f"Task</a:t>
            </a:r>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{name} finished after {delay} seconds")</a:t>
            </a:r>
          </a:p>
          <a:p>
            <a:endPar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endParaRPr>
          </a:p>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async def main():</a:t>
            </a:r>
          </a:p>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 Run tasks concurrently</a:t>
            </a:r>
          </a:p>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await </a:t>
            </a:r>
            <a:r>
              <a:rPr lang="en-IN" sz="1400" dirty="0" err="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asyncio.gather</a:t>
            </a:r>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a:t>
            </a:r>
          </a:p>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task("A", 2),</a:t>
            </a:r>
          </a:p>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task("B", 1),</a:t>
            </a:r>
          </a:p>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task("C", 3),</a:t>
            </a:r>
          </a:p>
          <a:p>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a:t>
            </a:r>
          </a:p>
          <a:p>
            <a:endPar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endParaRPr>
          </a:p>
          <a:p>
            <a:r>
              <a:rPr lang="en-IN" sz="1400" dirty="0" err="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asyncio.run</a:t>
            </a:r>
            <a:r>
              <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(main())</a:t>
            </a:r>
          </a:p>
          <a:p>
            <a:endParaRPr lang="en-IN"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4" name="TextBox 3">
            <a:extLst>
              <a:ext uri="{FF2B5EF4-FFF2-40B4-BE49-F238E27FC236}">
                <a16:creationId xmlns:a16="http://schemas.microsoft.com/office/drawing/2014/main" id="{9AEC194F-8C06-1B4E-AD01-4D5C36318D7A}"/>
              </a:ext>
            </a:extLst>
          </p:cNvPr>
          <p:cNvSpPr txBox="1"/>
          <p:nvPr/>
        </p:nvSpPr>
        <p:spPr>
          <a:xfrm>
            <a:off x="5534346" y="3533878"/>
            <a:ext cx="6044629" cy="3170099"/>
          </a:xfrm>
          <a:prstGeom prst="rect">
            <a:avLst/>
          </a:prstGeom>
          <a:solidFill>
            <a:schemeClr val="accent4">
              <a:lumMod val="20000"/>
              <a:lumOff val="80000"/>
            </a:schemeClr>
          </a:solidFill>
        </p:spPr>
        <p:txBody>
          <a:bodyPr wrap="square" rtlCol="0">
            <a:spAutoFit/>
          </a:bodyPr>
          <a:lstStyle/>
          <a:p>
            <a:r>
              <a:rPr lang="en-IN" sz="2000" b="1" dirty="0"/>
              <a:t>How to write</a:t>
            </a:r>
          </a:p>
          <a:p>
            <a:endParaRPr lang="en-IN" sz="2000" dirty="0"/>
          </a:p>
          <a:p>
            <a:pPr marL="342900" indent="-342900">
              <a:buAutoNum type="arabicParenBoth"/>
            </a:pPr>
            <a:r>
              <a:rPr lang="en-IN" sz="2000" b="1" dirty="0"/>
              <a:t>Coroutine</a:t>
            </a:r>
            <a:r>
              <a:rPr lang="en-IN" sz="2000" dirty="0"/>
              <a:t>: A special function defined with </a:t>
            </a:r>
            <a:r>
              <a:rPr lang="en-IN" sz="2000" b="1" dirty="0"/>
              <a:t>async def</a:t>
            </a:r>
            <a:r>
              <a:rPr lang="en-IN" sz="2000" dirty="0"/>
              <a:t>, which can be paused (</a:t>
            </a:r>
            <a:r>
              <a:rPr lang="en-IN" sz="2000" b="1" dirty="0"/>
              <a:t>await</a:t>
            </a:r>
            <a:r>
              <a:rPr lang="en-IN" sz="2000" dirty="0"/>
              <a:t>) and resumed later</a:t>
            </a:r>
          </a:p>
          <a:p>
            <a:pPr marL="342900" indent="-342900">
              <a:buAutoNum type="arabicParenBoth"/>
            </a:pPr>
            <a:r>
              <a:rPr lang="en-IN" sz="2000" b="1" dirty="0"/>
              <a:t>Event loop</a:t>
            </a:r>
            <a:r>
              <a:rPr lang="en-IN" sz="2000" dirty="0"/>
              <a:t>: The core of </a:t>
            </a:r>
            <a:r>
              <a:rPr lang="en-IN" sz="2000" b="1" dirty="0" err="1"/>
              <a:t>asyncio</a:t>
            </a:r>
            <a:r>
              <a:rPr lang="en-IN" sz="2000" dirty="0"/>
              <a:t>, which manages all coroutines and usually starts with </a:t>
            </a:r>
            <a:r>
              <a:rPr lang="en-IN" sz="2000" b="1" dirty="0" err="1"/>
              <a:t>asyncio.run</a:t>
            </a:r>
            <a:r>
              <a:rPr lang="en-IN" sz="2000" dirty="0"/>
              <a:t>(function())</a:t>
            </a:r>
          </a:p>
          <a:p>
            <a:pPr marL="342900" indent="-342900">
              <a:buAutoNum type="arabicParenBoth"/>
            </a:pPr>
            <a:r>
              <a:rPr lang="en-IN" sz="2000" b="1" dirty="0"/>
              <a:t>await</a:t>
            </a:r>
            <a:r>
              <a:rPr lang="en-IN" sz="2000" dirty="0"/>
              <a:t>: Used inside </a:t>
            </a:r>
            <a:r>
              <a:rPr lang="en-IN" sz="2000" b="1" dirty="0" err="1"/>
              <a:t>asyncio</a:t>
            </a:r>
            <a:r>
              <a:rPr lang="en-IN" sz="2000" b="1" dirty="0"/>
              <a:t> def </a:t>
            </a:r>
            <a:r>
              <a:rPr lang="en-IN" sz="2000" dirty="0"/>
              <a:t>functions to </a:t>
            </a:r>
            <a:r>
              <a:rPr lang="en-IN" sz="2000" i="1" dirty="0"/>
              <a:t>wait </a:t>
            </a:r>
            <a:r>
              <a:rPr lang="en-IN" sz="2000" dirty="0"/>
              <a:t>for another coroutine … While waiting, Python can run other tasks</a:t>
            </a:r>
          </a:p>
        </p:txBody>
      </p:sp>
    </p:spTree>
    <p:extLst>
      <p:ext uri="{BB962C8B-B14F-4D97-AF65-F5344CB8AC3E}">
        <p14:creationId xmlns:p14="http://schemas.microsoft.com/office/powerpoint/2010/main" val="1359900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968CE-0C44-2BD5-EE14-5AD67AE82AEB}"/>
              </a:ext>
            </a:extLst>
          </p:cNvPr>
          <p:cNvSpPr>
            <a:spLocks noGrp="1"/>
          </p:cNvSpPr>
          <p:nvPr>
            <p:ph type="title"/>
          </p:nvPr>
        </p:nvSpPr>
        <p:spPr/>
        <p:txBody>
          <a:bodyPr/>
          <a:lstStyle/>
          <a:p>
            <a:r>
              <a:rPr lang="en-IN" dirty="0"/>
              <a:t>Sync Versus Async Processing in Agents</a:t>
            </a:r>
            <a:endParaRPr lang="en-GB" dirty="0"/>
          </a:p>
        </p:txBody>
      </p:sp>
      <p:sp>
        <p:nvSpPr>
          <p:cNvPr id="3" name="Content Placeholder 2">
            <a:extLst>
              <a:ext uri="{FF2B5EF4-FFF2-40B4-BE49-F238E27FC236}">
                <a16:creationId xmlns:a16="http://schemas.microsoft.com/office/drawing/2014/main" id="{C2648A89-7D07-B19F-DD61-15371D5D8A9F}"/>
              </a:ext>
            </a:extLst>
          </p:cNvPr>
          <p:cNvSpPr>
            <a:spLocks noGrp="1"/>
          </p:cNvSpPr>
          <p:nvPr>
            <p:ph idx="1"/>
          </p:nvPr>
        </p:nvSpPr>
        <p:spPr/>
        <p:txBody>
          <a:bodyPr/>
          <a:lstStyle/>
          <a:p>
            <a:r>
              <a:rPr lang="en-IN" dirty="0"/>
              <a:t>Run two agents one after the other, i.e. in sync mode, wait for their work to complete, and then output the final combined result</a:t>
            </a:r>
          </a:p>
          <a:p>
            <a:pPr lvl="1"/>
            <a:r>
              <a:rPr lang="en-GB" dirty="0"/>
              <a:t>2_8_openai_agent_sync.py</a:t>
            </a:r>
          </a:p>
          <a:p>
            <a:r>
              <a:rPr lang="en-IN" dirty="0"/>
              <a:t>Run the same two agents at the same time, i.e. in async mode, wait for their work to complete, and then output the final combined result</a:t>
            </a:r>
          </a:p>
          <a:p>
            <a:pPr lvl="1"/>
            <a:r>
              <a:rPr lang="en-GB" dirty="0"/>
              <a:t>2_9_openai_agent_async.py</a:t>
            </a:r>
            <a:endParaRPr lang="en-IN" dirty="0"/>
          </a:p>
          <a:p>
            <a:endParaRPr lang="en-GB" dirty="0"/>
          </a:p>
          <a:p>
            <a:endParaRPr lang="en-GB" dirty="0"/>
          </a:p>
        </p:txBody>
      </p:sp>
    </p:spTree>
    <p:extLst>
      <p:ext uri="{BB962C8B-B14F-4D97-AF65-F5344CB8AC3E}">
        <p14:creationId xmlns:p14="http://schemas.microsoft.com/office/powerpoint/2010/main" val="2472677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ED268-C290-25F4-35B3-6744992EF8A4}"/>
              </a:ext>
            </a:extLst>
          </p:cNvPr>
          <p:cNvSpPr>
            <a:spLocks noGrp="1"/>
          </p:cNvSpPr>
          <p:nvPr>
            <p:ph type="title"/>
          </p:nvPr>
        </p:nvSpPr>
        <p:spPr>
          <a:xfrm>
            <a:off x="838200" y="55841"/>
            <a:ext cx="10515600" cy="767817"/>
          </a:xfrm>
        </p:spPr>
        <p:txBody>
          <a:bodyPr>
            <a:normAutofit/>
          </a:bodyPr>
          <a:lstStyle/>
          <a:p>
            <a:endParaRPr lang="en-GB" dirty="0"/>
          </a:p>
        </p:txBody>
      </p:sp>
      <p:sp>
        <p:nvSpPr>
          <p:cNvPr id="3" name="Content Placeholder 2">
            <a:extLst>
              <a:ext uri="{FF2B5EF4-FFF2-40B4-BE49-F238E27FC236}">
                <a16:creationId xmlns:a16="http://schemas.microsoft.com/office/drawing/2014/main" id="{A22FC80E-2FF2-F1B8-AA52-30C22D0BEFF8}"/>
              </a:ext>
            </a:extLst>
          </p:cNvPr>
          <p:cNvSpPr>
            <a:spLocks noGrp="1"/>
          </p:cNvSpPr>
          <p:nvPr>
            <p:ph idx="1"/>
          </p:nvPr>
        </p:nvSpPr>
        <p:spPr/>
        <p:txBody>
          <a:bodyPr/>
          <a:lstStyle/>
          <a:p>
            <a:endParaRPr lang="en-GB" dirty="0"/>
          </a:p>
        </p:txBody>
      </p:sp>
      <p:graphicFrame>
        <p:nvGraphicFramePr>
          <p:cNvPr id="4" name="Table 3">
            <a:extLst>
              <a:ext uri="{FF2B5EF4-FFF2-40B4-BE49-F238E27FC236}">
                <a16:creationId xmlns:a16="http://schemas.microsoft.com/office/drawing/2014/main" id="{D3870A3E-DC7B-225C-62CA-C38046A6DC85}"/>
              </a:ext>
            </a:extLst>
          </p:cNvPr>
          <p:cNvGraphicFramePr>
            <a:graphicFrameLocks noGrp="1"/>
          </p:cNvGraphicFramePr>
          <p:nvPr/>
        </p:nvGraphicFramePr>
        <p:xfrm>
          <a:off x="342028" y="251286"/>
          <a:ext cx="11698736" cy="5857240"/>
        </p:xfrm>
        <a:graphic>
          <a:graphicData uri="http://schemas.openxmlformats.org/drawingml/2006/table">
            <a:tbl>
              <a:tblPr firstRow="1" bandRow="1">
                <a:tableStyleId>{21E4AEA4-8DFA-4A89-87EB-49C32662AFE0}</a:tableStyleId>
              </a:tblPr>
              <a:tblGrid>
                <a:gridCol w="383908">
                  <a:extLst>
                    <a:ext uri="{9D8B030D-6E8A-4147-A177-3AD203B41FA5}">
                      <a16:colId xmlns:a16="http://schemas.microsoft.com/office/drawing/2014/main" val="4114190081"/>
                    </a:ext>
                  </a:extLst>
                </a:gridCol>
                <a:gridCol w="2408153">
                  <a:extLst>
                    <a:ext uri="{9D8B030D-6E8A-4147-A177-3AD203B41FA5}">
                      <a16:colId xmlns:a16="http://schemas.microsoft.com/office/drawing/2014/main" val="448936344"/>
                    </a:ext>
                  </a:extLst>
                </a:gridCol>
                <a:gridCol w="2366272">
                  <a:extLst>
                    <a:ext uri="{9D8B030D-6E8A-4147-A177-3AD203B41FA5}">
                      <a16:colId xmlns:a16="http://schemas.microsoft.com/office/drawing/2014/main" val="968096629"/>
                    </a:ext>
                  </a:extLst>
                </a:gridCol>
                <a:gridCol w="2052165">
                  <a:extLst>
                    <a:ext uri="{9D8B030D-6E8A-4147-A177-3AD203B41FA5}">
                      <a16:colId xmlns:a16="http://schemas.microsoft.com/office/drawing/2014/main" val="2007595872"/>
                    </a:ext>
                  </a:extLst>
                </a:gridCol>
                <a:gridCol w="1849740">
                  <a:extLst>
                    <a:ext uri="{9D8B030D-6E8A-4147-A177-3AD203B41FA5}">
                      <a16:colId xmlns:a16="http://schemas.microsoft.com/office/drawing/2014/main" val="1187256254"/>
                    </a:ext>
                  </a:extLst>
                </a:gridCol>
                <a:gridCol w="2638498">
                  <a:extLst>
                    <a:ext uri="{9D8B030D-6E8A-4147-A177-3AD203B41FA5}">
                      <a16:colId xmlns:a16="http://schemas.microsoft.com/office/drawing/2014/main" val="2615636929"/>
                    </a:ext>
                  </a:extLst>
                </a:gridCol>
              </a:tblGrid>
              <a:tr h="370840">
                <a:tc>
                  <a:txBody>
                    <a:bodyPr/>
                    <a:lstStyle/>
                    <a:p>
                      <a:r>
                        <a:rPr lang="en-IN" sz="1200" dirty="0"/>
                        <a:t>#</a:t>
                      </a:r>
                      <a:endParaRPr lang="en-GB" sz="1200" dirty="0"/>
                    </a:p>
                  </a:txBody>
                  <a:tcPr/>
                </a:tc>
                <a:tc>
                  <a:txBody>
                    <a:bodyPr/>
                    <a:lstStyle/>
                    <a:p>
                      <a:r>
                        <a:rPr lang="en-IN" sz="1200" dirty="0"/>
                        <a:t>Task</a:t>
                      </a:r>
                      <a:endParaRPr lang="en-GB" sz="1200" dirty="0"/>
                    </a:p>
                  </a:txBody>
                  <a:tcPr/>
                </a:tc>
                <a:tc>
                  <a:txBody>
                    <a:bodyPr/>
                    <a:lstStyle/>
                    <a:p>
                      <a:r>
                        <a:rPr lang="en-IN" sz="1200" dirty="0"/>
                        <a:t>Design Pattern</a:t>
                      </a:r>
                      <a:endParaRPr lang="en-GB" sz="1200" dirty="0"/>
                    </a:p>
                  </a:txBody>
                  <a:tcPr/>
                </a:tc>
                <a:tc>
                  <a:txBody>
                    <a:bodyPr/>
                    <a:lstStyle/>
                    <a:p>
                      <a:r>
                        <a:rPr lang="en-IN" sz="1200" dirty="0"/>
                        <a:t>Features</a:t>
                      </a:r>
                      <a:endParaRPr lang="en-GB" sz="1200" dirty="0"/>
                    </a:p>
                  </a:txBody>
                  <a:tcPr/>
                </a:tc>
                <a:tc>
                  <a:txBody>
                    <a:bodyPr/>
                    <a:lstStyle/>
                    <a:p>
                      <a:r>
                        <a:rPr lang="en-IN" sz="1200" dirty="0"/>
                        <a:t>Improvements still to be done</a:t>
                      </a:r>
                      <a:endParaRPr lang="en-GB" sz="1200" dirty="0"/>
                    </a:p>
                  </a:txBody>
                  <a:tcPr/>
                </a:tc>
                <a:tc>
                  <a:txBody>
                    <a:bodyPr/>
                    <a:lstStyle/>
                    <a:p>
                      <a:r>
                        <a:rPr lang="en-IN" sz="1200" dirty="0"/>
                        <a:t>Code</a:t>
                      </a:r>
                      <a:endParaRPr lang="en-GB" sz="1200" dirty="0"/>
                    </a:p>
                  </a:txBody>
                  <a:tcPr/>
                </a:tc>
                <a:extLst>
                  <a:ext uri="{0D108BD9-81ED-4DB2-BD59-A6C34878D82A}">
                    <a16:rowId xmlns:a16="http://schemas.microsoft.com/office/drawing/2014/main" val="1864531198"/>
                  </a:ext>
                </a:extLst>
              </a:tr>
              <a:tr h="370840">
                <a:tc>
                  <a:txBody>
                    <a:bodyPr/>
                    <a:lstStyle/>
                    <a:p>
                      <a:r>
                        <a:rPr lang="en-IN" sz="1200" dirty="0"/>
                        <a:t>1</a:t>
                      </a:r>
                      <a:endParaRPr lang="en-GB" sz="1200" dirty="0"/>
                    </a:p>
                  </a:txBody>
                  <a:tcPr/>
                </a:tc>
                <a:tc>
                  <a:txBody>
                    <a:bodyPr/>
                    <a:lstStyle/>
                    <a:p>
                      <a:r>
                        <a:rPr lang="en-US" sz="1200" dirty="0"/>
                        <a:t>A customer support bot that answers FAQs using a knowledge base and function calling</a:t>
                      </a:r>
                      <a:endParaRPr lang="en-GB" sz="1200" dirty="0"/>
                    </a:p>
                  </a:txBody>
                  <a:tcPr/>
                </a:tc>
                <a:tc>
                  <a:txBody>
                    <a:bodyPr/>
                    <a:lstStyle/>
                    <a:p>
                      <a:r>
                        <a:rPr lang="en-IN" sz="1200" dirty="0"/>
                        <a:t>Information Retrieval Pattern: Pull an answer directly from a predefined source</a:t>
                      </a:r>
                      <a:endParaRPr lang="en-GB" sz="1200" dirty="0"/>
                    </a:p>
                  </a:txBody>
                  <a:tcPr/>
                </a:tc>
                <a:tc>
                  <a:txBody>
                    <a:bodyPr/>
                    <a:lstStyle/>
                    <a:p>
                      <a:r>
                        <a:rPr lang="en-IN" sz="1200" dirty="0"/>
                        <a:t>Function (Tool) calling*</a:t>
                      </a:r>
                    </a:p>
                  </a:txBody>
                  <a:tcPr/>
                </a:tc>
                <a:tc>
                  <a:txBody>
                    <a:bodyPr/>
                    <a:lstStyle/>
                    <a:p>
                      <a:r>
                        <a:rPr lang="en-IN" sz="1200" dirty="0"/>
                        <a:t>Knowledgebase is hardcoded, Customer queries are searched on keywords, UI is not good</a:t>
                      </a:r>
                      <a:endParaRPr lang="en-GB" sz="1200" dirty="0"/>
                    </a:p>
                  </a:txBody>
                  <a:tcPr/>
                </a:tc>
                <a:tc>
                  <a:txBody>
                    <a:bodyPr/>
                    <a:lstStyle/>
                    <a:p>
                      <a:r>
                        <a:rPr lang="en-US" sz="1200" dirty="0"/>
                        <a:t>2_2_openai_agent_tool_hardcoded_knowledge.py</a:t>
                      </a:r>
                      <a:endParaRPr lang="en-GB" sz="1200" dirty="0"/>
                    </a:p>
                  </a:txBody>
                  <a:tcPr/>
                </a:tc>
                <a:extLst>
                  <a:ext uri="{0D108BD9-81ED-4DB2-BD59-A6C34878D82A}">
                    <a16:rowId xmlns:a16="http://schemas.microsoft.com/office/drawing/2014/main" val="1906536113"/>
                  </a:ext>
                </a:extLst>
              </a:tr>
              <a:tr h="370840">
                <a:tc>
                  <a:txBody>
                    <a:bodyPr/>
                    <a:lstStyle/>
                    <a:p>
                      <a:r>
                        <a:rPr lang="en-IN" sz="1200" dirty="0"/>
                        <a:t>2</a:t>
                      </a:r>
                      <a:endParaRPr lang="en-GB" sz="1200" dirty="0"/>
                    </a:p>
                  </a:txBody>
                  <a:tcPr/>
                </a:tc>
                <a:tc>
                  <a:txBody>
                    <a:bodyPr/>
                    <a:lstStyle/>
                    <a:p>
                      <a:r>
                        <a:rPr lang="en-IN" sz="1200" dirty="0"/>
                        <a:t>Do not search the customer query based on keywords, but perform semantic search</a:t>
                      </a:r>
                      <a:endParaRPr lang="en-GB" sz="1200" dirty="0"/>
                    </a:p>
                  </a:txBody>
                  <a:tcPr/>
                </a:tc>
                <a:tc>
                  <a:txBody>
                    <a:bodyPr/>
                    <a:lstStyle/>
                    <a:p>
                      <a:r>
                        <a:rPr lang="en-IN" sz="1200" dirty="0"/>
                        <a:t>Semantic Search Pattern: Understand meaning behind the user’s query, not just keywords</a:t>
                      </a:r>
                      <a:endParaRPr lang="en-GB" sz="1200" dirty="0"/>
                    </a:p>
                  </a:txBody>
                  <a:tcPr/>
                </a:tc>
                <a:tc>
                  <a:txBody>
                    <a:bodyPr/>
                    <a:lstStyle/>
                    <a:p>
                      <a:r>
                        <a:rPr lang="en-IN" sz="1200" dirty="0"/>
                        <a:t>Compute embeddings for knowledge base and compare with embeddings for customer query*</a:t>
                      </a:r>
                      <a:endParaRPr lang="en-GB" sz="1200" dirty="0"/>
                    </a:p>
                  </a:txBody>
                  <a:tcPr/>
                </a:tc>
                <a:tc>
                  <a:txBody>
                    <a:bodyPr/>
                    <a:lstStyle/>
                    <a:p>
                      <a:r>
                        <a:rPr lang="en-IN" sz="1200" dirty="0"/>
                        <a:t>Knowledgebase is hardcoded, UI is not good</a:t>
                      </a:r>
                      <a:endParaRPr lang="en-GB" sz="1200" dirty="0"/>
                    </a:p>
                  </a:txBody>
                  <a:tcPr/>
                </a:tc>
                <a:tc>
                  <a:txBody>
                    <a:bodyPr/>
                    <a:lstStyle/>
                    <a:p>
                      <a:r>
                        <a:rPr lang="en-US" sz="1200" dirty="0"/>
                        <a:t>2_3_openai_agent_hardcoded_semantic.py</a:t>
                      </a:r>
                      <a:endParaRPr lang="en-GB" sz="1200" dirty="0"/>
                    </a:p>
                    <a:p>
                      <a:endParaRPr lang="en-GB" sz="1200" dirty="0"/>
                    </a:p>
                  </a:txBody>
                  <a:tcPr/>
                </a:tc>
                <a:extLst>
                  <a:ext uri="{0D108BD9-81ED-4DB2-BD59-A6C34878D82A}">
                    <a16:rowId xmlns:a16="http://schemas.microsoft.com/office/drawing/2014/main" val="3595953588"/>
                  </a:ext>
                </a:extLst>
              </a:tr>
              <a:tr h="370840">
                <a:tc>
                  <a:txBody>
                    <a:bodyPr/>
                    <a:lstStyle/>
                    <a:p>
                      <a:r>
                        <a:rPr lang="en-IN" sz="1200" dirty="0"/>
                        <a:t>3</a:t>
                      </a:r>
                      <a:endParaRPr lang="en-GB" sz="1200" dirty="0"/>
                    </a:p>
                  </a:txBody>
                  <a:tcPr/>
                </a:tc>
                <a:tc>
                  <a:txBody>
                    <a:bodyPr/>
                    <a:lstStyle/>
                    <a:p>
                      <a:r>
                        <a:rPr lang="en-IN" sz="1200" dirty="0"/>
                        <a:t>Use OpenAI’s Vector store</a:t>
                      </a:r>
                      <a:endParaRPr lang="en-GB" sz="1200" dirty="0"/>
                    </a:p>
                  </a:txBody>
                  <a:tcPr/>
                </a:tc>
                <a:tc>
                  <a:txBody>
                    <a:bodyPr/>
                    <a:lstStyle/>
                    <a:p>
                      <a:r>
                        <a:rPr lang="en-IN" sz="1200" dirty="0"/>
                        <a:t>RAG without we coding for it</a:t>
                      </a:r>
                      <a:endParaRPr lang="en-GB" sz="1200" dirty="0"/>
                    </a:p>
                  </a:txBody>
                  <a:tcPr/>
                </a:tc>
                <a:tc>
                  <a:txBody>
                    <a:bodyPr/>
                    <a:lstStyle/>
                    <a:p>
                      <a:r>
                        <a:rPr lang="en-IN" sz="1200" dirty="0"/>
                        <a:t>OpenAI provides a vector store – Upload our data there and use it</a:t>
                      </a:r>
                      <a:endParaRPr lang="en-GB" sz="1200" dirty="0"/>
                    </a:p>
                  </a:txBody>
                  <a:tcPr/>
                </a:tc>
                <a:tc>
                  <a:txBody>
                    <a:bodyPr/>
                    <a:lstStyle/>
                    <a:p>
                      <a:r>
                        <a:rPr lang="en-IN" sz="1200" dirty="0"/>
                        <a:t>Create our own vector store to reduce </a:t>
                      </a:r>
                      <a:r>
                        <a:rPr lang="en-IN" sz="1200" dirty="0" err="1"/>
                        <a:t>sosts</a:t>
                      </a:r>
                      <a:endParaRPr lang="en-GB"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2_4_openai_agent_openai_vectorstore.py</a:t>
                      </a:r>
                      <a:endParaRPr lang="en-GB" sz="1200" dirty="0"/>
                    </a:p>
                  </a:txBody>
                  <a:tcPr/>
                </a:tc>
                <a:extLst>
                  <a:ext uri="{0D108BD9-81ED-4DB2-BD59-A6C34878D82A}">
                    <a16:rowId xmlns:a16="http://schemas.microsoft.com/office/drawing/2014/main" val="2388651522"/>
                  </a:ext>
                </a:extLst>
              </a:tr>
              <a:tr h="370840">
                <a:tc>
                  <a:txBody>
                    <a:bodyPr/>
                    <a:lstStyle/>
                    <a:p>
                      <a:r>
                        <a:rPr lang="en-IN" sz="1200" dirty="0"/>
                        <a:t>4</a:t>
                      </a:r>
                      <a:endParaRPr lang="en-GB" sz="1200" dirty="0"/>
                    </a:p>
                  </a:txBody>
                  <a:tcPr/>
                </a:tc>
                <a:tc>
                  <a:txBody>
                    <a:bodyPr/>
                    <a:lstStyle/>
                    <a:p>
                      <a:r>
                        <a:rPr lang="en-IN" sz="1200" dirty="0"/>
                        <a:t>Store our FAQs in </a:t>
                      </a:r>
                      <a:r>
                        <a:rPr lang="en-IN" sz="1200" dirty="0" err="1"/>
                        <a:t>Sqllite</a:t>
                      </a:r>
                      <a:r>
                        <a:rPr lang="en-IN" sz="1200" dirty="0"/>
                        <a:t> DB and then vectorize them and use them</a:t>
                      </a:r>
                      <a:endParaRPr lang="en-GB" sz="1200" dirty="0"/>
                    </a:p>
                  </a:txBody>
                  <a:tcPr/>
                </a:tc>
                <a:tc>
                  <a:txBody>
                    <a:bodyPr/>
                    <a:lstStyle/>
                    <a:p>
                      <a:r>
                        <a:rPr lang="en-IN" sz="1200" dirty="0"/>
                        <a:t>RAG – Basic</a:t>
                      </a:r>
                      <a:endParaRPr lang="en-GB" sz="1200" dirty="0"/>
                    </a:p>
                  </a:txBody>
                  <a:tcPr/>
                </a:tc>
                <a:tc>
                  <a:txBody>
                    <a:bodyPr/>
                    <a:lstStyle/>
                    <a:p>
                      <a:r>
                        <a:rPr lang="en-IN" sz="1200" dirty="0"/>
                        <a:t>We create our own vectorized database, but limited in size</a:t>
                      </a:r>
                      <a:endParaRPr lang="en-GB" sz="1200" dirty="0"/>
                    </a:p>
                  </a:txBody>
                  <a:tcPr/>
                </a:tc>
                <a:tc>
                  <a:txBody>
                    <a:bodyPr/>
                    <a:lstStyle/>
                    <a:p>
                      <a:r>
                        <a:rPr lang="en-IN" sz="1200" dirty="0"/>
                        <a:t>Use real data</a:t>
                      </a:r>
                      <a:endParaRPr lang="en-GB"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First run 2_openai_agent_create_faq_db.py and then 2_5_openai_agent_faq_db_vectorized.py</a:t>
                      </a:r>
                      <a:endParaRPr lang="en-GB" sz="1200" dirty="0"/>
                    </a:p>
                  </a:txBody>
                  <a:tcPr/>
                </a:tc>
                <a:extLst>
                  <a:ext uri="{0D108BD9-81ED-4DB2-BD59-A6C34878D82A}">
                    <a16:rowId xmlns:a16="http://schemas.microsoft.com/office/drawing/2014/main" val="3870111086"/>
                  </a:ext>
                </a:extLst>
              </a:tr>
              <a:tr h="370840">
                <a:tc>
                  <a:txBody>
                    <a:bodyPr/>
                    <a:lstStyle/>
                    <a:p>
                      <a:r>
                        <a:rPr lang="en-IN" sz="1200" dirty="0"/>
                        <a:t>4</a:t>
                      </a:r>
                      <a:endParaRPr lang="en-GB" sz="1200" dirty="0"/>
                    </a:p>
                  </a:txBody>
                  <a:tcPr/>
                </a:tc>
                <a:tc>
                  <a:txBody>
                    <a:bodyPr/>
                    <a:lstStyle/>
                    <a:p>
                      <a:r>
                        <a:rPr lang="en-IN" sz="1200" dirty="0"/>
                        <a:t>Make it like a chatbot</a:t>
                      </a:r>
                      <a:endParaRPr lang="en-GB" sz="1200" dirty="0"/>
                    </a:p>
                  </a:txBody>
                  <a:tcPr/>
                </a:tc>
                <a:tc>
                  <a:txBody>
                    <a:bodyPr/>
                    <a:lstStyle/>
                    <a:p>
                      <a:r>
                        <a:rPr lang="en-IN" sz="1200" dirty="0"/>
                        <a:t>Not a pattern, but separating the UI</a:t>
                      </a:r>
                      <a:endParaRPr lang="en-GB" sz="1200" dirty="0"/>
                    </a:p>
                  </a:txBody>
                  <a:tcPr/>
                </a:tc>
                <a:tc>
                  <a:txBody>
                    <a:bodyPr/>
                    <a:lstStyle/>
                    <a:p>
                      <a:r>
                        <a:rPr lang="en-IN" sz="1200" dirty="0"/>
                        <a:t>Added </a:t>
                      </a:r>
                      <a:r>
                        <a:rPr lang="en-IN" sz="1200" dirty="0" err="1"/>
                        <a:t>Gradio</a:t>
                      </a:r>
                      <a:endParaRPr lang="en-GB" sz="1200" dirty="0"/>
                    </a:p>
                  </a:txBody>
                  <a:tcPr/>
                </a:tc>
                <a:tc>
                  <a:txBody>
                    <a:bodyPr/>
                    <a:lstStyle/>
                    <a:p>
                      <a:r>
                        <a:rPr lang="en-IN" sz="1200" dirty="0"/>
                        <a:t>Make it RAG</a:t>
                      </a:r>
                      <a:endParaRPr lang="en-GB" sz="1200" dirty="0"/>
                    </a:p>
                  </a:txBody>
                  <a:tcPr/>
                </a:tc>
                <a:tc>
                  <a:txBody>
                    <a:bodyPr/>
                    <a:lstStyle/>
                    <a:p>
                      <a:r>
                        <a:rPr lang="en-US" sz="1200" dirty="0"/>
                        <a:t>2_6_openai_agent_rag.py</a:t>
                      </a:r>
                      <a:endParaRPr lang="en-GB" sz="1200" dirty="0"/>
                    </a:p>
                  </a:txBody>
                  <a:tcPr/>
                </a:tc>
                <a:extLst>
                  <a:ext uri="{0D108BD9-81ED-4DB2-BD59-A6C34878D82A}">
                    <a16:rowId xmlns:a16="http://schemas.microsoft.com/office/drawing/2014/main" val="3992198734"/>
                  </a:ext>
                </a:extLst>
              </a:tr>
              <a:tr h="370840">
                <a:tc>
                  <a:txBody>
                    <a:bodyPr/>
                    <a:lstStyle/>
                    <a:p>
                      <a:r>
                        <a:rPr lang="en-IN" sz="1200" dirty="0"/>
                        <a:t>5</a:t>
                      </a:r>
                      <a:endParaRPr lang="en-GB" sz="1200" dirty="0"/>
                    </a:p>
                  </a:txBody>
                  <a:tcPr/>
                </a:tc>
                <a:tc>
                  <a:txBody>
                    <a:bodyPr/>
                    <a:lstStyle/>
                    <a:p>
                      <a:r>
                        <a:rPr lang="en-IN" sz="1200" dirty="0"/>
                        <a:t>Add RAG Functionality</a:t>
                      </a:r>
                      <a:endParaRPr lang="en-GB" sz="1200" dirty="0"/>
                    </a:p>
                  </a:txBody>
                  <a:tcPr/>
                </a:tc>
                <a:tc>
                  <a:txBody>
                    <a:bodyPr/>
                    <a:lstStyle/>
                    <a:p>
                      <a:r>
                        <a:rPr lang="en-IN" sz="1200" dirty="0"/>
                        <a:t>RAG (New India Assurance)</a:t>
                      </a:r>
                      <a:endParaRPr lang="en-GB" sz="1200" dirty="0"/>
                    </a:p>
                  </a:txBody>
                  <a:tcPr/>
                </a:tc>
                <a:tc>
                  <a:txBody>
                    <a:bodyPr/>
                    <a:lstStyle/>
                    <a:p>
                      <a:r>
                        <a:rPr lang="en-IN" sz="1200" dirty="0"/>
                        <a:t>Added RAG*</a:t>
                      </a:r>
                      <a:endParaRPr lang="en-GB" sz="1200" dirty="0"/>
                    </a:p>
                  </a:txBody>
                  <a:tcPr/>
                </a:tc>
                <a:tc>
                  <a:txBody>
                    <a:bodyPr/>
                    <a:lstStyle/>
                    <a:p>
                      <a:r>
                        <a:rPr lang="en-IN" sz="1200" dirty="0"/>
                        <a:t>None</a:t>
                      </a:r>
                      <a:endParaRPr lang="en-GB"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2_7_openai_agent_new_india.py</a:t>
                      </a:r>
                      <a:endParaRPr lang="en-GB" sz="1200" dirty="0"/>
                    </a:p>
                  </a:txBody>
                  <a:tcPr/>
                </a:tc>
                <a:extLst>
                  <a:ext uri="{0D108BD9-81ED-4DB2-BD59-A6C34878D82A}">
                    <a16:rowId xmlns:a16="http://schemas.microsoft.com/office/drawing/2014/main" val="147517971"/>
                  </a:ext>
                </a:extLst>
              </a:tr>
              <a:tr h="370840">
                <a:tc>
                  <a:txBody>
                    <a:bodyPr/>
                    <a:lstStyle/>
                    <a:p>
                      <a:r>
                        <a:rPr lang="en-IN" sz="1200" dirty="0"/>
                        <a:t>6</a:t>
                      </a:r>
                      <a:endParaRPr lang="en-GB" sz="1200" dirty="0"/>
                    </a:p>
                  </a:txBody>
                  <a:tcPr/>
                </a:tc>
                <a:tc>
                  <a:txBody>
                    <a:bodyPr/>
                    <a:lstStyle/>
                    <a:p>
                      <a:r>
                        <a:rPr lang="en-IN" sz="1200" dirty="0"/>
                        <a:t>Customer Service Agent using Memory*</a:t>
                      </a:r>
                      <a:endParaRPr lang="en-GB" sz="1200" dirty="0"/>
                    </a:p>
                  </a:txBody>
                  <a:tcPr/>
                </a:tc>
                <a:tc>
                  <a:txBody>
                    <a:bodyPr/>
                    <a:lstStyle/>
                    <a:p>
                      <a:r>
                        <a:rPr lang="en-IN" sz="1200" dirty="0"/>
                        <a:t>Long and Short Term Memory</a:t>
                      </a:r>
                      <a:endParaRPr lang="en-GB" sz="1200" dirty="0"/>
                    </a:p>
                  </a:txBody>
                  <a:tcPr/>
                </a:tc>
                <a:tc>
                  <a:txBody>
                    <a:bodyPr/>
                    <a:lstStyle/>
                    <a:p>
                      <a:r>
                        <a:rPr lang="en-IN" sz="1200" dirty="0"/>
                        <a:t>Different example</a:t>
                      </a:r>
                      <a:endParaRPr lang="en-GB" sz="1200" dirty="0"/>
                    </a:p>
                  </a:txBody>
                  <a:tcPr/>
                </a:tc>
                <a:tc>
                  <a:txBody>
                    <a:bodyPr/>
                    <a:lstStyle/>
                    <a:p>
                      <a:r>
                        <a:rPr lang="en-IN" sz="1200" dirty="0"/>
                        <a:t>NA</a:t>
                      </a:r>
                      <a:endParaRPr lang="en-GB"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2_10_openai_agent_memory.py</a:t>
                      </a: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txBody>
                  <a:tcPr/>
                </a:tc>
                <a:extLst>
                  <a:ext uri="{0D108BD9-81ED-4DB2-BD59-A6C34878D82A}">
                    <a16:rowId xmlns:a16="http://schemas.microsoft.com/office/drawing/2014/main" val="885694069"/>
                  </a:ext>
                </a:extLst>
              </a:tr>
              <a:tr h="370840">
                <a:tc>
                  <a:txBody>
                    <a:bodyPr/>
                    <a:lstStyle/>
                    <a:p>
                      <a:r>
                        <a:rPr lang="en-IN" sz="1200" dirty="0"/>
                        <a:t>7</a:t>
                      </a:r>
                      <a:endParaRPr lang="en-GB" sz="1200" dirty="0"/>
                    </a:p>
                  </a:txBody>
                  <a:tcPr/>
                </a:tc>
                <a:tc>
                  <a:txBody>
                    <a:bodyPr/>
                    <a:lstStyle/>
                    <a:p>
                      <a:r>
                        <a:rPr lang="en-IN" sz="1200" dirty="0"/>
                        <a:t>Handoffs* (Using new data – not the earlier customer service data)</a:t>
                      </a:r>
                      <a:endParaRPr lang="en-GB" sz="1200" dirty="0"/>
                    </a:p>
                  </a:txBody>
                  <a:tcPr/>
                </a:tc>
                <a:tc>
                  <a:txBody>
                    <a:bodyPr/>
                    <a:lstStyle/>
                    <a:p>
                      <a:r>
                        <a:rPr lang="en-IN" sz="1200" dirty="0"/>
                        <a:t>Handoff</a:t>
                      </a:r>
                      <a:endParaRPr lang="en-GB" sz="1200" dirty="0"/>
                    </a:p>
                  </a:txBody>
                  <a:tcPr/>
                </a:tc>
                <a:tc>
                  <a:txBody>
                    <a:bodyPr/>
                    <a:lstStyle/>
                    <a:p>
                      <a:r>
                        <a:rPr lang="en-IN" sz="1200" dirty="0"/>
                        <a:t>Triage agents interprets customer sentiment and routes to an appropriate agent</a:t>
                      </a:r>
                      <a:endParaRPr lang="en-GB" sz="1200" dirty="0"/>
                    </a:p>
                  </a:txBody>
                  <a:tcPr/>
                </a:tc>
                <a:tc>
                  <a:txBody>
                    <a:bodyPr/>
                    <a:lstStyle/>
                    <a:p>
                      <a:r>
                        <a:rPr lang="en-IN" sz="1200" dirty="0"/>
                        <a:t>NA</a:t>
                      </a:r>
                      <a:endParaRPr lang="en-GB"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2_11_openai_agent_handoff.py</a:t>
                      </a:r>
                      <a:endParaRPr lang="en-GB" sz="1200" dirty="0"/>
                    </a:p>
                  </a:txBody>
                  <a:tcPr/>
                </a:tc>
                <a:extLst>
                  <a:ext uri="{0D108BD9-81ED-4DB2-BD59-A6C34878D82A}">
                    <a16:rowId xmlns:a16="http://schemas.microsoft.com/office/drawing/2014/main" val="2331440186"/>
                  </a:ext>
                </a:extLst>
              </a:tr>
            </a:tbl>
          </a:graphicData>
        </a:graphic>
      </p:graphicFrame>
    </p:spTree>
    <p:extLst>
      <p:ext uri="{BB962C8B-B14F-4D97-AF65-F5344CB8AC3E}">
        <p14:creationId xmlns:p14="http://schemas.microsoft.com/office/powerpoint/2010/main" val="3253891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25ECD-3366-6E30-2947-87B0572FF6DC}"/>
              </a:ext>
            </a:extLst>
          </p:cNvPr>
          <p:cNvSpPr>
            <a:spLocks noGrp="1"/>
          </p:cNvSpPr>
          <p:nvPr>
            <p:ph type="title"/>
          </p:nvPr>
        </p:nvSpPr>
        <p:spPr/>
        <p:txBody>
          <a:bodyPr/>
          <a:lstStyle/>
          <a:p>
            <a:r>
              <a:rPr lang="en-IN" dirty="0"/>
              <a:t>Function (Tool) Calling Workflow</a:t>
            </a:r>
            <a:endParaRPr lang="en-GB" dirty="0"/>
          </a:p>
        </p:txBody>
      </p:sp>
      <p:sp>
        <p:nvSpPr>
          <p:cNvPr id="3" name="Content Placeholder 2">
            <a:extLst>
              <a:ext uri="{FF2B5EF4-FFF2-40B4-BE49-F238E27FC236}">
                <a16:creationId xmlns:a16="http://schemas.microsoft.com/office/drawing/2014/main" id="{4BDBA928-EE00-4365-2C76-83C9BFC8B2F0}"/>
              </a:ext>
            </a:extLst>
          </p:cNvPr>
          <p:cNvSpPr>
            <a:spLocks noGrp="1"/>
          </p:cNvSpPr>
          <p:nvPr>
            <p:ph idx="1"/>
          </p:nvPr>
        </p:nvSpPr>
        <p:spPr/>
        <p:txBody>
          <a:bodyPr/>
          <a:lstStyle/>
          <a:p>
            <a:r>
              <a:rPr lang="en-US" b="1" dirty="0"/>
              <a:t>Tool calling</a:t>
            </a:r>
            <a:r>
              <a:rPr lang="en-US" dirty="0"/>
              <a:t>: Allows an LLM to </a:t>
            </a:r>
            <a:r>
              <a:rPr lang="en-US" b="1" dirty="0"/>
              <a:t>delegate specific tasks</a:t>
            </a:r>
            <a:r>
              <a:rPr lang="en-US" dirty="0"/>
              <a:t> to external functions, APIs, or knowledge sources, making them more useful for real-world tasks, beyond just text generation</a:t>
            </a:r>
          </a:p>
          <a:p>
            <a:r>
              <a:rPr lang="en-US" dirty="0"/>
              <a:t>Components</a:t>
            </a:r>
            <a:endParaRPr lang="en-GB" dirty="0"/>
          </a:p>
        </p:txBody>
      </p:sp>
      <p:graphicFrame>
        <p:nvGraphicFramePr>
          <p:cNvPr id="5" name="Table 4">
            <a:extLst>
              <a:ext uri="{FF2B5EF4-FFF2-40B4-BE49-F238E27FC236}">
                <a16:creationId xmlns:a16="http://schemas.microsoft.com/office/drawing/2014/main" id="{3964F03B-37BF-D800-905E-75D623061CE1}"/>
              </a:ext>
            </a:extLst>
          </p:cNvPr>
          <p:cNvGraphicFramePr>
            <a:graphicFrameLocks noGrp="1"/>
          </p:cNvGraphicFramePr>
          <p:nvPr/>
        </p:nvGraphicFramePr>
        <p:xfrm>
          <a:off x="998744" y="3566795"/>
          <a:ext cx="10515600" cy="2286000"/>
        </p:xfrm>
        <a:graphic>
          <a:graphicData uri="http://schemas.openxmlformats.org/drawingml/2006/table">
            <a:tbl>
              <a:tblPr>
                <a:tableStyleId>{17292A2E-F333-43FB-9621-5CBBE7FDCDCB}</a:tableStyleId>
              </a:tblPr>
              <a:tblGrid>
                <a:gridCol w="3301031">
                  <a:extLst>
                    <a:ext uri="{9D8B030D-6E8A-4147-A177-3AD203B41FA5}">
                      <a16:colId xmlns:a16="http://schemas.microsoft.com/office/drawing/2014/main" val="1845314149"/>
                    </a:ext>
                  </a:extLst>
                </a:gridCol>
                <a:gridCol w="7214569">
                  <a:extLst>
                    <a:ext uri="{9D8B030D-6E8A-4147-A177-3AD203B41FA5}">
                      <a16:colId xmlns:a16="http://schemas.microsoft.com/office/drawing/2014/main" val="4125678451"/>
                    </a:ext>
                  </a:extLst>
                </a:gridCol>
              </a:tblGrid>
              <a:tr h="209507">
                <a:tc>
                  <a:txBody>
                    <a:bodyPr/>
                    <a:lstStyle/>
                    <a:p>
                      <a:pPr>
                        <a:buNone/>
                      </a:pPr>
                      <a:r>
                        <a:rPr lang="en-GB" b="1"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b="1" dirty="0"/>
                        <a:t>Role / 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9335592"/>
                  </a:ext>
                </a:extLst>
              </a:tr>
              <a:tr h="366636">
                <a:tc>
                  <a:txBody>
                    <a:bodyPr/>
                    <a:lstStyle/>
                    <a:p>
                      <a:pPr>
                        <a:buNone/>
                      </a:pPr>
                      <a:r>
                        <a:rPr lang="en-GB" b="1" dirty="0"/>
                        <a:t>LLM (Agent)</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Generates responses and decides when to call a tool. Uses instructions, context, and available tool schemas.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5284055"/>
                  </a:ext>
                </a:extLst>
              </a:tr>
              <a:tr h="523766">
                <a:tc>
                  <a:txBody>
                    <a:bodyPr/>
                    <a:lstStyle/>
                    <a:p>
                      <a:pPr>
                        <a:buNone/>
                      </a:pPr>
                      <a:r>
                        <a:rPr lang="en-GB" b="1" dirty="0"/>
                        <a:t>Tool / Function</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Encapsulates a task the agent can perform. Has a name, description, and parameter schema. Provides a callback function to execute when called.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4711033"/>
                  </a:ext>
                </a:extLst>
              </a:tr>
              <a:tr h="523766">
                <a:tc>
                  <a:txBody>
                    <a:bodyPr/>
                    <a:lstStyle/>
                    <a:p>
                      <a:pPr>
                        <a:buNone/>
                      </a:pPr>
                      <a:r>
                        <a:rPr lang="en-GB" b="1" dirty="0"/>
                        <a:t>Runner / Executor</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Middleware that passes the tool call from the agent to our function. Handles asynchronous execution, error handling, and return of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5474913"/>
                  </a:ext>
                </a:extLst>
              </a:tr>
            </a:tbl>
          </a:graphicData>
        </a:graphic>
      </p:graphicFrame>
    </p:spTree>
    <p:extLst>
      <p:ext uri="{BB962C8B-B14F-4D97-AF65-F5344CB8AC3E}">
        <p14:creationId xmlns:p14="http://schemas.microsoft.com/office/powerpoint/2010/main" val="1545571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DF947-4D32-DF06-401F-E5506E50D1F2}"/>
              </a:ext>
            </a:extLst>
          </p:cNvPr>
          <p:cNvSpPr>
            <a:spLocks noGrp="1"/>
          </p:cNvSpPr>
          <p:nvPr>
            <p:ph type="title"/>
          </p:nvPr>
        </p:nvSpPr>
        <p:spPr>
          <a:xfrm>
            <a:off x="518255" y="220353"/>
            <a:ext cx="3033915" cy="1325563"/>
          </a:xfrm>
        </p:spPr>
        <p:txBody>
          <a:bodyPr/>
          <a:lstStyle/>
          <a:p>
            <a:r>
              <a:rPr lang="en-IN" dirty="0"/>
              <a:t>Tool Workflow</a:t>
            </a:r>
            <a:endParaRPr lang="en-GB" dirty="0"/>
          </a:p>
        </p:txBody>
      </p:sp>
      <p:graphicFrame>
        <p:nvGraphicFramePr>
          <p:cNvPr id="4" name="Content Placeholder 3">
            <a:extLst>
              <a:ext uri="{FF2B5EF4-FFF2-40B4-BE49-F238E27FC236}">
                <a16:creationId xmlns:a16="http://schemas.microsoft.com/office/drawing/2014/main" id="{534453BA-0C98-A8BD-1EA4-96036E3FBF1F}"/>
              </a:ext>
            </a:extLst>
          </p:cNvPr>
          <p:cNvGraphicFramePr>
            <a:graphicFrameLocks noGrp="1"/>
          </p:cNvGraphicFramePr>
          <p:nvPr>
            <p:ph idx="1"/>
          </p:nvPr>
        </p:nvGraphicFramePr>
        <p:xfrm>
          <a:off x="788757" y="1688226"/>
          <a:ext cx="10944879" cy="4589641"/>
        </p:xfrm>
        <a:graphic>
          <a:graphicData uri="http://schemas.openxmlformats.org/drawingml/2006/table">
            <a:tbl>
              <a:tblPr>
                <a:tableStyleId>{ED083AE6-46FA-4A59-8FB0-9F97EB10719F}</a:tableStyleId>
              </a:tblPr>
              <a:tblGrid>
                <a:gridCol w="1926522">
                  <a:extLst>
                    <a:ext uri="{9D8B030D-6E8A-4147-A177-3AD203B41FA5}">
                      <a16:colId xmlns:a16="http://schemas.microsoft.com/office/drawing/2014/main" val="558719537"/>
                    </a:ext>
                  </a:extLst>
                </a:gridCol>
                <a:gridCol w="4397497">
                  <a:extLst>
                    <a:ext uri="{9D8B030D-6E8A-4147-A177-3AD203B41FA5}">
                      <a16:colId xmlns:a16="http://schemas.microsoft.com/office/drawing/2014/main" val="1256724825"/>
                    </a:ext>
                  </a:extLst>
                </a:gridCol>
                <a:gridCol w="4620860">
                  <a:extLst>
                    <a:ext uri="{9D8B030D-6E8A-4147-A177-3AD203B41FA5}">
                      <a16:colId xmlns:a16="http://schemas.microsoft.com/office/drawing/2014/main" val="1463455223"/>
                    </a:ext>
                  </a:extLst>
                </a:gridCol>
              </a:tblGrid>
              <a:tr h="217567">
                <a:tc>
                  <a:txBody>
                    <a:bodyPr/>
                    <a:lstStyle/>
                    <a:p>
                      <a:pPr>
                        <a:buNone/>
                      </a:pPr>
                      <a:r>
                        <a:rPr lang="en-GB" sz="1600" b="1" dirty="0"/>
                        <a:t>Step</a:t>
                      </a:r>
                    </a:p>
                  </a:txBody>
                  <a:tcPr marL="54392" marR="54392" marT="27196" marB="27196" anchor="ctr"/>
                </a:tc>
                <a:tc>
                  <a:txBody>
                    <a:bodyPr/>
                    <a:lstStyle/>
                    <a:p>
                      <a:pPr>
                        <a:buNone/>
                      </a:pPr>
                      <a:r>
                        <a:rPr lang="en-GB" sz="1600" b="1" dirty="0"/>
                        <a:t>Description</a:t>
                      </a:r>
                    </a:p>
                  </a:txBody>
                  <a:tcPr marL="54392" marR="54392" marT="27196" marB="27196" anchor="ctr"/>
                </a:tc>
                <a:tc>
                  <a:txBody>
                    <a:bodyPr/>
                    <a:lstStyle/>
                    <a:p>
                      <a:pPr>
                        <a:buNone/>
                      </a:pPr>
                      <a:r>
                        <a:rPr lang="en-GB" sz="1600" b="1" dirty="0"/>
                        <a:t>Example / Notes</a:t>
                      </a:r>
                    </a:p>
                  </a:txBody>
                  <a:tcPr marL="54392" marR="54392" marT="27196" marB="27196" anchor="ctr"/>
                </a:tc>
                <a:extLst>
                  <a:ext uri="{0D108BD9-81ED-4DB2-BD59-A6C34878D82A}">
                    <a16:rowId xmlns:a16="http://schemas.microsoft.com/office/drawing/2014/main" val="1450517377"/>
                  </a:ext>
                </a:extLst>
              </a:tr>
              <a:tr h="543917">
                <a:tc>
                  <a:txBody>
                    <a:bodyPr/>
                    <a:lstStyle/>
                    <a:p>
                      <a:pPr>
                        <a:buNone/>
                      </a:pPr>
                      <a:r>
                        <a:rPr lang="en-US" sz="1600" b="1"/>
                        <a:t>1. Agent receives user input</a:t>
                      </a:r>
                      <a:endParaRPr lang="en-US" sz="1600"/>
                    </a:p>
                  </a:txBody>
                  <a:tcPr marL="54392" marR="54392" marT="27196" marB="27196" anchor="ctr"/>
                </a:tc>
                <a:tc>
                  <a:txBody>
                    <a:bodyPr/>
                    <a:lstStyle/>
                    <a:p>
                      <a:pPr>
                        <a:buNone/>
                      </a:pPr>
                      <a:r>
                        <a:rPr lang="en-US" sz="1600"/>
                        <a:t>User types a message. Agent receives it along with instructions and context.</a:t>
                      </a:r>
                    </a:p>
                  </a:txBody>
                  <a:tcPr marL="54392" marR="54392" marT="27196" marB="27196" anchor="ctr"/>
                </a:tc>
                <a:tc>
                  <a:txBody>
                    <a:bodyPr/>
                    <a:lstStyle/>
                    <a:p>
                      <a:pPr>
                        <a:buNone/>
                      </a:pPr>
                      <a:r>
                        <a:rPr lang="en-US" sz="1600"/>
                        <a:t>"What is the return policy?"</a:t>
                      </a:r>
                    </a:p>
                  </a:txBody>
                  <a:tcPr marL="54392" marR="54392" marT="27196" marB="27196" anchor="ctr"/>
                </a:tc>
                <a:extLst>
                  <a:ext uri="{0D108BD9-81ED-4DB2-BD59-A6C34878D82A}">
                    <a16:rowId xmlns:a16="http://schemas.microsoft.com/office/drawing/2014/main" val="2162382995"/>
                  </a:ext>
                </a:extLst>
              </a:tr>
              <a:tr h="543917">
                <a:tc>
                  <a:txBody>
                    <a:bodyPr/>
                    <a:lstStyle/>
                    <a:p>
                      <a:pPr>
                        <a:buNone/>
                      </a:pPr>
                      <a:r>
                        <a:rPr lang="en-US" sz="1600" b="1"/>
                        <a:t>2. Agent decides whether to call a tool</a:t>
                      </a:r>
                      <a:endParaRPr lang="en-US" sz="1600"/>
                    </a:p>
                  </a:txBody>
                  <a:tcPr marL="54392" marR="54392" marT="27196" marB="27196" anchor="ctr"/>
                </a:tc>
                <a:tc>
                  <a:txBody>
                    <a:bodyPr/>
                    <a:lstStyle/>
                    <a:p>
                      <a:pPr>
                        <a:buNone/>
                      </a:pPr>
                      <a:r>
                        <a:rPr lang="en-US" sz="1600"/>
                        <a:t>Agent checks available tools. Decides whether to call a tool or answer internally.</a:t>
                      </a:r>
                    </a:p>
                  </a:txBody>
                  <a:tcPr marL="54392" marR="54392" marT="27196" marB="27196" anchor="ctr"/>
                </a:tc>
                <a:tc>
                  <a:txBody>
                    <a:bodyPr/>
                    <a:lstStyle/>
                    <a:p>
                      <a:pPr>
                        <a:buNone/>
                      </a:pPr>
                      <a:r>
                        <a:rPr lang="en-US" sz="1600"/>
                        <a:t>Call get_faq_answer tool for known topic or answer directly.</a:t>
                      </a:r>
                    </a:p>
                  </a:txBody>
                  <a:tcPr marL="54392" marR="54392" marT="27196" marB="27196" anchor="ctr"/>
                </a:tc>
                <a:extLst>
                  <a:ext uri="{0D108BD9-81ED-4DB2-BD59-A6C34878D82A}">
                    <a16:rowId xmlns:a16="http://schemas.microsoft.com/office/drawing/2014/main" val="1271434506"/>
                  </a:ext>
                </a:extLst>
              </a:tr>
              <a:tr h="707092">
                <a:tc>
                  <a:txBody>
                    <a:bodyPr/>
                    <a:lstStyle/>
                    <a:p>
                      <a:pPr>
                        <a:buNone/>
                      </a:pPr>
                      <a:r>
                        <a:rPr lang="en-US" sz="1600" b="1"/>
                        <a:t>3. Agent generates a tool call</a:t>
                      </a:r>
                      <a:endParaRPr lang="en-US" sz="1600"/>
                    </a:p>
                  </a:txBody>
                  <a:tcPr marL="54392" marR="54392" marT="27196" marB="27196" anchor="ctr"/>
                </a:tc>
                <a:tc>
                  <a:txBody>
                    <a:bodyPr/>
                    <a:lstStyle/>
                    <a:p>
                      <a:pPr>
                        <a:buNone/>
                      </a:pPr>
                      <a:r>
                        <a:rPr lang="en-US" sz="1600"/>
                        <a:t>Agent creates a structured function call matching the tool’s schema. Ensures required fields are present and types are correct.</a:t>
                      </a:r>
                    </a:p>
                  </a:txBody>
                  <a:tcPr marL="54392" marR="54392" marT="27196" marB="27196" anchor="ctr"/>
                </a:tc>
                <a:tc>
                  <a:txBody>
                    <a:bodyPr/>
                    <a:lstStyle/>
                    <a:p>
                      <a:pPr>
                        <a:buNone/>
                      </a:pPr>
                      <a:r>
                        <a:rPr lang="en-US" sz="1600"/>
                        <a:t>{ "name": "get_faq_answer", "parameters": { "topic": "return policy" } }</a:t>
                      </a:r>
                    </a:p>
                  </a:txBody>
                  <a:tcPr marL="54392" marR="54392" marT="27196" marB="27196" anchor="ctr"/>
                </a:tc>
                <a:extLst>
                  <a:ext uri="{0D108BD9-81ED-4DB2-BD59-A6C34878D82A}">
                    <a16:rowId xmlns:a16="http://schemas.microsoft.com/office/drawing/2014/main" val="920948271"/>
                  </a:ext>
                </a:extLst>
              </a:tr>
              <a:tr h="543917">
                <a:tc>
                  <a:txBody>
                    <a:bodyPr/>
                    <a:lstStyle/>
                    <a:p>
                      <a:pPr>
                        <a:buNone/>
                      </a:pPr>
                      <a:r>
                        <a:rPr lang="en-US" sz="1600" b="1"/>
                        <a:t>4. Runner executes the tool</a:t>
                      </a:r>
                      <a:endParaRPr lang="en-US" sz="1600"/>
                    </a:p>
                  </a:txBody>
                  <a:tcPr marL="54392" marR="54392" marT="27196" marB="27196" anchor="ctr"/>
                </a:tc>
                <a:tc>
                  <a:txBody>
                    <a:bodyPr/>
                    <a:lstStyle/>
                    <a:p>
                      <a:pPr>
                        <a:buNone/>
                      </a:pPr>
                      <a:r>
                        <a:rPr lang="en-US" sz="1600"/>
                        <a:t>Runner calls the registered callback function. Passes parameters and tool context (metadata).</a:t>
                      </a:r>
                    </a:p>
                  </a:txBody>
                  <a:tcPr marL="54392" marR="54392" marT="27196" marB="27196" anchor="ctr"/>
                </a:tc>
                <a:tc>
                  <a:txBody>
                    <a:bodyPr/>
                    <a:lstStyle/>
                    <a:p>
                      <a:pPr>
                        <a:buNone/>
                      </a:pPr>
                      <a:r>
                        <a:rPr lang="en-US" sz="1600"/>
                        <a:t>params = {"topic": "return policy"} tool_context includes agent name, conversation ID, etc.</a:t>
                      </a:r>
                    </a:p>
                  </a:txBody>
                  <a:tcPr marL="54392" marR="54392" marT="27196" marB="27196" anchor="ctr"/>
                </a:tc>
                <a:extLst>
                  <a:ext uri="{0D108BD9-81ED-4DB2-BD59-A6C34878D82A}">
                    <a16:rowId xmlns:a16="http://schemas.microsoft.com/office/drawing/2014/main" val="2884221783"/>
                  </a:ext>
                </a:extLst>
              </a:tr>
              <a:tr h="707092">
                <a:tc>
                  <a:txBody>
                    <a:bodyPr/>
                    <a:lstStyle/>
                    <a:p>
                      <a:pPr>
                        <a:buNone/>
                      </a:pPr>
                      <a:r>
                        <a:rPr lang="en-GB" sz="1600" b="1"/>
                        <a:t>5. Tool returns results</a:t>
                      </a:r>
                      <a:endParaRPr lang="en-GB" sz="1600"/>
                    </a:p>
                  </a:txBody>
                  <a:tcPr marL="54392" marR="54392" marT="27196" marB="27196" anchor="ctr"/>
                </a:tc>
                <a:tc>
                  <a:txBody>
                    <a:bodyPr/>
                    <a:lstStyle/>
                    <a:p>
                      <a:pPr>
                        <a:buNone/>
                      </a:pPr>
                      <a:r>
                        <a:rPr lang="en-US" sz="1600"/>
                        <a:t>Callback function fetches the answer from knowledge base or API. Runner passes it back to the agent.</a:t>
                      </a:r>
                    </a:p>
                  </a:txBody>
                  <a:tcPr marL="54392" marR="54392" marT="27196" marB="27196" anchor="ctr"/>
                </a:tc>
                <a:tc>
                  <a:txBody>
                    <a:bodyPr/>
                    <a:lstStyle/>
                    <a:p>
                      <a:pPr>
                        <a:buNone/>
                      </a:pPr>
                      <a:r>
                        <a:rPr lang="en-US" sz="1600"/>
                        <a:t>"You can return any product within 30 days of delivery."</a:t>
                      </a:r>
                    </a:p>
                  </a:txBody>
                  <a:tcPr marL="54392" marR="54392" marT="27196" marB="27196" anchor="ctr"/>
                </a:tc>
                <a:extLst>
                  <a:ext uri="{0D108BD9-81ED-4DB2-BD59-A6C34878D82A}">
                    <a16:rowId xmlns:a16="http://schemas.microsoft.com/office/drawing/2014/main" val="108269785"/>
                  </a:ext>
                </a:extLst>
              </a:tr>
              <a:tr h="543917">
                <a:tc>
                  <a:txBody>
                    <a:bodyPr/>
                    <a:lstStyle/>
                    <a:p>
                      <a:pPr>
                        <a:buNone/>
                      </a:pPr>
                      <a:r>
                        <a:rPr lang="en-GB" sz="1600" b="1"/>
                        <a:t>6. Agent generates final response</a:t>
                      </a:r>
                      <a:endParaRPr lang="en-GB" sz="1600"/>
                    </a:p>
                  </a:txBody>
                  <a:tcPr marL="54392" marR="54392" marT="27196" marB="27196" anchor="ctr"/>
                </a:tc>
                <a:tc>
                  <a:txBody>
                    <a:bodyPr/>
                    <a:lstStyle/>
                    <a:p>
                      <a:pPr>
                        <a:buNone/>
                      </a:pPr>
                      <a:r>
                        <a:rPr lang="en-US" sz="1600"/>
                        <a:t>Agent combines tool output with conversational context and formats response for the user.</a:t>
                      </a:r>
                    </a:p>
                  </a:txBody>
                  <a:tcPr marL="54392" marR="54392" marT="27196" marB="27196" anchor="ctr"/>
                </a:tc>
                <a:tc>
                  <a:txBody>
                    <a:bodyPr/>
                    <a:lstStyle/>
                    <a:p>
                      <a:pPr>
                        <a:buNone/>
                      </a:pPr>
                      <a:r>
                        <a:rPr lang="en-US" sz="1600"/>
                        <a:t>Bot: You can return any product within 30 days of delivery.</a:t>
                      </a:r>
                    </a:p>
                  </a:txBody>
                  <a:tcPr marL="54392" marR="54392" marT="27196" marB="27196" anchor="ctr"/>
                </a:tc>
                <a:extLst>
                  <a:ext uri="{0D108BD9-81ED-4DB2-BD59-A6C34878D82A}">
                    <a16:rowId xmlns:a16="http://schemas.microsoft.com/office/drawing/2014/main" val="3799751729"/>
                  </a:ext>
                </a:extLst>
              </a:tr>
              <a:tr h="543917">
                <a:tc>
                  <a:txBody>
                    <a:bodyPr/>
                    <a:lstStyle/>
                    <a:p>
                      <a:pPr>
                        <a:buNone/>
                      </a:pPr>
                      <a:r>
                        <a:rPr lang="en-GB" sz="1600" b="1"/>
                        <a:t>7. Optional – Logging / Analytics</a:t>
                      </a:r>
                      <a:endParaRPr lang="en-GB" sz="1600"/>
                    </a:p>
                  </a:txBody>
                  <a:tcPr marL="54392" marR="54392" marT="27196" marB="27196" anchor="ctr"/>
                </a:tc>
                <a:tc>
                  <a:txBody>
                    <a:bodyPr/>
                    <a:lstStyle/>
                    <a:p>
                      <a:pPr>
                        <a:buNone/>
                      </a:pPr>
                      <a:r>
                        <a:rPr lang="en-US" sz="1600"/>
                        <a:t>Tool calls, parameters, and results can be logged for auditing, analytics, or improving accuracy.</a:t>
                      </a:r>
                    </a:p>
                  </a:txBody>
                  <a:tcPr marL="54392" marR="54392" marT="27196" marB="27196" anchor="ctr"/>
                </a:tc>
                <a:tc>
                  <a:txBody>
                    <a:bodyPr/>
                    <a:lstStyle/>
                    <a:p>
                      <a:pPr>
                        <a:buNone/>
                      </a:pPr>
                      <a:r>
                        <a:rPr lang="en-US" sz="1600" dirty="0"/>
                        <a:t>Useful for monitoring and refining agent behavior.</a:t>
                      </a:r>
                    </a:p>
                  </a:txBody>
                  <a:tcPr marL="54392" marR="54392" marT="27196" marB="27196" anchor="ctr"/>
                </a:tc>
                <a:extLst>
                  <a:ext uri="{0D108BD9-81ED-4DB2-BD59-A6C34878D82A}">
                    <a16:rowId xmlns:a16="http://schemas.microsoft.com/office/drawing/2014/main" val="2092289236"/>
                  </a:ext>
                </a:extLst>
              </a:tr>
            </a:tbl>
          </a:graphicData>
        </a:graphic>
      </p:graphicFrame>
      <p:sp>
        <p:nvSpPr>
          <p:cNvPr id="6" name="Arrow: Right 5">
            <a:extLst>
              <a:ext uri="{FF2B5EF4-FFF2-40B4-BE49-F238E27FC236}">
                <a16:creationId xmlns:a16="http://schemas.microsoft.com/office/drawing/2014/main" id="{72A02E99-1C66-37A6-3882-03AE2D8C2B14}"/>
              </a:ext>
            </a:extLst>
          </p:cNvPr>
          <p:cNvSpPr/>
          <p:nvPr/>
        </p:nvSpPr>
        <p:spPr>
          <a:xfrm>
            <a:off x="3846064" y="388591"/>
            <a:ext cx="342027" cy="22336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FDB40AFB-FBC0-E39A-CF82-986319084B0B}"/>
              </a:ext>
            </a:extLst>
          </p:cNvPr>
          <p:cNvPicPr>
            <a:picLocks noChangeAspect="1"/>
          </p:cNvPicPr>
          <p:nvPr/>
        </p:nvPicPr>
        <p:blipFill>
          <a:blip r:embed="rId2"/>
          <a:stretch>
            <a:fillRect/>
          </a:stretch>
        </p:blipFill>
        <p:spPr>
          <a:xfrm>
            <a:off x="4188091" y="124101"/>
            <a:ext cx="844598" cy="801910"/>
          </a:xfrm>
          <a:prstGeom prst="rect">
            <a:avLst/>
          </a:prstGeom>
        </p:spPr>
      </p:pic>
      <p:sp>
        <p:nvSpPr>
          <p:cNvPr id="9" name="Arrow: Right 8">
            <a:extLst>
              <a:ext uri="{FF2B5EF4-FFF2-40B4-BE49-F238E27FC236}">
                <a16:creationId xmlns:a16="http://schemas.microsoft.com/office/drawing/2014/main" id="{F6AF3259-4FE3-394B-3E71-F7FC31CDC5D6}"/>
              </a:ext>
            </a:extLst>
          </p:cNvPr>
          <p:cNvSpPr/>
          <p:nvPr/>
        </p:nvSpPr>
        <p:spPr>
          <a:xfrm>
            <a:off x="5030652" y="388590"/>
            <a:ext cx="342027" cy="22336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92897644-0652-0866-2BAD-78AFDD6ADC0A}"/>
              </a:ext>
            </a:extLst>
          </p:cNvPr>
          <p:cNvPicPr>
            <a:picLocks noChangeAspect="1"/>
          </p:cNvPicPr>
          <p:nvPr/>
        </p:nvPicPr>
        <p:blipFill>
          <a:blip r:embed="rId3"/>
          <a:stretch>
            <a:fillRect/>
          </a:stretch>
        </p:blipFill>
        <p:spPr>
          <a:xfrm>
            <a:off x="5397527" y="107409"/>
            <a:ext cx="821354" cy="835293"/>
          </a:xfrm>
          <a:prstGeom prst="rect">
            <a:avLst/>
          </a:prstGeom>
        </p:spPr>
      </p:pic>
      <p:sp>
        <p:nvSpPr>
          <p:cNvPr id="12" name="TextBox 11">
            <a:extLst>
              <a:ext uri="{FF2B5EF4-FFF2-40B4-BE49-F238E27FC236}">
                <a16:creationId xmlns:a16="http://schemas.microsoft.com/office/drawing/2014/main" id="{6D7CF5C6-5AE9-C0B7-6779-09C7BE168C7F}"/>
              </a:ext>
            </a:extLst>
          </p:cNvPr>
          <p:cNvSpPr txBox="1"/>
          <p:nvPr/>
        </p:nvSpPr>
        <p:spPr>
          <a:xfrm>
            <a:off x="5372679" y="977213"/>
            <a:ext cx="844598" cy="523220"/>
          </a:xfrm>
          <a:prstGeom prst="rect">
            <a:avLst/>
          </a:prstGeom>
          <a:solidFill>
            <a:srgbClr val="7030A0"/>
          </a:solidFill>
        </p:spPr>
        <p:txBody>
          <a:bodyPr wrap="square" rtlCol="0">
            <a:spAutoFit/>
          </a:bodyPr>
          <a:lstStyle/>
          <a:p>
            <a:pPr algn="ctr"/>
            <a:r>
              <a:rPr lang="en-IN" sz="1400" b="1" dirty="0">
                <a:solidFill>
                  <a:schemeClr val="bg1"/>
                </a:solidFill>
              </a:rPr>
              <a:t>Tool call needed</a:t>
            </a:r>
            <a:endParaRPr lang="en-GB" sz="1400" b="1" dirty="0">
              <a:solidFill>
                <a:schemeClr val="bg1"/>
              </a:solidFill>
            </a:endParaRPr>
          </a:p>
        </p:txBody>
      </p:sp>
      <p:sp>
        <p:nvSpPr>
          <p:cNvPr id="13" name="Arrow: Right 12">
            <a:extLst>
              <a:ext uri="{FF2B5EF4-FFF2-40B4-BE49-F238E27FC236}">
                <a16:creationId xmlns:a16="http://schemas.microsoft.com/office/drawing/2014/main" id="{6B917F78-BFAD-A3F8-2F6E-AA1BED87BBE2}"/>
              </a:ext>
            </a:extLst>
          </p:cNvPr>
          <p:cNvSpPr/>
          <p:nvPr/>
        </p:nvSpPr>
        <p:spPr>
          <a:xfrm>
            <a:off x="6268324" y="388589"/>
            <a:ext cx="342027" cy="22336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B44B7DE3-E620-47A2-0A2A-7F073DB22687}"/>
              </a:ext>
            </a:extLst>
          </p:cNvPr>
          <p:cNvSpPr txBox="1"/>
          <p:nvPr/>
        </p:nvSpPr>
        <p:spPr>
          <a:xfrm>
            <a:off x="7847973" y="228036"/>
            <a:ext cx="844598" cy="523220"/>
          </a:xfrm>
          <a:prstGeom prst="rect">
            <a:avLst/>
          </a:prstGeom>
          <a:solidFill>
            <a:schemeClr val="bg2"/>
          </a:solidFill>
        </p:spPr>
        <p:txBody>
          <a:bodyPr wrap="square" rtlCol="0">
            <a:spAutoFit/>
          </a:bodyPr>
          <a:lstStyle/>
          <a:p>
            <a:pPr algn="ctr"/>
            <a:r>
              <a:rPr lang="en-IN" sz="1400" b="1" dirty="0"/>
              <a:t>Tool </a:t>
            </a:r>
          </a:p>
          <a:p>
            <a:pPr algn="ctr"/>
            <a:r>
              <a:rPr lang="en-IN" sz="1400" b="1" dirty="0"/>
              <a:t>call</a:t>
            </a:r>
            <a:endParaRPr lang="en-GB" sz="1400" b="1" dirty="0"/>
          </a:p>
        </p:txBody>
      </p:sp>
      <p:sp>
        <p:nvSpPr>
          <p:cNvPr id="16" name="TextBox 15">
            <a:extLst>
              <a:ext uri="{FF2B5EF4-FFF2-40B4-BE49-F238E27FC236}">
                <a16:creationId xmlns:a16="http://schemas.microsoft.com/office/drawing/2014/main" id="{195F3F1D-BFF3-8DA2-A7C6-3402D2C6F0CF}"/>
              </a:ext>
            </a:extLst>
          </p:cNvPr>
          <p:cNvSpPr txBox="1"/>
          <p:nvPr/>
        </p:nvSpPr>
        <p:spPr>
          <a:xfrm>
            <a:off x="7847973" y="951227"/>
            <a:ext cx="844598" cy="523220"/>
          </a:xfrm>
          <a:prstGeom prst="rect">
            <a:avLst/>
          </a:prstGeom>
          <a:solidFill>
            <a:srgbClr val="7030A0"/>
          </a:solidFill>
        </p:spPr>
        <p:txBody>
          <a:bodyPr wrap="square" rtlCol="0">
            <a:spAutoFit/>
          </a:bodyPr>
          <a:lstStyle/>
          <a:p>
            <a:pPr algn="ctr"/>
            <a:r>
              <a:rPr lang="en-IN" sz="1400" b="1" dirty="0">
                <a:solidFill>
                  <a:schemeClr val="bg1"/>
                </a:solidFill>
              </a:rPr>
              <a:t>Returns output</a:t>
            </a:r>
            <a:endParaRPr lang="en-GB" sz="1400" b="1" dirty="0">
              <a:solidFill>
                <a:schemeClr val="bg1"/>
              </a:solidFill>
            </a:endParaRPr>
          </a:p>
        </p:txBody>
      </p:sp>
      <p:pic>
        <p:nvPicPr>
          <p:cNvPr id="19" name="Picture 18">
            <a:extLst>
              <a:ext uri="{FF2B5EF4-FFF2-40B4-BE49-F238E27FC236}">
                <a16:creationId xmlns:a16="http://schemas.microsoft.com/office/drawing/2014/main" id="{43E84A73-9678-6695-D126-D03336505636}"/>
              </a:ext>
            </a:extLst>
          </p:cNvPr>
          <p:cNvPicPr>
            <a:picLocks noChangeAspect="1"/>
          </p:cNvPicPr>
          <p:nvPr/>
        </p:nvPicPr>
        <p:blipFill>
          <a:blip r:embed="rId4"/>
          <a:stretch>
            <a:fillRect/>
          </a:stretch>
        </p:blipFill>
        <p:spPr>
          <a:xfrm>
            <a:off x="6659794" y="65758"/>
            <a:ext cx="607036" cy="918594"/>
          </a:xfrm>
          <a:prstGeom prst="rect">
            <a:avLst/>
          </a:prstGeom>
        </p:spPr>
      </p:pic>
      <p:sp>
        <p:nvSpPr>
          <p:cNvPr id="20" name="Arrow: Right 19">
            <a:extLst>
              <a:ext uri="{FF2B5EF4-FFF2-40B4-BE49-F238E27FC236}">
                <a16:creationId xmlns:a16="http://schemas.microsoft.com/office/drawing/2014/main" id="{E773F929-1768-B679-48FF-C8A3973394FA}"/>
              </a:ext>
            </a:extLst>
          </p:cNvPr>
          <p:cNvSpPr/>
          <p:nvPr/>
        </p:nvSpPr>
        <p:spPr>
          <a:xfrm>
            <a:off x="7454949" y="367316"/>
            <a:ext cx="342027" cy="22336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23337761-5390-F4B0-CBB5-34C4A4DEEE78}"/>
              </a:ext>
            </a:extLst>
          </p:cNvPr>
          <p:cNvSpPr txBox="1"/>
          <p:nvPr/>
        </p:nvSpPr>
        <p:spPr>
          <a:xfrm>
            <a:off x="6556355" y="997677"/>
            <a:ext cx="844598" cy="307777"/>
          </a:xfrm>
          <a:prstGeom prst="rect">
            <a:avLst/>
          </a:prstGeom>
          <a:solidFill>
            <a:schemeClr val="bg2"/>
          </a:solidFill>
        </p:spPr>
        <p:txBody>
          <a:bodyPr wrap="square" rtlCol="0">
            <a:spAutoFit/>
          </a:bodyPr>
          <a:lstStyle/>
          <a:p>
            <a:pPr algn="ctr"/>
            <a:r>
              <a:rPr lang="en-IN" sz="1400" b="1" dirty="0"/>
              <a:t>Runner</a:t>
            </a:r>
            <a:endParaRPr lang="en-GB" sz="1400" b="1" dirty="0"/>
          </a:p>
        </p:txBody>
      </p:sp>
      <p:pic>
        <p:nvPicPr>
          <p:cNvPr id="22" name="Picture 21">
            <a:extLst>
              <a:ext uri="{FF2B5EF4-FFF2-40B4-BE49-F238E27FC236}">
                <a16:creationId xmlns:a16="http://schemas.microsoft.com/office/drawing/2014/main" id="{C9E5AFFB-85F3-C732-EC58-C443942C4D30}"/>
              </a:ext>
            </a:extLst>
          </p:cNvPr>
          <p:cNvPicPr>
            <a:picLocks noChangeAspect="1"/>
          </p:cNvPicPr>
          <p:nvPr/>
        </p:nvPicPr>
        <p:blipFill>
          <a:blip r:embed="rId2"/>
          <a:stretch>
            <a:fillRect/>
          </a:stretch>
        </p:blipFill>
        <p:spPr>
          <a:xfrm>
            <a:off x="9115496" y="78043"/>
            <a:ext cx="844598" cy="801910"/>
          </a:xfrm>
          <a:prstGeom prst="rect">
            <a:avLst/>
          </a:prstGeom>
        </p:spPr>
      </p:pic>
      <p:sp>
        <p:nvSpPr>
          <p:cNvPr id="23" name="Arrow: Right 22">
            <a:extLst>
              <a:ext uri="{FF2B5EF4-FFF2-40B4-BE49-F238E27FC236}">
                <a16:creationId xmlns:a16="http://schemas.microsoft.com/office/drawing/2014/main" id="{F7E0A9DC-6300-21A4-0341-6595A38B119B}"/>
              </a:ext>
            </a:extLst>
          </p:cNvPr>
          <p:cNvSpPr/>
          <p:nvPr/>
        </p:nvSpPr>
        <p:spPr>
          <a:xfrm>
            <a:off x="8773469" y="377963"/>
            <a:ext cx="342027" cy="22336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24" name="Arrow: Right 23">
            <a:extLst>
              <a:ext uri="{FF2B5EF4-FFF2-40B4-BE49-F238E27FC236}">
                <a16:creationId xmlns:a16="http://schemas.microsoft.com/office/drawing/2014/main" id="{83F2B870-DD8B-16B1-1058-840D829A84EC}"/>
              </a:ext>
            </a:extLst>
          </p:cNvPr>
          <p:cNvSpPr/>
          <p:nvPr/>
        </p:nvSpPr>
        <p:spPr>
          <a:xfrm>
            <a:off x="10032427" y="367315"/>
            <a:ext cx="342027" cy="22336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pic>
        <p:nvPicPr>
          <p:cNvPr id="26" name="Graphic 25">
            <a:extLst>
              <a:ext uri="{FF2B5EF4-FFF2-40B4-BE49-F238E27FC236}">
                <a16:creationId xmlns:a16="http://schemas.microsoft.com/office/drawing/2014/main" id="{93A19F35-FCAC-0A4E-A3A0-DB378ACDE26B}"/>
              </a:ext>
            </a:extLst>
          </p:cNvPr>
          <p:cNvPicPr>
            <a:picLocks noChangeAspect="1"/>
          </p:cNvPicPr>
          <p:nvPr/>
        </p:nvPicPr>
        <p:blipFill>
          <a:blip r:embed="rId5">
            <a:extLst>
              <a:ext uri="{96DAC541-7B7A-43D3-8B79-37D633B846F1}">
                <asvg:svgBlip xmlns:asvg="http://schemas.microsoft.com/office/drawing/2016/SVG/main" r:embed="rId6"/>
              </a:ext>
              <a:ext uri="{837473B0-CC2E-450A-ABE3-18F120FF3D39}">
                <a1611:picAttrSrcUrl xmlns:a1611="http://schemas.microsoft.com/office/drawing/2016/11/main" r:id="rId7"/>
              </a:ext>
            </a:extLst>
          </a:blip>
          <a:stretch>
            <a:fillRect/>
          </a:stretch>
        </p:blipFill>
        <p:spPr>
          <a:xfrm>
            <a:off x="3264757" y="124101"/>
            <a:ext cx="526693" cy="1054004"/>
          </a:xfrm>
          <a:prstGeom prst="rect">
            <a:avLst/>
          </a:prstGeom>
        </p:spPr>
      </p:pic>
      <p:pic>
        <p:nvPicPr>
          <p:cNvPr id="27" name="Graphic 26">
            <a:extLst>
              <a:ext uri="{FF2B5EF4-FFF2-40B4-BE49-F238E27FC236}">
                <a16:creationId xmlns:a16="http://schemas.microsoft.com/office/drawing/2014/main" id="{683C9539-FF2D-A546-11BB-410DBFE3DE52}"/>
              </a:ext>
            </a:extLst>
          </p:cNvPr>
          <p:cNvPicPr>
            <a:picLocks noChangeAspect="1"/>
          </p:cNvPicPr>
          <p:nvPr/>
        </p:nvPicPr>
        <p:blipFill>
          <a:blip r:embed="rId5">
            <a:extLst>
              <a:ext uri="{96DAC541-7B7A-43D3-8B79-37D633B846F1}">
                <asvg:svgBlip xmlns:asvg="http://schemas.microsoft.com/office/drawing/2016/SVG/main" r:embed="rId6"/>
              </a:ext>
              <a:ext uri="{837473B0-CC2E-450A-ABE3-18F120FF3D39}">
                <a1611:picAttrSrcUrl xmlns:a1611="http://schemas.microsoft.com/office/drawing/2016/11/main" r:id="rId7"/>
              </a:ext>
            </a:extLst>
          </a:blip>
          <a:stretch>
            <a:fillRect/>
          </a:stretch>
        </p:blipFill>
        <p:spPr>
          <a:xfrm>
            <a:off x="10437469" y="90848"/>
            <a:ext cx="526693" cy="1054004"/>
          </a:xfrm>
          <a:prstGeom prst="rect">
            <a:avLst/>
          </a:prstGeom>
        </p:spPr>
      </p:pic>
    </p:spTree>
    <p:extLst>
      <p:ext uri="{BB962C8B-B14F-4D97-AF65-F5344CB8AC3E}">
        <p14:creationId xmlns:p14="http://schemas.microsoft.com/office/powerpoint/2010/main" val="3927799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B6773-F51B-24A1-A43E-444D087F1ACF}"/>
              </a:ext>
            </a:extLst>
          </p:cNvPr>
          <p:cNvSpPr>
            <a:spLocks noGrp="1"/>
          </p:cNvSpPr>
          <p:nvPr>
            <p:ph type="title"/>
          </p:nvPr>
        </p:nvSpPr>
        <p:spPr>
          <a:xfrm>
            <a:off x="283856" y="80842"/>
            <a:ext cx="10515600" cy="639614"/>
          </a:xfrm>
        </p:spPr>
        <p:txBody>
          <a:bodyPr>
            <a:normAutofit fontScale="90000"/>
          </a:bodyPr>
          <a:lstStyle/>
          <a:p>
            <a:r>
              <a:rPr lang="en-IN" dirty="0"/>
              <a:t>Function (Tool) Calling</a:t>
            </a:r>
            <a:endParaRPr lang="en-GB" dirty="0"/>
          </a:p>
        </p:txBody>
      </p:sp>
      <p:sp>
        <p:nvSpPr>
          <p:cNvPr id="3" name="Content Placeholder 2">
            <a:extLst>
              <a:ext uri="{FF2B5EF4-FFF2-40B4-BE49-F238E27FC236}">
                <a16:creationId xmlns:a16="http://schemas.microsoft.com/office/drawing/2014/main" id="{D2ECFC0D-BDA4-3086-CACB-D602D8BE0273}"/>
              </a:ext>
            </a:extLst>
          </p:cNvPr>
          <p:cNvSpPr>
            <a:spLocks noGrp="1"/>
          </p:cNvSpPr>
          <p:nvPr>
            <p:ph idx="1"/>
          </p:nvPr>
        </p:nvSpPr>
        <p:spPr/>
        <p:txBody>
          <a:bodyPr/>
          <a:lstStyle/>
          <a:p>
            <a:endParaRPr lang="en-GB" dirty="0"/>
          </a:p>
        </p:txBody>
      </p:sp>
      <p:sp>
        <p:nvSpPr>
          <p:cNvPr id="4" name="TextBox 3">
            <a:extLst>
              <a:ext uri="{FF2B5EF4-FFF2-40B4-BE49-F238E27FC236}">
                <a16:creationId xmlns:a16="http://schemas.microsoft.com/office/drawing/2014/main" id="{5EEF4B2D-B96C-5E8D-8A33-E283CF955E49}"/>
              </a:ext>
            </a:extLst>
          </p:cNvPr>
          <p:cNvSpPr txBox="1"/>
          <p:nvPr/>
        </p:nvSpPr>
        <p:spPr>
          <a:xfrm>
            <a:off x="174503" y="788758"/>
            <a:ext cx="5828427" cy="2769989"/>
          </a:xfrm>
          <a:prstGeom prst="rect">
            <a:avLst/>
          </a:prstGeom>
          <a:solidFill>
            <a:schemeClr val="accent4">
              <a:lumMod val="20000"/>
              <a:lumOff val="80000"/>
            </a:schemeClr>
          </a:solidFill>
        </p:spPr>
        <p:txBody>
          <a:bodyPr wrap="square" rtlCol="0">
            <a:spAutoFit/>
          </a:bodyPr>
          <a:lstStyle/>
          <a:p>
            <a:r>
              <a:rPr lang="en-IN" b="1" dirty="0"/>
              <a:t>Step 1: Write the actual function</a:t>
            </a:r>
            <a:endParaRPr lang="en-IN" sz="1200" b="1" dirty="0"/>
          </a:p>
          <a:p>
            <a:endParaRPr lang="en-IN" sz="1200" dirty="0"/>
          </a:p>
          <a:p>
            <a:r>
              <a:rPr lang="en-US" b="1" dirty="0">
                <a:solidFill>
                  <a:srgbClr val="FF0000"/>
                </a:solidFill>
              </a:rPr>
              <a:t>@function_tool</a:t>
            </a:r>
          </a:p>
          <a:p>
            <a:r>
              <a:rPr lang="en-US" dirty="0"/>
              <a:t>async def </a:t>
            </a:r>
            <a:r>
              <a:rPr lang="en-US" dirty="0" err="1"/>
              <a:t>faq_invoker</a:t>
            </a:r>
            <a:r>
              <a:rPr lang="en-US" dirty="0"/>
              <a:t>(topic: str) -&gt; str:</a:t>
            </a:r>
          </a:p>
          <a:p>
            <a:r>
              <a:rPr lang="en-US" dirty="0"/>
              <a:t>    </a:t>
            </a:r>
            <a:r>
              <a:rPr lang="en-US" dirty="0" err="1"/>
              <a:t>user_query</a:t>
            </a:r>
            <a:r>
              <a:rPr lang="en-US" dirty="0"/>
              <a:t> = </a:t>
            </a:r>
            <a:r>
              <a:rPr lang="en-US" dirty="0" err="1"/>
              <a:t>topic.lower</a:t>
            </a:r>
            <a:r>
              <a:rPr lang="en-US" dirty="0"/>
              <a:t>()</a:t>
            </a:r>
          </a:p>
          <a:p>
            <a:r>
              <a:rPr lang="en-US" dirty="0"/>
              <a:t>    for </a:t>
            </a:r>
            <a:r>
              <a:rPr lang="en-US" dirty="0" err="1"/>
              <a:t>topic_key</a:t>
            </a:r>
            <a:r>
              <a:rPr lang="en-US" dirty="0"/>
              <a:t>, answer in  	</a:t>
            </a:r>
            <a:r>
              <a:rPr lang="en-US" dirty="0" err="1"/>
              <a:t>knowledge_base.items</a:t>
            </a:r>
            <a:r>
              <a:rPr lang="en-US" dirty="0"/>
              <a:t>():</a:t>
            </a:r>
          </a:p>
          <a:p>
            <a:r>
              <a:rPr lang="en-US" dirty="0"/>
              <a:t>        if </a:t>
            </a:r>
            <a:r>
              <a:rPr lang="en-US" dirty="0" err="1"/>
              <a:t>topic_key</a:t>
            </a:r>
            <a:r>
              <a:rPr lang="en-US" dirty="0"/>
              <a:t> in </a:t>
            </a:r>
            <a:r>
              <a:rPr lang="en-US" dirty="0" err="1"/>
              <a:t>user_query</a:t>
            </a:r>
            <a:r>
              <a:rPr lang="en-US" dirty="0"/>
              <a:t>:</a:t>
            </a:r>
          </a:p>
          <a:p>
            <a:r>
              <a:rPr lang="en-US" dirty="0"/>
              <a:t>            return answer</a:t>
            </a:r>
          </a:p>
          <a:p>
            <a:r>
              <a:rPr lang="en-US" dirty="0"/>
              <a:t>        return (</a:t>
            </a:r>
          </a:p>
          <a:p>
            <a:r>
              <a:rPr lang="en-US" dirty="0"/>
              <a:t>           "I'm sorry …    )</a:t>
            </a:r>
            <a:endParaRPr lang="en-GB" sz="1200" dirty="0">
              <a:latin typeface="Cascadia Mono" panose="020B0609020000020004" pitchFamily="49" charset="0"/>
              <a:cs typeface="Cascadia Mono" panose="020B0609020000020004" pitchFamily="49" charset="0"/>
            </a:endParaRPr>
          </a:p>
        </p:txBody>
      </p:sp>
      <p:sp>
        <p:nvSpPr>
          <p:cNvPr id="10" name="TextBox 9">
            <a:extLst>
              <a:ext uri="{FF2B5EF4-FFF2-40B4-BE49-F238E27FC236}">
                <a16:creationId xmlns:a16="http://schemas.microsoft.com/office/drawing/2014/main" id="{2B6B1585-4EBB-CE30-32FE-FFA9B1095CDF}"/>
              </a:ext>
            </a:extLst>
          </p:cNvPr>
          <p:cNvSpPr txBox="1"/>
          <p:nvPr/>
        </p:nvSpPr>
        <p:spPr>
          <a:xfrm>
            <a:off x="4111310" y="3627049"/>
            <a:ext cx="6282136" cy="2769989"/>
          </a:xfrm>
          <a:prstGeom prst="rect">
            <a:avLst/>
          </a:prstGeom>
          <a:solidFill>
            <a:schemeClr val="accent4">
              <a:lumMod val="20000"/>
              <a:lumOff val="80000"/>
            </a:schemeClr>
          </a:solidFill>
        </p:spPr>
        <p:txBody>
          <a:bodyPr wrap="square" rtlCol="0">
            <a:spAutoFit/>
          </a:bodyPr>
          <a:lstStyle/>
          <a:p>
            <a:r>
              <a:rPr lang="en-IN" b="1" dirty="0"/>
              <a:t>Step 2: Define the Agent with the Tool</a:t>
            </a:r>
            <a:endParaRPr lang="en-IN" sz="1200" b="1" dirty="0"/>
          </a:p>
          <a:p>
            <a:endParaRPr lang="en-IN" sz="1200" dirty="0"/>
          </a:p>
          <a:p>
            <a:r>
              <a:rPr lang="en-US" dirty="0" err="1"/>
              <a:t>faq_agent</a:t>
            </a:r>
            <a:r>
              <a:rPr lang="en-US" dirty="0"/>
              <a:t> = Agent(</a:t>
            </a:r>
          </a:p>
          <a:p>
            <a:r>
              <a:rPr lang="en-US" dirty="0"/>
              <a:t>    name="Customer Support Bot",</a:t>
            </a:r>
          </a:p>
          <a:p>
            <a:r>
              <a:rPr lang="en-US" dirty="0"/>
              <a:t>    instructions=(</a:t>
            </a:r>
          </a:p>
          <a:p>
            <a:r>
              <a:rPr lang="en-US" dirty="0"/>
              <a:t>        "You are a helpful customer support assistant. "</a:t>
            </a:r>
          </a:p>
          <a:p>
            <a:r>
              <a:rPr lang="en-US" dirty="0"/>
              <a:t>        "Answer questions using your FAQ tool when appropriate."</a:t>
            </a:r>
          </a:p>
          <a:p>
            <a:r>
              <a:rPr lang="en-US" dirty="0"/>
              <a:t>    ),</a:t>
            </a:r>
          </a:p>
          <a:p>
            <a:r>
              <a:rPr lang="en-US" dirty="0"/>
              <a:t>    </a:t>
            </a:r>
            <a:r>
              <a:rPr lang="en-US" b="1" dirty="0">
                <a:solidFill>
                  <a:srgbClr val="FF0000"/>
                </a:solidFill>
              </a:rPr>
              <a:t>tools</a:t>
            </a:r>
            <a:r>
              <a:rPr lang="en-US" dirty="0"/>
              <a:t>=[</a:t>
            </a:r>
            <a:r>
              <a:rPr lang="en-US" dirty="0" err="1"/>
              <a:t>faq_invoker</a:t>
            </a:r>
            <a:r>
              <a:rPr lang="en-US" dirty="0"/>
              <a:t>]</a:t>
            </a:r>
          </a:p>
          <a:p>
            <a:r>
              <a:rPr lang="en-US" dirty="0"/>
              <a:t>)</a:t>
            </a:r>
            <a:endParaRPr lang="en-US" sz="1200" dirty="0">
              <a:latin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2691050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B774E-EF52-A8EF-EC7D-7D4527CCD93B}"/>
              </a:ext>
            </a:extLst>
          </p:cNvPr>
          <p:cNvSpPr>
            <a:spLocks noGrp="1"/>
          </p:cNvSpPr>
          <p:nvPr>
            <p:ph type="title"/>
          </p:nvPr>
        </p:nvSpPr>
        <p:spPr/>
        <p:txBody>
          <a:bodyPr/>
          <a:lstStyle/>
          <a:p>
            <a:r>
              <a:rPr lang="en-IN" dirty="0"/>
              <a:t>Vectors and Embedding</a:t>
            </a:r>
            <a:endParaRPr lang="en-GB" dirty="0"/>
          </a:p>
        </p:txBody>
      </p:sp>
      <p:graphicFrame>
        <p:nvGraphicFramePr>
          <p:cNvPr id="4" name="Content Placeholder 3">
            <a:extLst>
              <a:ext uri="{FF2B5EF4-FFF2-40B4-BE49-F238E27FC236}">
                <a16:creationId xmlns:a16="http://schemas.microsoft.com/office/drawing/2014/main" id="{3D4F98F4-5D11-231B-2FB5-6B27BB976279}"/>
              </a:ext>
            </a:extLst>
          </p:cNvPr>
          <p:cNvGraphicFramePr>
            <a:graphicFrameLocks noGrp="1"/>
          </p:cNvGraphicFramePr>
          <p:nvPr>
            <p:ph idx="1"/>
          </p:nvPr>
        </p:nvGraphicFramePr>
        <p:xfrm>
          <a:off x="572374" y="1796834"/>
          <a:ext cx="10781427" cy="4782722"/>
        </p:xfrm>
        <a:graphic>
          <a:graphicData uri="http://schemas.openxmlformats.org/drawingml/2006/table">
            <a:tbl>
              <a:tblPr/>
              <a:tblGrid>
                <a:gridCol w="1626374">
                  <a:extLst>
                    <a:ext uri="{9D8B030D-6E8A-4147-A177-3AD203B41FA5}">
                      <a16:colId xmlns:a16="http://schemas.microsoft.com/office/drawing/2014/main" val="557192986"/>
                    </a:ext>
                  </a:extLst>
                </a:gridCol>
                <a:gridCol w="4299774">
                  <a:extLst>
                    <a:ext uri="{9D8B030D-6E8A-4147-A177-3AD203B41FA5}">
                      <a16:colId xmlns:a16="http://schemas.microsoft.com/office/drawing/2014/main" val="1311005330"/>
                    </a:ext>
                  </a:extLst>
                </a:gridCol>
                <a:gridCol w="4855279">
                  <a:extLst>
                    <a:ext uri="{9D8B030D-6E8A-4147-A177-3AD203B41FA5}">
                      <a16:colId xmlns:a16="http://schemas.microsoft.com/office/drawing/2014/main" val="3362915879"/>
                    </a:ext>
                  </a:extLst>
                </a:gridCol>
              </a:tblGrid>
              <a:tr h="220321">
                <a:tc>
                  <a:txBody>
                    <a:bodyPr/>
                    <a:lstStyle/>
                    <a:p>
                      <a:pPr>
                        <a:buNone/>
                      </a:pPr>
                      <a:r>
                        <a:rPr lang="en-GB" sz="1600" b="1"/>
                        <a:t>Concept</a:t>
                      </a:r>
                      <a:endParaRPr lang="en-GB" sz="16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b="1"/>
                        <a:t>Description</a:t>
                      </a:r>
                      <a:endParaRPr lang="en-GB" sz="16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b="1"/>
                        <a:t>Example / Analogy</a:t>
                      </a:r>
                      <a:endParaRPr lang="en-GB" sz="16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14890375"/>
                  </a:ext>
                </a:extLst>
              </a:tr>
              <a:tr h="550802">
                <a:tc>
                  <a:txBody>
                    <a:bodyPr/>
                    <a:lstStyle/>
                    <a:p>
                      <a:pPr>
                        <a:buNone/>
                      </a:pPr>
                      <a:r>
                        <a:rPr lang="en-GB" sz="1600" b="1"/>
                        <a:t>Vector</a:t>
                      </a:r>
                      <a:endParaRPr lang="en-GB" sz="16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A list of numbers that represent something (like a word, sentence, or image) in a mathematical space</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Example: “return policy” → [0.12, -0.33, 0.87, …]</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284149903"/>
                  </a:ext>
                </a:extLst>
              </a:tr>
              <a:tr h="716043">
                <a:tc>
                  <a:txBody>
                    <a:bodyPr/>
                    <a:lstStyle/>
                    <a:p>
                      <a:pPr>
                        <a:buNone/>
                      </a:pPr>
                      <a:r>
                        <a:rPr lang="en-GB" sz="1600" b="1"/>
                        <a:t>Embedding</a:t>
                      </a:r>
                      <a:endParaRPr lang="en-GB" sz="16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The process of </a:t>
                      </a:r>
                      <a:r>
                        <a:rPr lang="en-US" sz="1600" b="1" dirty="0"/>
                        <a:t>converting text (or other data)</a:t>
                      </a:r>
                      <a:r>
                        <a:rPr lang="en-US" sz="1600" dirty="0"/>
                        <a:t> into a high-dimensional </a:t>
                      </a:r>
                      <a:r>
                        <a:rPr lang="en-US" sz="1600" b="1" dirty="0"/>
                        <a:t>vector</a:t>
                      </a:r>
                      <a:r>
                        <a:rPr lang="en-US" sz="1600" dirty="0"/>
                        <a:t> that captures its meaning and relationships</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Like mapping words onto coordinates in a “meaning space”</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71406299"/>
                  </a:ext>
                </a:extLst>
              </a:tr>
              <a:tr h="716043">
                <a:tc>
                  <a:txBody>
                    <a:bodyPr/>
                    <a:lstStyle/>
                    <a:p>
                      <a:pPr>
                        <a:buNone/>
                      </a:pPr>
                      <a:r>
                        <a:rPr lang="en-GB" sz="1600" b="1"/>
                        <a:t>Purpose</a:t>
                      </a:r>
                      <a:endParaRPr lang="en-GB" sz="16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Helps AI measure </a:t>
                      </a:r>
                      <a:r>
                        <a:rPr lang="en-US" sz="1600" b="1" dirty="0"/>
                        <a:t>semantic similarity</a:t>
                      </a:r>
                      <a:r>
                        <a:rPr lang="en-US" sz="1600" dirty="0"/>
                        <a:t> — phrases with similar meaning are closer together in vector space</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“Shipping time” and “delivery speed” have vectors close together</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949119898"/>
                  </a:ext>
                </a:extLst>
              </a:tr>
              <a:tr h="716043">
                <a:tc>
                  <a:txBody>
                    <a:bodyPr/>
                    <a:lstStyle/>
                    <a:p>
                      <a:pPr>
                        <a:buNone/>
                      </a:pPr>
                      <a:r>
                        <a:rPr lang="en-GB" sz="1600" b="1" dirty="0"/>
                        <a:t>How Used</a:t>
                      </a:r>
                      <a:endParaRPr lang="en-GB" sz="1600" dirty="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Semantic search, Recommendation systems, Question–answer matching, Clustering and classification</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N" sz="1600" dirty="0"/>
                        <a:t>Search for </a:t>
                      </a:r>
                      <a:r>
                        <a:rPr lang="en-IN" sz="1600" i="1" dirty="0"/>
                        <a:t>refund </a:t>
                      </a:r>
                      <a:r>
                        <a:rPr lang="en-IN" sz="1600" i="0" dirty="0"/>
                        <a:t>when the customer says </a:t>
                      </a:r>
                      <a:r>
                        <a:rPr lang="en-IN" sz="1600" i="1" dirty="0"/>
                        <a:t>return</a:t>
                      </a:r>
                      <a:endParaRPr lang="en-GB" sz="1600" dirty="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58163357"/>
                  </a:ext>
                </a:extLst>
              </a:tr>
              <a:tr h="716043">
                <a:tc>
                  <a:txBody>
                    <a:bodyPr/>
                    <a:lstStyle/>
                    <a:p>
                      <a:pPr>
                        <a:buNone/>
                      </a:pPr>
                      <a:r>
                        <a:rPr lang="en-GB" sz="1600" b="1"/>
                        <a:t>Key Idea</a:t>
                      </a:r>
                      <a:endParaRPr lang="en-GB" sz="16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Similar meaning → </a:t>
                      </a:r>
                      <a:r>
                        <a:rPr lang="en-US" sz="1600" b="1" dirty="0"/>
                        <a:t>similar vectors</a:t>
                      </a:r>
                      <a:r>
                        <a:rPr lang="en-US" sz="1600" dirty="0"/>
                        <a:t> (small distance) Different meaning → </a:t>
                      </a:r>
                      <a:r>
                        <a:rPr lang="en-US" sz="1600" b="1" dirty="0"/>
                        <a:t>different vectors</a:t>
                      </a:r>
                      <a:r>
                        <a:rPr lang="en-US" sz="1600" dirty="0"/>
                        <a:t> (large distance)</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Visualize as points close or far apart on a map</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6815502"/>
                  </a:ext>
                </a:extLst>
              </a:tr>
              <a:tr h="716043">
                <a:tc>
                  <a:txBody>
                    <a:bodyPr/>
                    <a:lstStyle/>
                    <a:p>
                      <a:pPr>
                        <a:buNone/>
                      </a:pPr>
                      <a:r>
                        <a:rPr lang="en-GB" sz="1600" b="1"/>
                        <a:t>Generated By</a:t>
                      </a:r>
                      <a:endParaRPr lang="en-GB" sz="1600"/>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LLMs or specialized models like </a:t>
                      </a:r>
                      <a:r>
                        <a:rPr lang="en-US" sz="1600" b="1" dirty="0"/>
                        <a:t>text-embedding-3-small / large (OpenAI)</a:t>
                      </a:r>
                      <a:r>
                        <a:rPr lang="en-US" sz="1600" dirty="0"/>
                        <a:t> or </a:t>
                      </a:r>
                      <a:r>
                        <a:rPr lang="en-US" sz="1600" b="1" dirty="0"/>
                        <a:t>e5 / Instructor / MTEB</a:t>
                      </a:r>
                      <a:r>
                        <a:rPr lang="en-US" sz="1600" dirty="0"/>
                        <a:t> models</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Used in RAG, chatbots, and knowledge bases</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821238511"/>
                  </a:ext>
                </a:extLst>
              </a:tr>
            </a:tbl>
          </a:graphicData>
        </a:graphic>
      </p:graphicFrame>
    </p:spTree>
    <p:extLst>
      <p:ext uri="{BB962C8B-B14F-4D97-AF65-F5344CB8AC3E}">
        <p14:creationId xmlns:p14="http://schemas.microsoft.com/office/powerpoint/2010/main" val="1347556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977F8-752E-3F4A-B59C-633218FC1A63}"/>
              </a:ext>
            </a:extLst>
          </p:cNvPr>
          <p:cNvSpPr>
            <a:spLocks noGrp="1"/>
          </p:cNvSpPr>
          <p:nvPr>
            <p:ph type="title"/>
          </p:nvPr>
        </p:nvSpPr>
        <p:spPr/>
        <p:txBody>
          <a:bodyPr/>
          <a:lstStyle/>
          <a:p>
            <a:r>
              <a:rPr lang="en-IN" dirty="0"/>
              <a:t>Vector Embeddings and Semantic Search</a:t>
            </a:r>
            <a:endParaRPr lang="en-GB" dirty="0"/>
          </a:p>
        </p:txBody>
      </p:sp>
      <p:pic>
        <p:nvPicPr>
          <p:cNvPr id="35" name="Content Placeholder 34">
            <a:extLst>
              <a:ext uri="{FF2B5EF4-FFF2-40B4-BE49-F238E27FC236}">
                <a16:creationId xmlns:a16="http://schemas.microsoft.com/office/drawing/2014/main" id="{56B83647-FC61-3BC6-D1B4-323907F145BC}"/>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716365" y="4413602"/>
            <a:ext cx="846322" cy="1024121"/>
          </a:xfrm>
        </p:spPr>
      </p:pic>
      <p:sp>
        <p:nvSpPr>
          <p:cNvPr id="4" name="Rectangle: Folded Corner 3">
            <a:extLst>
              <a:ext uri="{FF2B5EF4-FFF2-40B4-BE49-F238E27FC236}">
                <a16:creationId xmlns:a16="http://schemas.microsoft.com/office/drawing/2014/main" id="{1B91BE74-7585-0B90-418D-90804E673B85}"/>
              </a:ext>
            </a:extLst>
          </p:cNvPr>
          <p:cNvSpPr/>
          <p:nvPr/>
        </p:nvSpPr>
        <p:spPr>
          <a:xfrm>
            <a:off x="527002" y="4215323"/>
            <a:ext cx="746876" cy="788757"/>
          </a:xfrm>
          <a:prstGeom prst="foldedCorner">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Folded Corner 4">
            <a:extLst>
              <a:ext uri="{FF2B5EF4-FFF2-40B4-BE49-F238E27FC236}">
                <a16:creationId xmlns:a16="http://schemas.microsoft.com/office/drawing/2014/main" id="{4F0790B5-0301-350C-20AF-D0EB4A2FC583}"/>
              </a:ext>
            </a:extLst>
          </p:cNvPr>
          <p:cNvSpPr/>
          <p:nvPr/>
        </p:nvSpPr>
        <p:spPr>
          <a:xfrm>
            <a:off x="679402" y="4367723"/>
            <a:ext cx="746876" cy="788757"/>
          </a:xfrm>
          <a:prstGeom prst="foldedCorner">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Folded Corner 5">
            <a:extLst>
              <a:ext uri="{FF2B5EF4-FFF2-40B4-BE49-F238E27FC236}">
                <a16:creationId xmlns:a16="http://schemas.microsoft.com/office/drawing/2014/main" id="{F610827A-DE8E-1933-E3AA-7425AF5E9F62}"/>
              </a:ext>
            </a:extLst>
          </p:cNvPr>
          <p:cNvSpPr/>
          <p:nvPr/>
        </p:nvSpPr>
        <p:spPr>
          <a:xfrm>
            <a:off x="831802" y="4520123"/>
            <a:ext cx="746876" cy="788757"/>
          </a:xfrm>
          <a:prstGeom prst="foldedCorner">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Folded Corner 6">
            <a:extLst>
              <a:ext uri="{FF2B5EF4-FFF2-40B4-BE49-F238E27FC236}">
                <a16:creationId xmlns:a16="http://schemas.microsoft.com/office/drawing/2014/main" id="{79356709-8D09-696D-DD4A-FA6BED105464}"/>
              </a:ext>
            </a:extLst>
          </p:cNvPr>
          <p:cNvSpPr/>
          <p:nvPr/>
        </p:nvSpPr>
        <p:spPr>
          <a:xfrm>
            <a:off x="984202" y="4672523"/>
            <a:ext cx="746876" cy="788757"/>
          </a:xfrm>
          <a:prstGeom prst="foldedCorner">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F122CC8D-E1CB-70AA-C638-B03941132A85}"/>
              </a:ext>
            </a:extLst>
          </p:cNvPr>
          <p:cNvSpPr txBox="1"/>
          <p:nvPr/>
        </p:nvSpPr>
        <p:spPr>
          <a:xfrm>
            <a:off x="397869" y="5468333"/>
            <a:ext cx="1654296" cy="523220"/>
          </a:xfrm>
          <a:prstGeom prst="rect">
            <a:avLst/>
          </a:prstGeom>
          <a:noFill/>
        </p:spPr>
        <p:txBody>
          <a:bodyPr wrap="square" rtlCol="0">
            <a:spAutoFit/>
          </a:bodyPr>
          <a:lstStyle/>
          <a:p>
            <a:pPr algn="ctr"/>
            <a:r>
              <a:rPr lang="en-IN" sz="1400" dirty="0"/>
              <a:t>Our documents (PDF/Text/JSON/…)</a:t>
            </a:r>
            <a:endParaRPr lang="en-GB" sz="1400" dirty="0"/>
          </a:p>
        </p:txBody>
      </p:sp>
      <p:cxnSp>
        <p:nvCxnSpPr>
          <p:cNvPr id="10" name="Straight Arrow Connector 9">
            <a:extLst>
              <a:ext uri="{FF2B5EF4-FFF2-40B4-BE49-F238E27FC236}">
                <a16:creationId xmlns:a16="http://schemas.microsoft.com/office/drawing/2014/main" id="{1E0C9082-E883-7E32-CEF3-5DF94250718D}"/>
              </a:ext>
            </a:extLst>
          </p:cNvPr>
          <p:cNvCxnSpPr>
            <a:cxnSpLocks/>
          </p:cNvCxnSpPr>
          <p:nvPr/>
        </p:nvCxnSpPr>
        <p:spPr>
          <a:xfrm>
            <a:off x="1745038" y="5081550"/>
            <a:ext cx="4397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4391463-2372-6C61-4804-664DADDA25D3}"/>
              </a:ext>
            </a:extLst>
          </p:cNvPr>
          <p:cNvSpPr txBox="1"/>
          <p:nvPr/>
        </p:nvSpPr>
        <p:spPr>
          <a:xfrm>
            <a:off x="2194678" y="4806600"/>
            <a:ext cx="918471" cy="523220"/>
          </a:xfrm>
          <a:prstGeom prst="rect">
            <a:avLst/>
          </a:prstGeom>
          <a:noFill/>
          <a:ln w="25400">
            <a:solidFill>
              <a:schemeClr val="tx1"/>
            </a:solidFill>
          </a:ln>
        </p:spPr>
        <p:txBody>
          <a:bodyPr wrap="square" rtlCol="0">
            <a:spAutoFit/>
          </a:bodyPr>
          <a:lstStyle/>
          <a:p>
            <a:pPr algn="ctr"/>
            <a:r>
              <a:rPr lang="en-IN" sz="1400" dirty="0"/>
              <a:t>Extract content</a:t>
            </a:r>
            <a:endParaRPr lang="en-GB" sz="1400" dirty="0"/>
          </a:p>
        </p:txBody>
      </p:sp>
      <p:cxnSp>
        <p:nvCxnSpPr>
          <p:cNvPr id="13" name="Straight Arrow Connector 12">
            <a:extLst>
              <a:ext uri="{FF2B5EF4-FFF2-40B4-BE49-F238E27FC236}">
                <a16:creationId xmlns:a16="http://schemas.microsoft.com/office/drawing/2014/main" id="{DB2C5EA3-A983-F2BB-7094-BCCE5A2EF758}"/>
              </a:ext>
            </a:extLst>
          </p:cNvPr>
          <p:cNvCxnSpPr>
            <a:cxnSpLocks/>
          </p:cNvCxnSpPr>
          <p:nvPr/>
        </p:nvCxnSpPr>
        <p:spPr>
          <a:xfrm>
            <a:off x="3113149" y="5081550"/>
            <a:ext cx="439750"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97C7DE4-C332-DB13-ECC5-17150BE30189}"/>
              </a:ext>
            </a:extLst>
          </p:cNvPr>
          <p:cNvSpPr txBox="1"/>
          <p:nvPr/>
        </p:nvSpPr>
        <p:spPr>
          <a:xfrm>
            <a:off x="4029298" y="3781683"/>
            <a:ext cx="918471" cy="523220"/>
          </a:xfrm>
          <a:prstGeom prst="rect">
            <a:avLst/>
          </a:prstGeom>
          <a:noFill/>
          <a:ln w="25400">
            <a:solidFill>
              <a:schemeClr val="tx1"/>
            </a:solidFill>
          </a:ln>
        </p:spPr>
        <p:txBody>
          <a:bodyPr wrap="square" rtlCol="0">
            <a:spAutoFit/>
          </a:bodyPr>
          <a:lstStyle/>
          <a:p>
            <a:pPr algn="ctr"/>
            <a:r>
              <a:rPr lang="en-IN" sz="1400" dirty="0"/>
              <a:t>Text chunk</a:t>
            </a:r>
            <a:endParaRPr lang="en-GB" sz="1400" dirty="0"/>
          </a:p>
        </p:txBody>
      </p:sp>
      <p:sp>
        <p:nvSpPr>
          <p:cNvPr id="15" name="TextBox 14">
            <a:extLst>
              <a:ext uri="{FF2B5EF4-FFF2-40B4-BE49-F238E27FC236}">
                <a16:creationId xmlns:a16="http://schemas.microsoft.com/office/drawing/2014/main" id="{9F13883B-B405-3428-B6A6-330D169DB5C2}"/>
              </a:ext>
            </a:extLst>
          </p:cNvPr>
          <p:cNvSpPr txBox="1"/>
          <p:nvPr/>
        </p:nvSpPr>
        <p:spPr>
          <a:xfrm>
            <a:off x="4029297" y="4348093"/>
            <a:ext cx="918471" cy="523220"/>
          </a:xfrm>
          <a:prstGeom prst="rect">
            <a:avLst/>
          </a:prstGeom>
          <a:noFill/>
          <a:ln w="25400">
            <a:solidFill>
              <a:schemeClr val="tx1"/>
            </a:solidFill>
          </a:ln>
        </p:spPr>
        <p:txBody>
          <a:bodyPr wrap="square" rtlCol="0">
            <a:spAutoFit/>
          </a:bodyPr>
          <a:lstStyle/>
          <a:p>
            <a:pPr algn="ctr"/>
            <a:r>
              <a:rPr lang="en-IN" sz="1400" dirty="0"/>
              <a:t>Text chunk</a:t>
            </a:r>
            <a:endParaRPr lang="en-GB" sz="1400" dirty="0"/>
          </a:p>
        </p:txBody>
      </p:sp>
      <p:sp>
        <p:nvSpPr>
          <p:cNvPr id="16" name="TextBox 15">
            <a:extLst>
              <a:ext uri="{FF2B5EF4-FFF2-40B4-BE49-F238E27FC236}">
                <a16:creationId xmlns:a16="http://schemas.microsoft.com/office/drawing/2014/main" id="{2EC79BA7-2D2F-C947-A251-22834FE03E98}"/>
              </a:ext>
            </a:extLst>
          </p:cNvPr>
          <p:cNvSpPr txBox="1"/>
          <p:nvPr/>
        </p:nvSpPr>
        <p:spPr>
          <a:xfrm>
            <a:off x="4029297" y="4914503"/>
            <a:ext cx="918471" cy="523220"/>
          </a:xfrm>
          <a:prstGeom prst="rect">
            <a:avLst/>
          </a:prstGeom>
          <a:noFill/>
          <a:ln w="25400">
            <a:solidFill>
              <a:schemeClr val="tx1"/>
            </a:solidFill>
          </a:ln>
        </p:spPr>
        <p:txBody>
          <a:bodyPr wrap="square" rtlCol="0">
            <a:spAutoFit/>
          </a:bodyPr>
          <a:lstStyle/>
          <a:p>
            <a:pPr algn="ctr"/>
            <a:r>
              <a:rPr lang="en-IN" sz="1400" dirty="0"/>
              <a:t>Text chunk</a:t>
            </a:r>
            <a:endParaRPr lang="en-GB" sz="1400" dirty="0"/>
          </a:p>
        </p:txBody>
      </p:sp>
      <p:sp>
        <p:nvSpPr>
          <p:cNvPr id="17" name="TextBox 16">
            <a:extLst>
              <a:ext uri="{FF2B5EF4-FFF2-40B4-BE49-F238E27FC236}">
                <a16:creationId xmlns:a16="http://schemas.microsoft.com/office/drawing/2014/main" id="{7E27E421-DEF6-9385-8F70-C4A350EC595B}"/>
              </a:ext>
            </a:extLst>
          </p:cNvPr>
          <p:cNvSpPr txBox="1"/>
          <p:nvPr/>
        </p:nvSpPr>
        <p:spPr>
          <a:xfrm>
            <a:off x="4029296" y="5480913"/>
            <a:ext cx="918471" cy="523220"/>
          </a:xfrm>
          <a:prstGeom prst="rect">
            <a:avLst/>
          </a:prstGeom>
          <a:noFill/>
          <a:ln w="25400">
            <a:solidFill>
              <a:schemeClr val="tx1"/>
            </a:solidFill>
          </a:ln>
        </p:spPr>
        <p:txBody>
          <a:bodyPr wrap="square" rtlCol="0">
            <a:spAutoFit/>
          </a:bodyPr>
          <a:lstStyle/>
          <a:p>
            <a:pPr algn="ctr"/>
            <a:r>
              <a:rPr lang="en-IN" sz="1400" dirty="0"/>
              <a:t>Text chunk</a:t>
            </a:r>
            <a:endParaRPr lang="en-GB" sz="1400" dirty="0"/>
          </a:p>
        </p:txBody>
      </p:sp>
      <p:cxnSp>
        <p:nvCxnSpPr>
          <p:cNvPr id="19" name="Straight Connector 18">
            <a:extLst>
              <a:ext uri="{FF2B5EF4-FFF2-40B4-BE49-F238E27FC236}">
                <a16:creationId xmlns:a16="http://schemas.microsoft.com/office/drawing/2014/main" id="{1B73C23E-DAEE-DB7B-ECA1-4D27F5086174}"/>
              </a:ext>
            </a:extLst>
          </p:cNvPr>
          <p:cNvCxnSpPr>
            <a:cxnSpLocks/>
          </p:cNvCxnSpPr>
          <p:nvPr/>
        </p:nvCxnSpPr>
        <p:spPr>
          <a:xfrm>
            <a:off x="3552899" y="4041508"/>
            <a:ext cx="0" cy="170664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CD5A5FA-B626-7CD0-1321-4A1ADE6E5396}"/>
              </a:ext>
            </a:extLst>
          </p:cNvPr>
          <p:cNvCxnSpPr>
            <a:cxnSpLocks/>
          </p:cNvCxnSpPr>
          <p:nvPr/>
        </p:nvCxnSpPr>
        <p:spPr>
          <a:xfrm>
            <a:off x="3552899" y="4041508"/>
            <a:ext cx="4397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CB390B0-D9A9-E14B-4FA0-008345803387}"/>
              </a:ext>
            </a:extLst>
          </p:cNvPr>
          <p:cNvCxnSpPr>
            <a:cxnSpLocks/>
          </p:cNvCxnSpPr>
          <p:nvPr/>
        </p:nvCxnSpPr>
        <p:spPr>
          <a:xfrm>
            <a:off x="3552899" y="4612717"/>
            <a:ext cx="4397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EFB9CC4-9B25-8AFC-4278-0B5E5F14B835}"/>
              </a:ext>
            </a:extLst>
          </p:cNvPr>
          <p:cNvCxnSpPr>
            <a:cxnSpLocks/>
          </p:cNvCxnSpPr>
          <p:nvPr/>
        </p:nvCxnSpPr>
        <p:spPr>
          <a:xfrm>
            <a:off x="3552899" y="5211846"/>
            <a:ext cx="4397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EE14EB5-A1DF-2E79-99D8-198F8A076370}"/>
              </a:ext>
            </a:extLst>
          </p:cNvPr>
          <p:cNvCxnSpPr>
            <a:cxnSpLocks/>
          </p:cNvCxnSpPr>
          <p:nvPr/>
        </p:nvCxnSpPr>
        <p:spPr>
          <a:xfrm>
            <a:off x="3552899" y="5748154"/>
            <a:ext cx="4397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C70F999-F9D9-5EEF-D155-99C64BD49EA6}"/>
              </a:ext>
            </a:extLst>
          </p:cNvPr>
          <p:cNvSpPr txBox="1"/>
          <p:nvPr/>
        </p:nvSpPr>
        <p:spPr>
          <a:xfrm>
            <a:off x="5429984" y="3856678"/>
            <a:ext cx="918471" cy="307777"/>
          </a:xfrm>
          <a:prstGeom prst="rect">
            <a:avLst/>
          </a:prstGeom>
          <a:noFill/>
          <a:ln w="25400">
            <a:solidFill>
              <a:schemeClr val="tx1"/>
            </a:solidFill>
          </a:ln>
        </p:spPr>
        <p:txBody>
          <a:bodyPr wrap="square" rtlCol="0">
            <a:spAutoFit/>
          </a:bodyPr>
          <a:lstStyle/>
          <a:p>
            <a:pPr algn="ctr"/>
            <a:r>
              <a:rPr lang="en-IN" sz="1400" dirty="0"/>
              <a:t>0100101</a:t>
            </a:r>
            <a:endParaRPr lang="en-GB" sz="1400" dirty="0"/>
          </a:p>
        </p:txBody>
      </p:sp>
      <p:sp>
        <p:nvSpPr>
          <p:cNvPr id="26" name="TextBox 25">
            <a:extLst>
              <a:ext uri="{FF2B5EF4-FFF2-40B4-BE49-F238E27FC236}">
                <a16:creationId xmlns:a16="http://schemas.microsoft.com/office/drawing/2014/main" id="{9B526FC4-8B66-F466-08D0-DDCF12C337AF}"/>
              </a:ext>
            </a:extLst>
          </p:cNvPr>
          <p:cNvSpPr txBox="1"/>
          <p:nvPr/>
        </p:nvSpPr>
        <p:spPr>
          <a:xfrm>
            <a:off x="5429983" y="4423088"/>
            <a:ext cx="918471" cy="307777"/>
          </a:xfrm>
          <a:prstGeom prst="rect">
            <a:avLst/>
          </a:prstGeom>
          <a:noFill/>
          <a:ln w="25400">
            <a:solidFill>
              <a:schemeClr val="tx1"/>
            </a:solidFill>
          </a:ln>
        </p:spPr>
        <p:txBody>
          <a:bodyPr wrap="square" rtlCol="0">
            <a:spAutoFit/>
          </a:bodyPr>
          <a:lstStyle/>
          <a:p>
            <a:pPr algn="ctr"/>
            <a:r>
              <a:rPr lang="en-IN" sz="1400" dirty="0"/>
              <a:t>1101011</a:t>
            </a:r>
            <a:endParaRPr lang="en-GB" sz="1400" dirty="0"/>
          </a:p>
        </p:txBody>
      </p:sp>
      <p:sp>
        <p:nvSpPr>
          <p:cNvPr id="27" name="TextBox 26">
            <a:extLst>
              <a:ext uri="{FF2B5EF4-FFF2-40B4-BE49-F238E27FC236}">
                <a16:creationId xmlns:a16="http://schemas.microsoft.com/office/drawing/2014/main" id="{767F1B1E-5788-A379-B9E5-34F0D8A1BCF2}"/>
              </a:ext>
            </a:extLst>
          </p:cNvPr>
          <p:cNvSpPr txBox="1"/>
          <p:nvPr/>
        </p:nvSpPr>
        <p:spPr>
          <a:xfrm>
            <a:off x="5429983" y="4989498"/>
            <a:ext cx="918471" cy="307777"/>
          </a:xfrm>
          <a:prstGeom prst="rect">
            <a:avLst/>
          </a:prstGeom>
          <a:noFill/>
          <a:ln w="25400">
            <a:solidFill>
              <a:schemeClr val="tx1"/>
            </a:solidFill>
          </a:ln>
        </p:spPr>
        <p:txBody>
          <a:bodyPr wrap="square" rtlCol="0">
            <a:spAutoFit/>
          </a:bodyPr>
          <a:lstStyle/>
          <a:p>
            <a:pPr algn="ctr"/>
            <a:r>
              <a:rPr lang="en-IN" sz="1400" dirty="0"/>
              <a:t>0001111</a:t>
            </a:r>
            <a:endParaRPr lang="en-GB" sz="1400" dirty="0"/>
          </a:p>
        </p:txBody>
      </p:sp>
      <p:sp>
        <p:nvSpPr>
          <p:cNvPr id="28" name="TextBox 27">
            <a:extLst>
              <a:ext uri="{FF2B5EF4-FFF2-40B4-BE49-F238E27FC236}">
                <a16:creationId xmlns:a16="http://schemas.microsoft.com/office/drawing/2014/main" id="{FEFBEB4F-1AE6-8E51-BA39-687545B388E0}"/>
              </a:ext>
            </a:extLst>
          </p:cNvPr>
          <p:cNvSpPr txBox="1"/>
          <p:nvPr/>
        </p:nvSpPr>
        <p:spPr>
          <a:xfrm>
            <a:off x="5429982" y="5555908"/>
            <a:ext cx="918471" cy="307777"/>
          </a:xfrm>
          <a:prstGeom prst="rect">
            <a:avLst/>
          </a:prstGeom>
          <a:noFill/>
          <a:ln w="25400">
            <a:solidFill>
              <a:schemeClr val="tx1"/>
            </a:solidFill>
          </a:ln>
        </p:spPr>
        <p:txBody>
          <a:bodyPr wrap="square" rtlCol="0">
            <a:spAutoFit/>
          </a:bodyPr>
          <a:lstStyle/>
          <a:p>
            <a:pPr algn="ctr"/>
            <a:r>
              <a:rPr lang="en-IN" sz="1400" dirty="0"/>
              <a:t>1100110</a:t>
            </a:r>
            <a:endParaRPr lang="en-GB" sz="1400" dirty="0"/>
          </a:p>
        </p:txBody>
      </p:sp>
      <p:cxnSp>
        <p:nvCxnSpPr>
          <p:cNvPr id="29" name="Straight Arrow Connector 28">
            <a:extLst>
              <a:ext uri="{FF2B5EF4-FFF2-40B4-BE49-F238E27FC236}">
                <a16:creationId xmlns:a16="http://schemas.microsoft.com/office/drawing/2014/main" id="{6C549259-AAB8-7A5D-6F39-D82D4CCF944A}"/>
              </a:ext>
            </a:extLst>
          </p:cNvPr>
          <p:cNvCxnSpPr>
            <a:cxnSpLocks/>
          </p:cNvCxnSpPr>
          <p:nvPr/>
        </p:nvCxnSpPr>
        <p:spPr>
          <a:xfrm>
            <a:off x="4974525" y="4039723"/>
            <a:ext cx="4397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C9371C4-97B8-F114-5B91-F9CC5CA1D4DC}"/>
              </a:ext>
            </a:extLst>
          </p:cNvPr>
          <p:cNvCxnSpPr>
            <a:cxnSpLocks/>
          </p:cNvCxnSpPr>
          <p:nvPr/>
        </p:nvCxnSpPr>
        <p:spPr>
          <a:xfrm>
            <a:off x="4974525" y="4610932"/>
            <a:ext cx="4397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7CCA96B-08B4-9729-B69A-18D5C1EA37DD}"/>
              </a:ext>
            </a:extLst>
          </p:cNvPr>
          <p:cNvCxnSpPr>
            <a:cxnSpLocks/>
          </p:cNvCxnSpPr>
          <p:nvPr/>
        </p:nvCxnSpPr>
        <p:spPr>
          <a:xfrm>
            <a:off x="4974525" y="5168181"/>
            <a:ext cx="4397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2A1E18-73A0-ACA4-4CB3-9DBF73CCB628}"/>
              </a:ext>
            </a:extLst>
          </p:cNvPr>
          <p:cNvCxnSpPr>
            <a:cxnSpLocks/>
          </p:cNvCxnSpPr>
          <p:nvPr/>
        </p:nvCxnSpPr>
        <p:spPr>
          <a:xfrm>
            <a:off x="4974525" y="5746369"/>
            <a:ext cx="4397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BE89021-2C32-5971-5856-A262CB1F832F}"/>
              </a:ext>
            </a:extLst>
          </p:cNvPr>
          <p:cNvSpPr txBox="1"/>
          <p:nvPr/>
        </p:nvSpPr>
        <p:spPr>
          <a:xfrm>
            <a:off x="5062069" y="3299429"/>
            <a:ext cx="1654296" cy="307777"/>
          </a:xfrm>
          <a:prstGeom prst="rect">
            <a:avLst/>
          </a:prstGeom>
          <a:noFill/>
        </p:spPr>
        <p:txBody>
          <a:bodyPr wrap="square" rtlCol="0">
            <a:spAutoFit/>
          </a:bodyPr>
          <a:lstStyle/>
          <a:p>
            <a:pPr algn="ctr"/>
            <a:r>
              <a:rPr lang="en-IN" sz="1400" dirty="0"/>
              <a:t>Embeddings</a:t>
            </a:r>
            <a:endParaRPr lang="en-GB" sz="1400" dirty="0"/>
          </a:p>
        </p:txBody>
      </p:sp>
      <p:cxnSp>
        <p:nvCxnSpPr>
          <p:cNvPr id="36" name="Straight Arrow Connector 35">
            <a:extLst>
              <a:ext uri="{FF2B5EF4-FFF2-40B4-BE49-F238E27FC236}">
                <a16:creationId xmlns:a16="http://schemas.microsoft.com/office/drawing/2014/main" id="{DB1F11DC-E9F0-5434-249D-DCD19DD93348}"/>
              </a:ext>
            </a:extLst>
          </p:cNvPr>
          <p:cNvCxnSpPr>
            <a:cxnSpLocks/>
          </p:cNvCxnSpPr>
          <p:nvPr/>
        </p:nvCxnSpPr>
        <p:spPr>
          <a:xfrm>
            <a:off x="6348453" y="4010566"/>
            <a:ext cx="708481"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52A3EDBE-7A43-C678-75C7-BAEB79DA8731}"/>
              </a:ext>
            </a:extLst>
          </p:cNvPr>
          <p:cNvCxnSpPr>
            <a:cxnSpLocks/>
          </p:cNvCxnSpPr>
          <p:nvPr/>
        </p:nvCxnSpPr>
        <p:spPr>
          <a:xfrm>
            <a:off x="7048792" y="4003586"/>
            <a:ext cx="0" cy="39739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2B36AE7-C5C1-CAA0-8B04-BB79E8C75CC4}"/>
              </a:ext>
            </a:extLst>
          </p:cNvPr>
          <p:cNvCxnSpPr>
            <a:cxnSpLocks/>
          </p:cNvCxnSpPr>
          <p:nvPr/>
        </p:nvCxnSpPr>
        <p:spPr>
          <a:xfrm>
            <a:off x="6348453" y="4574649"/>
            <a:ext cx="4397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0E41567-5189-8067-5A32-29FFD456DC74}"/>
              </a:ext>
            </a:extLst>
          </p:cNvPr>
          <p:cNvCxnSpPr>
            <a:cxnSpLocks/>
          </p:cNvCxnSpPr>
          <p:nvPr/>
        </p:nvCxnSpPr>
        <p:spPr>
          <a:xfrm>
            <a:off x="6348453" y="5164690"/>
            <a:ext cx="4397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09C0082-C93B-9FE5-4EC2-560AF921B12A}"/>
              </a:ext>
            </a:extLst>
          </p:cNvPr>
          <p:cNvCxnSpPr>
            <a:cxnSpLocks/>
          </p:cNvCxnSpPr>
          <p:nvPr/>
        </p:nvCxnSpPr>
        <p:spPr>
          <a:xfrm>
            <a:off x="6347291" y="5742523"/>
            <a:ext cx="708481"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C8DEF48C-1607-69AD-CBC4-30F60072F3CA}"/>
              </a:ext>
            </a:extLst>
          </p:cNvPr>
          <p:cNvCxnSpPr>
            <a:cxnSpLocks/>
          </p:cNvCxnSpPr>
          <p:nvPr/>
        </p:nvCxnSpPr>
        <p:spPr>
          <a:xfrm flipV="1">
            <a:off x="7048792" y="5329820"/>
            <a:ext cx="6980" cy="4264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D1C7154C-3BD8-30B3-1D1E-C9D6F7022A2A}"/>
              </a:ext>
            </a:extLst>
          </p:cNvPr>
          <p:cNvSpPr txBox="1"/>
          <p:nvPr/>
        </p:nvSpPr>
        <p:spPr>
          <a:xfrm>
            <a:off x="6228624" y="5942898"/>
            <a:ext cx="2077758" cy="523220"/>
          </a:xfrm>
          <a:prstGeom prst="rect">
            <a:avLst/>
          </a:prstGeom>
          <a:noFill/>
        </p:spPr>
        <p:txBody>
          <a:bodyPr wrap="square" rtlCol="0">
            <a:spAutoFit/>
          </a:bodyPr>
          <a:lstStyle/>
          <a:p>
            <a:pPr algn="ctr"/>
            <a:r>
              <a:rPr lang="en-IN" sz="1400" dirty="0"/>
              <a:t>Vector database</a:t>
            </a:r>
          </a:p>
          <a:p>
            <a:pPr algn="ctr"/>
            <a:r>
              <a:rPr lang="en-IN" sz="1400" dirty="0"/>
              <a:t>(Embedding + Text chunk)</a:t>
            </a:r>
            <a:endParaRPr lang="en-GB" sz="1400" dirty="0"/>
          </a:p>
        </p:txBody>
      </p:sp>
      <p:pic>
        <p:nvPicPr>
          <p:cNvPr id="48" name="Picture 47">
            <a:extLst>
              <a:ext uri="{FF2B5EF4-FFF2-40B4-BE49-F238E27FC236}">
                <a16:creationId xmlns:a16="http://schemas.microsoft.com/office/drawing/2014/main" id="{4FD841F2-9004-1672-1019-8FEE87C6CB50}"/>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9507257" y="1315779"/>
            <a:ext cx="866292" cy="866292"/>
          </a:xfrm>
          <a:prstGeom prst="rect">
            <a:avLst/>
          </a:prstGeom>
        </p:spPr>
      </p:pic>
      <p:sp>
        <p:nvSpPr>
          <p:cNvPr id="49" name="TextBox 48">
            <a:extLst>
              <a:ext uri="{FF2B5EF4-FFF2-40B4-BE49-F238E27FC236}">
                <a16:creationId xmlns:a16="http://schemas.microsoft.com/office/drawing/2014/main" id="{56E19506-8B29-21F1-44F9-C7D9EC64FA2C}"/>
              </a:ext>
            </a:extLst>
          </p:cNvPr>
          <p:cNvSpPr txBox="1"/>
          <p:nvPr/>
        </p:nvSpPr>
        <p:spPr>
          <a:xfrm>
            <a:off x="8803720" y="2274520"/>
            <a:ext cx="918471" cy="307777"/>
          </a:xfrm>
          <a:prstGeom prst="rect">
            <a:avLst/>
          </a:prstGeom>
          <a:noFill/>
          <a:ln w="25400">
            <a:solidFill>
              <a:schemeClr val="tx1"/>
            </a:solidFill>
          </a:ln>
        </p:spPr>
        <p:txBody>
          <a:bodyPr wrap="square" rtlCol="0">
            <a:spAutoFit/>
          </a:bodyPr>
          <a:lstStyle/>
          <a:p>
            <a:pPr algn="ctr"/>
            <a:r>
              <a:rPr lang="en-IN" sz="1400" dirty="0"/>
              <a:t>Question</a:t>
            </a:r>
            <a:endParaRPr lang="en-GB" sz="1400" dirty="0"/>
          </a:p>
        </p:txBody>
      </p:sp>
      <p:cxnSp>
        <p:nvCxnSpPr>
          <p:cNvPr id="50" name="Straight Arrow Connector 49">
            <a:extLst>
              <a:ext uri="{FF2B5EF4-FFF2-40B4-BE49-F238E27FC236}">
                <a16:creationId xmlns:a16="http://schemas.microsoft.com/office/drawing/2014/main" id="{A062DAA1-972D-D291-F711-ABACA5A2CA2C}"/>
              </a:ext>
            </a:extLst>
          </p:cNvPr>
          <p:cNvCxnSpPr>
            <a:cxnSpLocks/>
          </p:cNvCxnSpPr>
          <p:nvPr/>
        </p:nvCxnSpPr>
        <p:spPr>
          <a:xfrm>
            <a:off x="9262955" y="2582297"/>
            <a:ext cx="0" cy="39739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4CDB21FD-45C8-8C59-C018-4F6806730BDD}"/>
              </a:ext>
            </a:extLst>
          </p:cNvPr>
          <p:cNvSpPr txBox="1"/>
          <p:nvPr/>
        </p:nvSpPr>
        <p:spPr>
          <a:xfrm>
            <a:off x="8785107" y="2976669"/>
            <a:ext cx="918471" cy="307777"/>
          </a:xfrm>
          <a:prstGeom prst="rect">
            <a:avLst/>
          </a:prstGeom>
          <a:noFill/>
          <a:ln w="25400">
            <a:solidFill>
              <a:schemeClr val="tx1"/>
            </a:solidFill>
          </a:ln>
        </p:spPr>
        <p:txBody>
          <a:bodyPr wrap="square" rtlCol="0">
            <a:spAutoFit/>
          </a:bodyPr>
          <a:lstStyle/>
          <a:p>
            <a:pPr algn="ctr"/>
            <a:r>
              <a:rPr lang="en-IN" sz="1400" dirty="0"/>
              <a:t>0100101</a:t>
            </a:r>
            <a:endParaRPr lang="en-GB" sz="1400" dirty="0"/>
          </a:p>
        </p:txBody>
      </p:sp>
      <p:sp>
        <p:nvSpPr>
          <p:cNvPr id="52" name="TextBox 51">
            <a:extLst>
              <a:ext uri="{FF2B5EF4-FFF2-40B4-BE49-F238E27FC236}">
                <a16:creationId xmlns:a16="http://schemas.microsoft.com/office/drawing/2014/main" id="{3AD0D52E-D5DB-9CDC-5280-7C2E157C0788}"/>
              </a:ext>
            </a:extLst>
          </p:cNvPr>
          <p:cNvSpPr txBox="1"/>
          <p:nvPr/>
        </p:nvSpPr>
        <p:spPr>
          <a:xfrm>
            <a:off x="7369735" y="2956135"/>
            <a:ext cx="1654296" cy="307777"/>
          </a:xfrm>
          <a:prstGeom prst="rect">
            <a:avLst/>
          </a:prstGeom>
          <a:noFill/>
        </p:spPr>
        <p:txBody>
          <a:bodyPr wrap="square" rtlCol="0">
            <a:spAutoFit/>
          </a:bodyPr>
          <a:lstStyle/>
          <a:p>
            <a:pPr algn="ctr"/>
            <a:r>
              <a:rPr lang="en-IN" sz="1400" dirty="0"/>
              <a:t>Embedding</a:t>
            </a:r>
            <a:endParaRPr lang="en-GB" sz="1400" dirty="0"/>
          </a:p>
        </p:txBody>
      </p:sp>
      <p:cxnSp>
        <p:nvCxnSpPr>
          <p:cNvPr id="54" name="Straight Arrow Connector 53">
            <a:extLst>
              <a:ext uri="{FF2B5EF4-FFF2-40B4-BE49-F238E27FC236}">
                <a16:creationId xmlns:a16="http://schemas.microsoft.com/office/drawing/2014/main" id="{11A69F72-8413-DD72-8F5A-2AFFFF024106}"/>
              </a:ext>
            </a:extLst>
          </p:cNvPr>
          <p:cNvCxnSpPr>
            <a:cxnSpLocks/>
          </p:cNvCxnSpPr>
          <p:nvPr/>
        </p:nvCxnSpPr>
        <p:spPr>
          <a:xfrm>
            <a:off x="9262955" y="3299429"/>
            <a:ext cx="0" cy="127522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4D98AAA-3953-F9B4-7031-F7E13B676BD3}"/>
              </a:ext>
            </a:extLst>
          </p:cNvPr>
          <p:cNvSpPr txBox="1"/>
          <p:nvPr/>
        </p:nvSpPr>
        <p:spPr>
          <a:xfrm>
            <a:off x="7435876" y="4226711"/>
            <a:ext cx="1654295" cy="307777"/>
          </a:xfrm>
          <a:prstGeom prst="rect">
            <a:avLst/>
          </a:prstGeom>
          <a:noFill/>
        </p:spPr>
        <p:txBody>
          <a:bodyPr wrap="square" rtlCol="0">
            <a:spAutoFit/>
          </a:bodyPr>
          <a:lstStyle/>
          <a:p>
            <a:pPr algn="ctr"/>
            <a:r>
              <a:rPr lang="en-IN" sz="1400" dirty="0"/>
              <a:t>Semantic search</a:t>
            </a:r>
            <a:endParaRPr lang="en-GB" sz="1400" dirty="0"/>
          </a:p>
        </p:txBody>
      </p:sp>
      <p:cxnSp>
        <p:nvCxnSpPr>
          <p:cNvPr id="57" name="Straight Arrow Connector 56">
            <a:extLst>
              <a:ext uri="{FF2B5EF4-FFF2-40B4-BE49-F238E27FC236}">
                <a16:creationId xmlns:a16="http://schemas.microsoft.com/office/drawing/2014/main" id="{231647FE-93EA-9CCA-73D5-6365780CF8CC}"/>
              </a:ext>
            </a:extLst>
          </p:cNvPr>
          <p:cNvCxnSpPr>
            <a:cxnSpLocks/>
          </p:cNvCxnSpPr>
          <p:nvPr/>
        </p:nvCxnSpPr>
        <p:spPr>
          <a:xfrm flipH="1">
            <a:off x="7464541" y="4595741"/>
            <a:ext cx="181237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3DE827A-DB48-F136-A344-55D76CBD416E}"/>
              </a:ext>
            </a:extLst>
          </p:cNvPr>
          <p:cNvCxnSpPr>
            <a:cxnSpLocks/>
            <a:endCxn id="73" idx="1"/>
          </p:cNvCxnSpPr>
          <p:nvPr/>
        </p:nvCxnSpPr>
        <p:spPr>
          <a:xfrm>
            <a:off x="7464541" y="4989498"/>
            <a:ext cx="2438971" cy="171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42CC0E46-6C9B-1B81-6401-6A39DB568588}"/>
              </a:ext>
            </a:extLst>
          </p:cNvPr>
          <p:cNvSpPr txBox="1"/>
          <p:nvPr/>
        </p:nvSpPr>
        <p:spPr>
          <a:xfrm>
            <a:off x="7462490" y="5099064"/>
            <a:ext cx="1447677" cy="307777"/>
          </a:xfrm>
          <a:prstGeom prst="rect">
            <a:avLst/>
          </a:prstGeom>
          <a:noFill/>
        </p:spPr>
        <p:txBody>
          <a:bodyPr wrap="square" rtlCol="0">
            <a:spAutoFit/>
          </a:bodyPr>
          <a:lstStyle/>
          <a:p>
            <a:pPr algn="ctr"/>
            <a:r>
              <a:rPr lang="en-IN" sz="1400" dirty="0"/>
              <a:t>Ranked results</a:t>
            </a:r>
            <a:endParaRPr lang="en-GB" sz="1400" dirty="0"/>
          </a:p>
        </p:txBody>
      </p:sp>
      <p:pic>
        <p:nvPicPr>
          <p:cNvPr id="73" name="Picture 72">
            <a:extLst>
              <a:ext uri="{FF2B5EF4-FFF2-40B4-BE49-F238E27FC236}">
                <a16:creationId xmlns:a16="http://schemas.microsoft.com/office/drawing/2014/main" id="{4B781403-58AA-510B-0326-AEF6DA493C82}"/>
              </a:ext>
            </a:extLst>
          </p:cNvPr>
          <p:cNvPicPr>
            <a:picLocks noChangeAspect="1"/>
          </p:cNvPicPr>
          <p:nvPr/>
        </p:nvPicPr>
        <p:blipFill>
          <a:blip r:embed="rId7"/>
          <a:stretch>
            <a:fillRect/>
          </a:stretch>
        </p:blipFill>
        <p:spPr>
          <a:xfrm>
            <a:off x="9903512" y="4615848"/>
            <a:ext cx="918468" cy="781533"/>
          </a:xfrm>
          <a:prstGeom prst="rect">
            <a:avLst/>
          </a:prstGeom>
        </p:spPr>
      </p:pic>
      <p:pic>
        <p:nvPicPr>
          <p:cNvPr id="75" name="Picture 74">
            <a:extLst>
              <a:ext uri="{FF2B5EF4-FFF2-40B4-BE49-F238E27FC236}">
                <a16:creationId xmlns:a16="http://schemas.microsoft.com/office/drawing/2014/main" id="{FFBD0233-972A-2B8D-E937-3ABF51514248}"/>
              </a:ext>
            </a:extLst>
          </p:cNvPr>
          <p:cNvPicPr>
            <a:picLocks noChangeAspect="1"/>
          </p:cNvPicPr>
          <p:nvPr/>
        </p:nvPicPr>
        <p:blipFill>
          <a:blip r:embed="rId8"/>
          <a:stretch>
            <a:fillRect/>
          </a:stretch>
        </p:blipFill>
        <p:spPr>
          <a:xfrm>
            <a:off x="8809946" y="5045805"/>
            <a:ext cx="1161478" cy="430948"/>
          </a:xfrm>
          <a:prstGeom prst="rect">
            <a:avLst/>
          </a:prstGeom>
        </p:spPr>
      </p:pic>
      <p:sp>
        <p:nvSpPr>
          <p:cNvPr id="76" name="TextBox 75">
            <a:extLst>
              <a:ext uri="{FF2B5EF4-FFF2-40B4-BE49-F238E27FC236}">
                <a16:creationId xmlns:a16="http://schemas.microsoft.com/office/drawing/2014/main" id="{35681A3F-6CF8-4E56-E5AB-2D4993C6A9F4}"/>
              </a:ext>
            </a:extLst>
          </p:cNvPr>
          <p:cNvSpPr txBox="1"/>
          <p:nvPr/>
        </p:nvSpPr>
        <p:spPr>
          <a:xfrm>
            <a:off x="10060560" y="2274520"/>
            <a:ext cx="918471" cy="307777"/>
          </a:xfrm>
          <a:prstGeom prst="rect">
            <a:avLst/>
          </a:prstGeom>
          <a:noFill/>
          <a:ln w="25400">
            <a:solidFill>
              <a:schemeClr val="tx1"/>
            </a:solidFill>
          </a:ln>
        </p:spPr>
        <p:txBody>
          <a:bodyPr wrap="square" rtlCol="0">
            <a:spAutoFit/>
          </a:bodyPr>
          <a:lstStyle/>
          <a:p>
            <a:pPr algn="ctr"/>
            <a:r>
              <a:rPr lang="en-IN" sz="1400" dirty="0"/>
              <a:t>Answer</a:t>
            </a:r>
            <a:endParaRPr lang="en-GB" sz="1400" dirty="0"/>
          </a:p>
        </p:txBody>
      </p:sp>
      <p:cxnSp>
        <p:nvCxnSpPr>
          <p:cNvPr id="77" name="Straight Arrow Connector 76">
            <a:extLst>
              <a:ext uri="{FF2B5EF4-FFF2-40B4-BE49-F238E27FC236}">
                <a16:creationId xmlns:a16="http://schemas.microsoft.com/office/drawing/2014/main" id="{0B2F3A32-A3CC-F8D7-FBA7-156917F484C3}"/>
              </a:ext>
            </a:extLst>
          </p:cNvPr>
          <p:cNvCxnSpPr>
            <a:cxnSpLocks/>
          </p:cNvCxnSpPr>
          <p:nvPr/>
        </p:nvCxnSpPr>
        <p:spPr>
          <a:xfrm flipH="1">
            <a:off x="10429660" y="2594573"/>
            <a:ext cx="19486" cy="2027404"/>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095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C9D0F-24A3-F1BC-7BE5-A6654D5E116A}"/>
              </a:ext>
            </a:extLst>
          </p:cNvPr>
          <p:cNvSpPr>
            <a:spLocks noGrp="1"/>
          </p:cNvSpPr>
          <p:nvPr>
            <p:ph type="title"/>
          </p:nvPr>
        </p:nvSpPr>
        <p:spPr/>
        <p:txBody>
          <a:bodyPr/>
          <a:lstStyle/>
          <a:p>
            <a:r>
              <a:rPr lang="en-IN" dirty="0"/>
              <a:t>Computing Embeddings</a:t>
            </a:r>
            <a:endParaRPr lang="en-GB" dirty="0"/>
          </a:p>
        </p:txBody>
      </p:sp>
      <p:sp>
        <p:nvSpPr>
          <p:cNvPr id="3" name="Content Placeholder 2">
            <a:extLst>
              <a:ext uri="{FF2B5EF4-FFF2-40B4-BE49-F238E27FC236}">
                <a16:creationId xmlns:a16="http://schemas.microsoft.com/office/drawing/2014/main" id="{90064F25-A13E-5DAB-BDE8-9AD96E08AB9A}"/>
              </a:ext>
            </a:extLst>
          </p:cNvPr>
          <p:cNvSpPr>
            <a:spLocks noGrp="1"/>
          </p:cNvSpPr>
          <p:nvPr>
            <p:ph idx="1"/>
          </p:nvPr>
        </p:nvSpPr>
        <p:spPr/>
        <p:txBody>
          <a:bodyPr/>
          <a:lstStyle/>
          <a:p>
            <a:endParaRPr lang="en-GB" dirty="0"/>
          </a:p>
        </p:txBody>
      </p:sp>
      <p:sp>
        <p:nvSpPr>
          <p:cNvPr id="4" name="TextBox 3">
            <a:extLst>
              <a:ext uri="{FF2B5EF4-FFF2-40B4-BE49-F238E27FC236}">
                <a16:creationId xmlns:a16="http://schemas.microsoft.com/office/drawing/2014/main" id="{D0E1DD83-9EC8-103B-9CF7-8CA739C45E54}"/>
              </a:ext>
            </a:extLst>
          </p:cNvPr>
          <p:cNvSpPr txBox="1"/>
          <p:nvPr/>
        </p:nvSpPr>
        <p:spPr>
          <a:xfrm>
            <a:off x="375683" y="1981569"/>
            <a:ext cx="5146158" cy="1846659"/>
          </a:xfrm>
          <a:prstGeom prst="rect">
            <a:avLst/>
          </a:prstGeom>
          <a:solidFill>
            <a:schemeClr val="accent4">
              <a:lumMod val="20000"/>
              <a:lumOff val="80000"/>
            </a:schemeClr>
          </a:solidFill>
        </p:spPr>
        <p:txBody>
          <a:bodyPr wrap="square" rtlCol="0">
            <a:spAutoFit/>
          </a:bodyPr>
          <a:lstStyle/>
          <a:p>
            <a:r>
              <a:rPr lang="en-GB" sz="1600" dirty="0">
                <a:latin typeface="Cascadia Mono" panose="020B0609020000020004" pitchFamily="49" charset="0"/>
                <a:cs typeface="Cascadia Mono" panose="020B0609020000020004" pitchFamily="49" charset="0"/>
              </a:rPr>
              <a:t>def </a:t>
            </a:r>
            <a:r>
              <a:rPr lang="en-GB" sz="1600" dirty="0" err="1">
                <a:latin typeface="Cascadia Mono" panose="020B0609020000020004" pitchFamily="49" charset="0"/>
                <a:cs typeface="Cascadia Mono" panose="020B0609020000020004" pitchFamily="49" charset="0"/>
              </a:rPr>
              <a:t>compute_embedding</a:t>
            </a:r>
            <a:r>
              <a:rPr lang="en-GB" sz="1600" dirty="0">
                <a:latin typeface="Cascadia Mono" panose="020B0609020000020004" pitchFamily="49" charset="0"/>
                <a:cs typeface="Cascadia Mono" panose="020B0609020000020004" pitchFamily="49" charset="0"/>
              </a:rPr>
              <a:t>(text):</a:t>
            </a:r>
          </a:p>
          <a:p>
            <a:r>
              <a:rPr lang="en-GB" sz="1600" dirty="0">
                <a:latin typeface="Cascadia Mono" panose="020B0609020000020004" pitchFamily="49" charset="0"/>
                <a:cs typeface="Cascadia Mono" panose="020B0609020000020004" pitchFamily="49" charset="0"/>
              </a:rPr>
              <a:t>    response = </a:t>
            </a:r>
            <a:r>
              <a:rPr lang="en-GB" sz="1600" dirty="0" err="1">
                <a:latin typeface="Cascadia Mono" panose="020B0609020000020004" pitchFamily="49" charset="0"/>
                <a:cs typeface="Cascadia Mono" panose="020B0609020000020004" pitchFamily="49" charset="0"/>
              </a:rPr>
              <a:t>client.embeddings.create</a:t>
            </a:r>
            <a:r>
              <a:rPr lang="en-GB" sz="1600" dirty="0">
                <a:latin typeface="Cascadia Mono" panose="020B0609020000020004" pitchFamily="49" charset="0"/>
                <a:cs typeface="Cascadia Mono" panose="020B0609020000020004" pitchFamily="49" charset="0"/>
              </a:rPr>
              <a:t>(</a:t>
            </a:r>
          </a:p>
          <a:p>
            <a:r>
              <a:rPr lang="en-GB" sz="1600" dirty="0">
                <a:latin typeface="Cascadia Mono" panose="020B0609020000020004" pitchFamily="49" charset="0"/>
                <a:cs typeface="Cascadia Mono" panose="020B0609020000020004" pitchFamily="49" charset="0"/>
              </a:rPr>
              <a:t>        model="text-embedding-ada-002",</a:t>
            </a:r>
          </a:p>
          <a:p>
            <a:r>
              <a:rPr lang="en-GB" sz="1600" dirty="0">
                <a:latin typeface="Cascadia Mono" panose="020B0609020000020004" pitchFamily="49" charset="0"/>
                <a:cs typeface="Cascadia Mono" panose="020B0609020000020004" pitchFamily="49" charset="0"/>
              </a:rPr>
              <a:t>        input=text</a:t>
            </a:r>
          </a:p>
          <a:p>
            <a:r>
              <a:rPr lang="en-GB" sz="1600" dirty="0">
                <a:latin typeface="Cascadia Mono" panose="020B0609020000020004" pitchFamily="49" charset="0"/>
                <a:cs typeface="Cascadia Mono" panose="020B0609020000020004" pitchFamily="49" charset="0"/>
              </a:rPr>
              <a:t>    )</a:t>
            </a:r>
          </a:p>
          <a:p>
            <a:r>
              <a:rPr lang="en-GB" sz="1600" dirty="0">
                <a:latin typeface="Cascadia Mono" panose="020B0609020000020004" pitchFamily="49" charset="0"/>
                <a:cs typeface="Cascadia Mono" panose="020B0609020000020004" pitchFamily="49" charset="0"/>
              </a:rPr>
              <a:t>    return </a:t>
            </a:r>
            <a:r>
              <a:rPr lang="en-GB" sz="1600" dirty="0" err="1">
                <a:latin typeface="Cascadia Mono" panose="020B0609020000020004" pitchFamily="49" charset="0"/>
                <a:cs typeface="Cascadia Mono" panose="020B0609020000020004" pitchFamily="49" charset="0"/>
              </a:rPr>
              <a:t>response.data</a:t>
            </a:r>
            <a:r>
              <a:rPr lang="en-GB" sz="1600" dirty="0">
                <a:latin typeface="Cascadia Mono" panose="020B0609020000020004" pitchFamily="49" charset="0"/>
                <a:cs typeface="Cascadia Mono" panose="020B0609020000020004" pitchFamily="49" charset="0"/>
              </a:rPr>
              <a:t>[0].embedding</a:t>
            </a:r>
          </a:p>
          <a:p>
            <a:endParaRPr lang="en-GB" sz="1600" dirty="0">
              <a:latin typeface="Cascadia Mono" panose="020B0609020000020004" pitchFamily="49" charset="0"/>
              <a:cs typeface="Cascadia Mono" panose="020B0609020000020004" pitchFamily="49" charset="0"/>
            </a:endParaRPr>
          </a:p>
        </p:txBody>
      </p:sp>
      <p:sp>
        <p:nvSpPr>
          <p:cNvPr id="5" name="TextBox 4">
            <a:extLst>
              <a:ext uri="{FF2B5EF4-FFF2-40B4-BE49-F238E27FC236}">
                <a16:creationId xmlns:a16="http://schemas.microsoft.com/office/drawing/2014/main" id="{B23CB75A-1282-03FD-A523-4D2637CE93B0}"/>
              </a:ext>
            </a:extLst>
          </p:cNvPr>
          <p:cNvSpPr txBox="1"/>
          <p:nvPr/>
        </p:nvSpPr>
        <p:spPr>
          <a:xfrm>
            <a:off x="5762847" y="1981569"/>
            <a:ext cx="5465134" cy="1754326"/>
          </a:xfrm>
          <a:prstGeom prst="rect">
            <a:avLst/>
          </a:prstGeom>
          <a:solidFill>
            <a:schemeClr val="accent6">
              <a:lumMod val="20000"/>
              <a:lumOff val="80000"/>
            </a:schemeClr>
          </a:solidFill>
        </p:spPr>
        <p:txBody>
          <a:bodyPr wrap="square" rtlCol="0">
            <a:spAutoFit/>
          </a:bodyPr>
          <a:lstStyle/>
          <a:p>
            <a:r>
              <a:rPr lang="en-US" dirty="0"/>
              <a:t>This function takes a text string (like an answer or a query), sends it to the OpenAI embeddings endpoint, and retrieves its vector representation</a:t>
            </a:r>
          </a:p>
          <a:p>
            <a:endParaRPr lang="en-US" dirty="0"/>
          </a:p>
          <a:p>
            <a:r>
              <a:rPr lang="en-US" dirty="0"/>
              <a:t>The model="text-embedding-ada-002" is one of OpenAI’s models optimized for generating embeddings</a:t>
            </a:r>
            <a:endParaRPr lang="en-GB" dirty="0"/>
          </a:p>
        </p:txBody>
      </p:sp>
      <p:sp>
        <p:nvSpPr>
          <p:cNvPr id="8" name="TextBox 7">
            <a:extLst>
              <a:ext uri="{FF2B5EF4-FFF2-40B4-BE49-F238E27FC236}">
                <a16:creationId xmlns:a16="http://schemas.microsoft.com/office/drawing/2014/main" id="{206C5853-E7B9-1AA8-73ED-1F4F7BA7B3D6}"/>
              </a:ext>
            </a:extLst>
          </p:cNvPr>
          <p:cNvSpPr txBox="1"/>
          <p:nvPr/>
        </p:nvSpPr>
        <p:spPr>
          <a:xfrm>
            <a:off x="322520" y="3963165"/>
            <a:ext cx="5146158" cy="1077218"/>
          </a:xfrm>
          <a:prstGeom prst="rect">
            <a:avLst/>
          </a:prstGeom>
          <a:solidFill>
            <a:schemeClr val="accent4">
              <a:lumMod val="20000"/>
              <a:lumOff val="80000"/>
            </a:schemeClr>
          </a:solidFill>
        </p:spPr>
        <p:txBody>
          <a:bodyPr wrap="square" rtlCol="0">
            <a:spAutoFit/>
          </a:bodyPr>
          <a:lstStyle/>
          <a:p>
            <a:r>
              <a:rPr lang="en-US" sz="1600" dirty="0">
                <a:latin typeface="Cascadia Mono" panose="020B0609020000020004" pitchFamily="49" charset="0"/>
                <a:cs typeface="Cascadia Mono" panose="020B0609020000020004" pitchFamily="49" charset="0"/>
              </a:rPr>
              <a:t>embedding = </a:t>
            </a:r>
            <a:r>
              <a:rPr lang="en-US" sz="1600" dirty="0" err="1">
                <a:latin typeface="Cascadia Mono" panose="020B0609020000020004" pitchFamily="49" charset="0"/>
                <a:cs typeface="Cascadia Mono" panose="020B0609020000020004" pitchFamily="49" charset="0"/>
              </a:rPr>
              <a:t>compute_embedding</a:t>
            </a:r>
            <a:r>
              <a:rPr lang="en-US" sz="1600" dirty="0">
                <a:latin typeface="Cascadia Mono" panose="020B0609020000020004" pitchFamily="49" charset="0"/>
                <a:cs typeface="Cascadia Mono" panose="020B0609020000020004" pitchFamily="49" charset="0"/>
              </a:rPr>
              <a:t>("Our standard shipping time is 3-5 business days.") # Just an example</a:t>
            </a:r>
          </a:p>
          <a:p>
            <a:endParaRPr lang="en-GB" sz="1600" dirty="0">
              <a:latin typeface="Cascadia Mono" panose="020B0609020000020004" pitchFamily="49" charset="0"/>
              <a:cs typeface="Cascadia Mono" panose="020B0609020000020004" pitchFamily="49" charset="0"/>
            </a:endParaRPr>
          </a:p>
        </p:txBody>
      </p:sp>
      <p:sp>
        <p:nvSpPr>
          <p:cNvPr id="9" name="TextBox 8">
            <a:extLst>
              <a:ext uri="{FF2B5EF4-FFF2-40B4-BE49-F238E27FC236}">
                <a16:creationId xmlns:a16="http://schemas.microsoft.com/office/drawing/2014/main" id="{90DA4C2A-FD26-C484-22B6-D77017AB402E}"/>
              </a:ext>
            </a:extLst>
          </p:cNvPr>
          <p:cNvSpPr txBox="1"/>
          <p:nvPr/>
        </p:nvSpPr>
        <p:spPr>
          <a:xfrm>
            <a:off x="5709684" y="3963165"/>
            <a:ext cx="5465134" cy="2031325"/>
          </a:xfrm>
          <a:prstGeom prst="rect">
            <a:avLst/>
          </a:prstGeom>
          <a:solidFill>
            <a:schemeClr val="accent6">
              <a:lumMod val="20000"/>
              <a:lumOff val="80000"/>
            </a:schemeClr>
          </a:solidFill>
        </p:spPr>
        <p:txBody>
          <a:bodyPr wrap="square" rtlCol="0">
            <a:spAutoFit/>
          </a:bodyPr>
          <a:lstStyle/>
          <a:p>
            <a:r>
              <a:rPr lang="en-US" dirty="0"/>
              <a:t>This means we are  asking OpenAI’s text-embedding-ada-002 model to convert the sentence:</a:t>
            </a:r>
          </a:p>
          <a:p>
            <a:r>
              <a:rPr lang="en-US" i="1" dirty="0"/>
              <a:t>"Our standard shipping time is 3-5 business days."</a:t>
            </a:r>
          </a:p>
          <a:p>
            <a:r>
              <a:rPr lang="en-US" dirty="0"/>
              <a:t>into a vector of numbers, typically a list of 1536 floating-point values (for this model)</a:t>
            </a:r>
          </a:p>
          <a:p>
            <a:r>
              <a:rPr lang="en-US" dirty="0"/>
              <a:t>Output could be: [0.012345, -0.023456, 0.045678, ...,]</a:t>
            </a:r>
          </a:p>
          <a:p>
            <a:r>
              <a:rPr lang="en-US" dirty="0"/>
              <a:t>It would be 1536 numbers</a:t>
            </a:r>
            <a:endParaRPr lang="en-GB" dirty="0"/>
          </a:p>
        </p:txBody>
      </p:sp>
    </p:spTree>
    <p:extLst>
      <p:ext uri="{BB962C8B-B14F-4D97-AF65-F5344CB8AC3E}">
        <p14:creationId xmlns:p14="http://schemas.microsoft.com/office/powerpoint/2010/main" val="1671400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80560-B776-A7A4-D234-E6E944D0F0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4F3C9-CEDF-3399-2337-E6DC31057727}"/>
              </a:ext>
            </a:extLst>
          </p:cNvPr>
          <p:cNvSpPr>
            <a:spLocks noGrp="1"/>
          </p:cNvSpPr>
          <p:nvPr>
            <p:ph type="title"/>
          </p:nvPr>
        </p:nvSpPr>
        <p:spPr/>
        <p:txBody>
          <a:bodyPr/>
          <a:lstStyle/>
          <a:p>
            <a:r>
              <a:rPr lang="en-IN" dirty="0"/>
              <a:t>Comparing Embeddings</a:t>
            </a:r>
            <a:endParaRPr lang="en-GB" dirty="0"/>
          </a:p>
        </p:txBody>
      </p:sp>
      <p:sp>
        <p:nvSpPr>
          <p:cNvPr id="3" name="Content Placeholder 2">
            <a:extLst>
              <a:ext uri="{FF2B5EF4-FFF2-40B4-BE49-F238E27FC236}">
                <a16:creationId xmlns:a16="http://schemas.microsoft.com/office/drawing/2014/main" id="{0980D18F-4D1F-EE5B-889B-9E6E676418E3}"/>
              </a:ext>
            </a:extLst>
          </p:cNvPr>
          <p:cNvSpPr>
            <a:spLocks noGrp="1"/>
          </p:cNvSpPr>
          <p:nvPr>
            <p:ph idx="1"/>
          </p:nvPr>
        </p:nvSpPr>
        <p:spPr/>
        <p:txBody>
          <a:bodyPr/>
          <a:lstStyle/>
          <a:p>
            <a:endParaRPr lang="en-GB" dirty="0"/>
          </a:p>
        </p:txBody>
      </p:sp>
      <p:sp>
        <p:nvSpPr>
          <p:cNvPr id="4" name="TextBox 3">
            <a:extLst>
              <a:ext uri="{FF2B5EF4-FFF2-40B4-BE49-F238E27FC236}">
                <a16:creationId xmlns:a16="http://schemas.microsoft.com/office/drawing/2014/main" id="{08D4FB5D-3CE6-F0E5-E9D2-0C89BF958B7F}"/>
              </a:ext>
            </a:extLst>
          </p:cNvPr>
          <p:cNvSpPr txBox="1"/>
          <p:nvPr/>
        </p:nvSpPr>
        <p:spPr>
          <a:xfrm>
            <a:off x="375683" y="1981569"/>
            <a:ext cx="5146158" cy="1846659"/>
          </a:xfrm>
          <a:prstGeom prst="rect">
            <a:avLst/>
          </a:prstGeom>
          <a:solidFill>
            <a:schemeClr val="accent4">
              <a:lumMod val="20000"/>
              <a:lumOff val="80000"/>
            </a:schemeClr>
          </a:solidFill>
        </p:spPr>
        <p:txBody>
          <a:bodyPr wrap="square" rtlCol="0">
            <a:spAutoFit/>
          </a:bodyPr>
          <a:lstStyle/>
          <a:p>
            <a:r>
              <a:rPr lang="en-GB" sz="1600" dirty="0">
                <a:latin typeface="Cascadia Mono" panose="020B0609020000020004" pitchFamily="49" charset="0"/>
                <a:cs typeface="Cascadia Mono" panose="020B0609020000020004" pitchFamily="49" charset="0"/>
              </a:rPr>
              <a:t>def </a:t>
            </a:r>
            <a:r>
              <a:rPr lang="en-GB" sz="1600" dirty="0" err="1">
                <a:latin typeface="Cascadia Mono" panose="020B0609020000020004" pitchFamily="49" charset="0"/>
                <a:cs typeface="Cascadia Mono" panose="020B0609020000020004" pitchFamily="49" charset="0"/>
              </a:rPr>
              <a:t>cosine_similarity</a:t>
            </a:r>
            <a:r>
              <a:rPr lang="en-GB" sz="1600" dirty="0">
                <a:latin typeface="Cascadia Mono" panose="020B0609020000020004" pitchFamily="49" charset="0"/>
                <a:cs typeface="Cascadia Mono" panose="020B0609020000020004" pitchFamily="49" charset="0"/>
              </a:rPr>
              <a:t>(vec1, vec2):</a:t>
            </a:r>
          </a:p>
          <a:p>
            <a:r>
              <a:rPr lang="en-GB" sz="1600" dirty="0">
                <a:latin typeface="Cascadia Mono" panose="020B0609020000020004" pitchFamily="49" charset="0"/>
                <a:cs typeface="Cascadia Mono" panose="020B0609020000020004" pitchFamily="49" charset="0"/>
              </a:rPr>
              <a:t>    v1 = </a:t>
            </a:r>
            <a:r>
              <a:rPr lang="en-GB" sz="1600" dirty="0" err="1">
                <a:latin typeface="Cascadia Mono" panose="020B0609020000020004" pitchFamily="49" charset="0"/>
                <a:cs typeface="Cascadia Mono" panose="020B0609020000020004" pitchFamily="49" charset="0"/>
              </a:rPr>
              <a:t>np.array</a:t>
            </a:r>
            <a:r>
              <a:rPr lang="en-GB" sz="1600" dirty="0">
                <a:latin typeface="Cascadia Mono" panose="020B0609020000020004" pitchFamily="49" charset="0"/>
                <a:cs typeface="Cascadia Mono" panose="020B0609020000020004" pitchFamily="49" charset="0"/>
              </a:rPr>
              <a:t>(vec1)</a:t>
            </a:r>
          </a:p>
          <a:p>
            <a:r>
              <a:rPr lang="en-GB" sz="1600" dirty="0">
                <a:latin typeface="Cascadia Mono" panose="020B0609020000020004" pitchFamily="49" charset="0"/>
                <a:cs typeface="Cascadia Mono" panose="020B0609020000020004" pitchFamily="49" charset="0"/>
              </a:rPr>
              <a:t>    v2 = </a:t>
            </a:r>
            <a:r>
              <a:rPr lang="en-GB" sz="1600" dirty="0" err="1">
                <a:latin typeface="Cascadia Mono" panose="020B0609020000020004" pitchFamily="49" charset="0"/>
                <a:cs typeface="Cascadia Mono" panose="020B0609020000020004" pitchFamily="49" charset="0"/>
              </a:rPr>
              <a:t>np.array</a:t>
            </a:r>
            <a:r>
              <a:rPr lang="en-GB" sz="1600" dirty="0">
                <a:latin typeface="Cascadia Mono" panose="020B0609020000020004" pitchFamily="49" charset="0"/>
                <a:cs typeface="Cascadia Mono" panose="020B0609020000020004" pitchFamily="49" charset="0"/>
              </a:rPr>
              <a:t>(vec2)</a:t>
            </a:r>
          </a:p>
          <a:p>
            <a:r>
              <a:rPr lang="en-GB" sz="1600" dirty="0">
                <a:latin typeface="Cascadia Mono" panose="020B0609020000020004" pitchFamily="49" charset="0"/>
                <a:cs typeface="Cascadia Mono" panose="020B0609020000020004" pitchFamily="49" charset="0"/>
              </a:rPr>
              <a:t>    return np.dot(v1, v2) / (</a:t>
            </a:r>
            <a:r>
              <a:rPr lang="en-GB" sz="1600" dirty="0" err="1">
                <a:latin typeface="Cascadia Mono" panose="020B0609020000020004" pitchFamily="49" charset="0"/>
                <a:cs typeface="Cascadia Mono" panose="020B0609020000020004" pitchFamily="49" charset="0"/>
              </a:rPr>
              <a:t>np.linalg.norm</a:t>
            </a:r>
            <a:r>
              <a:rPr lang="en-GB" sz="1600" dirty="0">
                <a:latin typeface="Cascadia Mono" panose="020B0609020000020004" pitchFamily="49" charset="0"/>
                <a:cs typeface="Cascadia Mono" panose="020B0609020000020004" pitchFamily="49" charset="0"/>
              </a:rPr>
              <a:t>(v1) * </a:t>
            </a:r>
            <a:r>
              <a:rPr lang="en-GB" sz="1600" dirty="0" err="1">
                <a:latin typeface="Cascadia Mono" panose="020B0609020000020004" pitchFamily="49" charset="0"/>
                <a:cs typeface="Cascadia Mono" panose="020B0609020000020004" pitchFamily="49" charset="0"/>
              </a:rPr>
              <a:t>np.linalg.norm</a:t>
            </a:r>
            <a:r>
              <a:rPr lang="en-GB" sz="1600" dirty="0">
                <a:latin typeface="Cascadia Mono" panose="020B0609020000020004" pitchFamily="49" charset="0"/>
                <a:cs typeface="Cascadia Mono" panose="020B0609020000020004" pitchFamily="49" charset="0"/>
              </a:rPr>
              <a:t>(v2))</a:t>
            </a:r>
          </a:p>
          <a:p>
            <a:endParaRPr lang="en-GB" sz="1600" dirty="0">
              <a:latin typeface="Cascadia Mono" panose="020B0609020000020004" pitchFamily="49" charset="0"/>
              <a:cs typeface="Cascadia Mono" panose="020B0609020000020004" pitchFamily="49" charset="0"/>
            </a:endParaRPr>
          </a:p>
          <a:p>
            <a:endParaRPr lang="en-GB" sz="1600" dirty="0">
              <a:latin typeface="Cascadia Mono" panose="020B0609020000020004" pitchFamily="49" charset="0"/>
              <a:cs typeface="Cascadia Mono" panose="020B0609020000020004" pitchFamily="49" charset="0"/>
            </a:endParaRPr>
          </a:p>
        </p:txBody>
      </p:sp>
      <p:sp>
        <p:nvSpPr>
          <p:cNvPr id="5" name="TextBox 4">
            <a:extLst>
              <a:ext uri="{FF2B5EF4-FFF2-40B4-BE49-F238E27FC236}">
                <a16:creationId xmlns:a16="http://schemas.microsoft.com/office/drawing/2014/main" id="{9DB15DC4-D42D-BD94-376D-652765347741}"/>
              </a:ext>
            </a:extLst>
          </p:cNvPr>
          <p:cNvSpPr txBox="1"/>
          <p:nvPr/>
        </p:nvSpPr>
        <p:spPr>
          <a:xfrm>
            <a:off x="5762847" y="1981569"/>
            <a:ext cx="5465134" cy="1754326"/>
          </a:xfrm>
          <a:prstGeom prst="rect">
            <a:avLst/>
          </a:prstGeom>
          <a:solidFill>
            <a:schemeClr val="accent6">
              <a:lumMod val="20000"/>
              <a:lumOff val="80000"/>
            </a:schemeClr>
          </a:solidFill>
        </p:spPr>
        <p:txBody>
          <a:bodyPr wrap="square" rtlCol="0">
            <a:spAutoFit/>
          </a:bodyPr>
          <a:lstStyle/>
          <a:p>
            <a:r>
              <a:rPr lang="en-US" dirty="0"/>
              <a:t>This function compares two embeddings (vectors) and computes how similar they are</a:t>
            </a:r>
          </a:p>
          <a:p>
            <a:r>
              <a:rPr lang="en-US" dirty="0"/>
              <a:t>The result is a number between -1 and 1:</a:t>
            </a:r>
          </a:p>
          <a:p>
            <a:r>
              <a:rPr lang="en-US" dirty="0"/>
              <a:t>1 → identical meaning</a:t>
            </a:r>
          </a:p>
          <a:p>
            <a:r>
              <a:rPr lang="en-US" dirty="0"/>
              <a:t>0 → unrelated</a:t>
            </a:r>
          </a:p>
          <a:p>
            <a:r>
              <a:rPr lang="en-US" dirty="0"/>
              <a:t>-1 → opposite meaning</a:t>
            </a:r>
            <a:endParaRPr lang="en-GB" dirty="0"/>
          </a:p>
        </p:txBody>
      </p:sp>
      <p:sp>
        <p:nvSpPr>
          <p:cNvPr id="8" name="TextBox 7">
            <a:extLst>
              <a:ext uri="{FF2B5EF4-FFF2-40B4-BE49-F238E27FC236}">
                <a16:creationId xmlns:a16="http://schemas.microsoft.com/office/drawing/2014/main" id="{B2D89B0A-F9F4-BD29-F82B-E297F2281A9B}"/>
              </a:ext>
            </a:extLst>
          </p:cNvPr>
          <p:cNvSpPr txBox="1"/>
          <p:nvPr/>
        </p:nvSpPr>
        <p:spPr>
          <a:xfrm>
            <a:off x="322520" y="3963165"/>
            <a:ext cx="5146158" cy="2062103"/>
          </a:xfrm>
          <a:prstGeom prst="rect">
            <a:avLst/>
          </a:prstGeom>
          <a:solidFill>
            <a:schemeClr val="accent4">
              <a:lumMod val="20000"/>
              <a:lumOff val="80000"/>
            </a:schemeClr>
          </a:solidFill>
        </p:spPr>
        <p:txBody>
          <a:bodyPr wrap="square" rtlCol="0">
            <a:spAutoFit/>
          </a:bodyPr>
          <a:lstStyle/>
          <a:p>
            <a:r>
              <a:rPr lang="en-US" sz="1600" dirty="0">
                <a:latin typeface="Cascadia Mono" panose="020B0609020000020004" pitchFamily="49" charset="0"/>
                <a:cs typeface="Cascadia Mono" panose="020B0609020000020004" pitchFamily="49" charset="0"/>
              </a:rPr>
              <a:t>for </a:t>
            </a:r>
            <a:r>
              <a:rPr lang="en-US" sz="1600" dirty="0" err="1">
                <a:latin typeface="Cascadia Mono" panose="020B0609020000020004" pitchFamily="49" charset="0"/>
                <a:cs typeface="Cascadia Mono" panose="020B0609020000020004" pitchFamily="49" charset="0"/>
              </a:rPr>
              <a:t>topic_key</a:t>
            </a:r>
            <a:r>
              <a:rPr lang="en-US" sz="1600" dirty="0">
                <a:latin typeface="Cascadia Mono" panose="020B0609020000020004" pitchFamily="49" charset="0"/>
                <a:cs typeface="Cascadia Mono" panose="020B0609020000020004" pitchFamily="49" charset="0"/>
              </a:rPr>
              <a:t>, embedding in </a:t>
            </a:r>
            <a:r>
              <a:rPr lang="en-US" sz="1600" dirty="0" err="1">
                <a:latin typeface="Cascadia Mono" panose="020B0609020000020004" pitchFamily="49" charset="0"/>
                <a:cs typeface="Cascadia Mono" panose="020B0609020000020004" pitchFamily="49" charset="0"/>
              </a:rPr>
              <a:t>embeddings_index.items</a:t>
            </a:r>
            <a:r>
              <a:rPr lang="en-US" sz="1600" dirty="0">
                <a:latin typeface="Cascadia Mono" panose="020B0609020000020004" pitchFamily="49" charset="0"/>
                <a:cs typeface="Cascadia Mono" panose="020B0609020000020004" pitchFamily="49" charset="0"/>
              </a:rPr>
              <a:t>():</a:t>
            </a:r>
          </a:p>
          <a:p>
            <a:r>
              <a:rPr lang="en-US" sz="1600" dirty="0">
                <a:latin typeface="Cascadia Mono" panose="020B0609020000020004" pitchFamily="49" charset="0"/>
                <a:cs typeface="Cascadia Mono" panose="020B0609020000020004" pitchFamily="49" charset="0"/>
              </a:rPr>
              <a:t>        score = </a:t>
            </a:r>
            <a:r>
              <a:rPr lang="en-US" sz="1600" dirty="0" err="1">
                <a:latin typeface="Cascadia Mono" panose="020B0609020000020004" pitchFamily="49" charset="0"/>
                <a:cs typeface="Cascadia Mono" panose="020B0609020000020004" pitchFamily="49" charset="0"/>
              </a:rPr>
              <a:t>cosine_similarity</a:t>
            </a:r>
            <a:r>
              <a:rPr lang="en-US" sz="1600" dirty="0">
                <a:latin typeface="Cascadia Mono" panose="020B0609020000020004" pitchFamily="49" charset="0"/>
                <a:cs typeface="Cascadia Mono" panose="020B0609020000020004" pitchFamily="49" charset="0"/>
              </a:rPr>
              <a:t>(</a:t>
            </a:r>
            <a:r>
              <a:rPr lang="en-US" sz="1600" dirty="0" err="1">
                <a:latin typeface="Cascadia Mono" panose="020B0609020000020004" pitchFamily="49" charset="0"/>
                <a:cs typeface="Cascadia Mono" panose="020B0609020000020004" pitchFamily="49" charset="0"/>
              </a:rPr>
              <a:t>query_embedding</a:t>
            </a:r>
            <a:r>
              <a:rPr lang="en-US" sz="1600" dirty="0">
                <a:latin typeface="Cascadia Mono" panose="020B0609020000020004" pitchFamily="49" charset="0"/>
                <a:cs typeface="Cascadia Mono" panose="020B0609020000020004" pitchFamily="49" charset="0"/>
              </a:rPr>
              <a:t>, embedding)</a:t>
            </a:r>
          </a:p>
          <a:p>
            <a:r>
              <a:rPr lang="en-US" sz="1600" dirty="0">
                <a:latin typeface="Cascadia Mono" panose="020B0609020000020004" pitchFamily="49" charset="0"/>
                <a:cs typeface="Cascadia Mono" panose="020B0609020000020004" pitchFamily="49" charset="0"/>
              </a:rPr>
              <a:t>        if score &gt; </a:t>
            </a:r>
            <a:r>
              <a:rPr lang="en-US" sz="1600" dirty="0" err="1">
                <a:latin typeface="Cascadia Mono" panose="020B0609020000020004" pitchFamily="49" charset="0"/>
                <a:cs typeface="Cascadia Mono" panose="020B0609020000020004" pitchFamily="49" charset="0"/>
              </a:rPr>
              <a:t>best_score</a:t>
            </a:r>
            <a:r>
              <a:rPr lang="en-US" sz="1600" dirty="0">
                <a:latin typeface="Cascadia Mono" panose="020B0609020000020004" pitchFamily="49" charset="0"/>
                <a:cs typeface="Cascadia Mono" panose="020B0609020000020004" pitchFamily="49" charset="0"/>
              </a:rPr>
              <a:t>:</a:t>
            </a:r>
          </a:p>
          <a:p>
            <a:r>
              <a:rPr lang="en-US" sz="1600" dirty="0">
                <a:latin typeface="Cascadia Mono" panose="020B0609020000020004" pitchFamily="49" charset="0"/>
                <a:cs typeface="Cascadia Mono" panose="020B0609020000020004" pitchFamily="49" charset="0"/>
              </a:rPr>
              <a:t>            </a:t>
            </a:r>
            <a:r>
              <a:rPr lang="en-US" sz="1600" dirty="0" err="1">
                <a:latin typeface="Cascadia Mono" panose="020B0609020000020004" pitchFamily="49" charset="0"/>
                <a:cs typeface="Cascadia Mono" panose="020B0609020000020004" pitchFamily="49" charset="0"/>
              </a:rPr>
              <a:t>best_score</a:t>
            </a:r>
            <a:r>
              <a:rPr lang="en-US" sz="1600" dirty="0">
                <a:latin typeface="Cascadia Mono" panose="020B0609020000020004" pitchFamily="49" charset="0"/>
                <a:cs typeface="Cascadia Mono" panose="020B0609020000020004" pitchFamily="49" charset="0"/>
              </a:rPr>
              <a:t> = score</a:t>
            </a:r>
          </a:p>
          <a:p>
            <a:r>
              <a:rPr lang="en-US" sz="1600" dirty="0">
                <a:latin typeface="Cascadia Mono" panose="020B0609020000020004" pitchFamily="49" charset="0"/>
                <a:cs typeface="Cascadia Mono" panose="020B0609020000020004" pitchFamily="49" charset="0"/>
              </a:rPr>
              <a:t>            </a:t>
            </a:r>
            <a:r>
              <a:rPr lang="en-US" sz="1600" dirty="0" err="1">
                <a:latin typeface="Cascadia Mono" panose="020B0609020000020004" pitchFamily="49" charset="0"/>
                <a:cs typeface="Cascadia Mono" panose="020B0609020000020004" pitchFamily="49" charset="0"/>
              </a:rPr>
              <a:t>best_topic</a:t>
            </a:r>
            <a:r>
              <a:rPr lang="en-US" sz="1600" dirty="0">
                <a:latin typeface="Cascadia Mono" panose="020B0609020000020004" pitchFamily="49" charset="0"/>
                <a:cs typeface="Cascadia Mono" panose="020B0609020000020004" pitchFamily="49" charset="0"/>
              </a:rPr>
              <a:t> = </a:t>
            </a:r>
            <a:r>
              <a:rPr lang="en-US" sz="1600" dirty="0" err="1">
                <a:latin typeface="Cascadia Mono" panose="020B0609020000020004" pitchFamily="49" charset="0"/>
                <a:cs typeface="Cascadia Mono" panose="020B0609020000020004" pitchFamily="49" charset="0"/>
              </a:rPr>
              <a:t>topic_key</a:t>
            </a:r>
            <a:endParaRPr lang="en-GB" sz="1600" dirty="0">
              <a:latin typeface="Cascadia Mono" panose="020B0609020000020004" pitchFamily="49" charset="0"/>
              <a:cs typeface="Cascadia Mono" panose="020B0609020000020004" pitchFamily="49" charset="0"/>
            </a:endParaRPr>
          </a:p>
        </p:txBody>
      </p:sp>
      <p:sp>
        <p:nvSpPr>
          <p:cNvPr id="9" name="TextBox 8">
            <a:extLst>
              <a:ext uri="{FF2B5EF4-FFF2-40B4-BE49-F238E27FC236}">
                <a16:creationId xmlns:a16="http://schemas.microsoft.com/office/drawing/2014/main" id="{987D6C8F-5BEA-454A-E0CA-B029524B88BE}"/>
              </a:ext>
            </a:extLst>
          </p:cNvPr>
          <p:cNvSpPr txBox="1"/>
          <p:nvPr/>
        </p:nvSpPr>
        <p:spPr>
          <a:xfrm>
            <a:off x="5678672" y="4328676"/>
            <a:ext cx="5465134" cy="1200329"/>
          </a:xfrm>
          <a:prstGeom prst="rect">
            <a:avLst/>
          </a:prstGeom>
          <a:solidFill>
            <a:schemeClr val="accent6">
              <a:lumMod val="20000"/>
              <a:lumOff val="80000"/>
            </a:schemeClr>
          </a:solidFill>
        </p:spPr>
        <p:txBody>
          <a:bodyPr wrap="square" rtlCol="0">
            <a:spAutoFit/>
          </a:bodyPr>
          <a:lstStyle/>
          <a:p>
            <a:r>
              <a:rPr lang="en-US" dirty="0"/>
              <a:t>Compare the query embedding with all stored embeddings</a:t>
            </a:r>
          </a:p>
          <a:p>
            <a:r>
              <a:rPr lang="en-US" dirty="0"/>
              <a:t>Select the topic whose embedding is most similar to the query</a:t>
            </a:r>
            <a:endParaRPr lang="en-GB" dirty="0"/>
          </a:p>
        </p:txBody>
      </p:sp>
    </p:spTree>
    <p:extLst>
      <p:ext uri="{BB962C8B-B14F-4D97-AF65-F5344CB8AC3E}">
        <p14:creationId xmlns:p14="http://schemas.microsoft.com/office/powerpoint/2010/main" val="653559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B3221-664A-C72A-377D-6297EEDB8688}"/>
              </a:ext>
            </a:extLst>
          </p:cNvPr>
          <p:cNvSpPr>
            <a:spLocks noGrp="1"/>
          </p:cNvSpPr>
          <p:nvPr>
            <p:ph type="title"/>
          </p:nvPr>
        </p:nvSpPr>
        <p:spPr/>
        <p:txBody>
          <a:bodyPr/>
          <a:lstStyle/>
          <a:p>
            <a:r>
              <a:rPr lang="en-IN" dirty="0"/>
              <a:t>RAG (</a:t>
            </a:r>
            <a:r>
              <a:rPr lang="en-GB" dirty="0"/>
              <a:t>Retrieval-Augmented Generation)</a:t>
            </a:r>
          </a:p>
        </p:txBody>
      </p:sp>
      <p:graphicFrame>
        <p:nvGraphicFramePr>
          <p:cNvPr id="7" name="Content Placeholder 6">
            <a:extLst>
              <a:ext uri="{FF2B5EF4-FFF2-40B4-BE49-F238E27FC236}">
                <a16:creationId xmlns:a16="http://schemas.microsoft.com/office/drawing/2014/main" id="{7EAD6D24-CFF0-D229-5343-C53CF8F86E27}"/>
              </a:ext>
            </a:extLst>
          </p:cNvPr>
          <p:cNvGraphicFramePr>
            <a:graphicFrameLocks noGrp="1"/>
          </p:cNvGraphicFramePr>
          <p:nvPr>
            <p:ph idx="1"/>
          </p:nvPr>
        </p:nvGraphicFramePr>
        <p:xfrm>
          <a:off x="838200" y="1898174"/>
          <a:ext cx="10515600" cy="4206240"/>
        </p:xfrm>
        <a:graphic>
          <a:graphicData uri="http://schemas.openxmlformats.org/drawingml/2006/table">
            <a:tbl>
              <a:tblPr/>
              <a:tblGrid>
                <a:gridCol w="2628900">
                  <a:extLst>
                    <a:ext uri="{9D8B030D-6E8A-4147-A177-3AD203B41FA5}">
                      <a16:colId xmlns:a16="http://schemas.microsoft.com/office/drawing/2014/main" val="87658153"/>
                    </a:ext>
                  </a:extLst>
                </a:gridCol>
                <a:gridCol w="2628900">
                  <a:extLst>
                    <a:ext uri="{9D8B030D-6E8A-4147-A177-3AD203B41FA5}">
                      <a16:colId xmlns:a16="http://schemas.microsoft.com/office/drawing/2014/main" val="2926208158"/>
                    </a:ext>
                  </a:extLst>
                </a:gridCol>
                <a:gridCol w="2628900">
                  <a:extLst>
                    <a:ext uri="{9D8B030D-6E8A-4147-A177-3AD203B41FA5}">
                      <a16:colId xmlns:a16="http://schemas.microsoft.com/office/drawing/2014/main" val="2861073376"/>
                    </a:ext>
                  </a:extLst>
                </a:gridCol>
                <a:gridCol w="2628900">
                  <a:extLst>
                    <a:ext uri="{9D8B030D-6E8A-4147-A177-3AD203B41FA5}">
                      <a16:colId xmlns:a16="http://schemas.microsoft.com/office/drawing/2014/main" val="3744442337"/>
                    </a:ext>
                  </a:extLst>
                </a:gridCol>
              </a:tblGrid>
              <a:tr h="0">
                <a:tc>
                  <a:txBody>
                    <a:bodyPr/>
                    <a:lstStyle/>
                    <a:p>
                      <a:pPr>
                        <a:buNone/>
                      </a:pPr>
                      <a:r>
                        <a:rPr lang="en-GB" b="1"/>
                        <a:t>System</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b="1"/>
                        <a:t>Description</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b="1"/>
                        <a:t>Strengths</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b="1"/>
                        <a:t>Limitations</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167338943"/>
                  </a:ext>
                </a:extLst>
              </a:tr>
              <a:tr h="0">
                <a:tc>
                  <a:txBody>
                    <a:bodyPr/>
                    <a:lstStyle/>
                    <a:p>
                      <a:pPr>
                        <a:buNone/>
                      </a:pPr>
                      <a:r>
                        <a:rPr lang="en-GB" b="1"/>
                        <a:t>Large Language Models (LLMs)</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dirty="0"/>
                        <a:t>Models like </a:t>
                      </a:r>
                      <a:r>
                        <a:rPr lang="en-US" b="1" dirty="0"/>
                        <a:t>GPT</a:t>
                      </a:r>
                      <a:r>
                        <a:rPr lang="en-US" dirty="0"/>
                        <a:t>, trained on vast text corpora to understand and </a:t>
                      </a:r>
                      <a:r>
                        <a:rPr lang="en-US" b="1" dirty="0"/>
                        <a:t>generate </a:t>
                      </a:r>
                      <a:r>
                        <a:rPr lang="en-US" dirty="0"/>
                        <a:t>language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a:t>• Excellent at reasoning and generating fluent text • Understands context and tone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dirty="0"/>
                        <a:t>• Knowledge is </a:t>
                      </a:r>
                      <a:r>
                        <a:rPr lang="en-US" b="1" dirty="0"/>
                        <a:t>static</a:t>
                      </a:r>
                      <a:r>
                        <a:rPr lang="en-US" dirty="0"/>
                        <a:t> (fixed at training time) </a:t>
                      </a:r>
                    </a:p>
                    <a:p>
                      <a:pPr>
                        <a:buNone/>
                      </a:pPr>
                      <a:r>
                        <a:rPr lang="en-US" dirty="0"/>
                        <a:t>• Can </a:t>
                      </a:r>
                      <a:r>
                        <a:rPr lang="en-US" b="1" dirty="0"/>
                        <a:t>hallucinate</a:t>
                      </a:r>
                      <a:r>
                        <a:rPr lang="en-US" dirty="0"/>
                        <a:t> or make factual errors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47746419"/>
                  </a:ext>
                </a:extLst>
              </a:tr>
              <a:tr h="0">
                <a:tc>
                  <a:txBody>
                    <a:bodyPr/>
                    <a:lstStyle/>
                    <a:p>
                      <a:pPr>
                        <a:buNone/>
                      </a:pPr>
                      <a:r>
                        <a:rPr lang="en-GB" b="1"/>
                        <a:t>Retrieval Systems</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dirty="0"/>
                        <a:t>Tools like </a:t>
                      </a:r>
                      <a:r>
                        <a:rPr lang="en-US" b="1" dirty="0"/>
                        <a:t>search engines</a:t>
                      </a:r>
                      <a:r>
                        <a:rPr lang="en-US" dirty="0"/>
                        <a:t> that fetch documents or facts from external 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dirty="0"/>
                        <a:t>• Always up to date </a:t>
                      </a:r>
                    </a:p>
                    <a:p>
                      <a:pPr>
                        <a:buNone/>
                      </a:pPr>
                      <a:r>
                        <a:rPr lang="en-US" dirty="0"/>
                        <a:t>• Provide </a:t>
                      </a:r>
                      <a:r>
                        <a:rPr lang="en-US" b="1" dirty="0"/>
                        <a:t>accurate factual data</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dirty="0"/>
                        <a:t>Cannot generate conversational or contextual responses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943442103"/>
                  </a:ext>
                </a:extLst>
              </a:tr>
              <a:tr h="0">
                <a:tc>
                  <a:txBody>
                    <a:bodyPr/>
                    <a:lstStyle/>
                    <a:p>
                      <a:pPr>
                        <a:buNone/>
                      </a:pPr>
                      <a:r>
                        <a:rPr lang="en-GB" b="1"/>
                        <a:t>RAG (Retrieval-Augmented Generation)</a:t>
                      </a:r>
                      <a:endParaRPr lang="en-GB"/>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dirty="0"/>
                        <a:t>Combines </a:t>
                      </a:r>
                      <a:r>
                        <a:rPr lang="en-US" b="1" dirty="0"/>
                        <a:t>retrieval + generation</a:t>
                      </a:r>
                      <a:r>
                        <a:rPr lang="en-US" dirty="0"/>
                        <a:t> — fetches relevant documents and uses them to generate grounded responses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dirty="0"/>
                        <a:t>• </a:t>
                      </a:r>
                      <a:r>
                        <a:rPr lang="en-US" b="1" dirty="0"/>
                        <a:t>Factual + conversational</a:t>
                      </a:r>
                      <a:r>
                        <a:rPr lang="en-US" dirty="0"/>
                        <a:t> • Reduces hallucination </a:t>
                      </a:r>
                    </a:p>
                    <a:p>
                      <a:pPr>
                        <a:buNone/>
                      </a:pPr>
                      <a:r>
                        <a:rPr lang="en-US" dirty="0"/>
                        <a:t>• Dynamic and updatable knowledge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dirty="0"/>
                        <a:t>Needs a good retrieval pipeline and embedding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928774664"/>
                  </a:ext>
                </a:extLst>
              </a:tr>
            </a:tbl>
          </a:graphicData>
        </a:graphic>
      </p:graphicFrame>
    </p:spTree>
    <p:extLst>
      <p:ext uri="{BB962C8B-B14F-4D97-AF65-F5344CB8AC3E}">
        <p14:creationId xmlns:p14="http://schemas.microsoft.com/office/powerpoint/2010/main" val="1611966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1F4DC-2491-F410-9C48-3A9840FC3594}"/>
              </a:ext>
            </a:extLst>
          </p:cNvPr>
          <p:cNvSpPr>
            <a:spLocks noGrp="1"/>
          </p:cNvSpPr>
          <p:nvPr>
            <p:ph type="title"/>
          </p:nvPr>
        </p:nvSpPr>
        <p:spPr/>
        <p:txBody>
          <a:bodyPr/>
          <a:lstStyle/>
          <a:p>
            <a:r>
              <a:rPr lang="en-IN" dirty="0"/>
              <a:t>RAG: Core Components</a:t>
            </a:r>
            <a:endParaRPr lang="en-GB" dirty="0"/>
          </a:p>
        </p:txBody>
      </p:sp>
      <p:graphicFrame>
        <p:nvGraphicFramePr>
          <p:cNvPr id="6" name="Content Placeholder 5">
            <a:extLst>
              <a:ext uri="{FF2B5EF4-FFF2-40B4-BE49-F238E27FC236}">
                <a16:creationId xmlns:a16="http://schemas.microsoft.com/office/drawing/2014/main" id="{244300DD-A19F-BB5C-105D-B38E49346A50}"/>
              </a:ext>
            </a:extLst>
          </p:cNvPr>
          <p:cNvGraphicFramePr>
            <a:graphicFrameLocks noGrp="1"/>
          </p:cNvGraphicFramePr>
          <p:nvPr>
            <p:ph idx="1"/>
          </p:nvPr>
        </p:nvGraphicFramePr>
        <p:xfrm>
          <a:off x="551432" y="1807784"/>
          <a:ext cx="10515600" cy="4351337"/>
        </p:xfrm>
        <a:graphic>
          <a:graphicData uri="http://schemas.openxmlformats.org/drawingml/2006/table">
            <a:tbl>
              <a:tblPr/>
              <a:tblGrid>
                <a:gridCol w="1563554">
                  <a:extLst>
                    <a:ext uri="{9D8B030D-6E8A-4147-A177-3AD203B41FA5}">
                      <a16:colId xmlns:a16="http://schemas.microsoft.com/office/drawing/2014/main" val="2359532609"/>
                    </a:ext>
                  </a:extLst>
                </a:gridCol>
                <a:gridCol w="2642686">
                  <a:extLst>
                    <a:ext uri="{9D8B030D-6E8A-4147-A177-3AD203B41FA5}">
                      <a16:colId xmlns:a16="http://schemas.microsoft.com/office/drawing/2014/main" val="2094459274"/>
                    </a:ext>
                  </a:extLst>
                </a:gridCol>
                <a:gridCol w="2103120">
                  <a:extLst>
                    <a:ext uri="{9D8B030D-6E8A-4147-A177-3AD203B41FA5}">
                      <a16:colId xmlns:a16="http://schemas.microsoft.com/office/drawing/2014/main" val="2571088841"/>
                    </a:ext>
                  </a:extLst>
                </a:gridCol>
                <a:gridCol w="2103120">
                  <a:extLst>
                    <a:ext uri="{9D8B030D-6E8A-4147-A177-3AD203B41FA5}">
                      <a16:colId xmlns:a16="http://schemas.microsoft.com/office/drawing/2014/main" val="1591040923"/>
                    </a:ext>
                  </a:extLst>
                </a:gridCol>
                <a:gridCol w="2103120">
                  <a:extLst>
                    <a:ext uri="{9D8B030D-6E8A-4147-A177-3AD203B41FA5}">
                      <a16:colId xmlns:a16="http://schemas.microsoft.com/office/drawing/2014/main" val="1308982174"/>
                    </a:ext>
                  </a:extLst>
                </a:gridCol>
              </a:tblGrid>
              <a:tr h="564062">
                <a:tc>
                  <a:txBody>
                    <a:bodyPr/>
                    <a:lstStyle/>
                    <a:p>
                      <a:pPr>
                        <a:buNone/>
                      </a:pPr>
                      <a:r>
                        <a:rPr lang="en-GB" sz="1600" b="1"/>
                        <a:t>Component</a:t>
                      </a:r>
                      <a:endParaRPr lang="en-GB" sz="1600"/>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b="1"/>
                        <a:t>Function</a:t>
                      </a:r>
                      <a:endParaRPr lang="en-GB" sz="1600"/>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b="1"/>
                        <a:t>Examples / Techniques</a:t>
                      </a:r>
                      <a:endParaRPr lang="en-GB" sz="1600"/>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b="1"/>
                        <a:t>Input</a:t>
                      </a:r>
                      <a:endParaRPr lang="en-GB" sz="1600"/>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b="1"/>
                        <a:t>Output</a:t>
                      </a:r>
                      <a:endParaRPr lang="en-GB" sz="1600"/>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2619514"/>
                  </a:ext>
                </a:extLst>
              </a:tr>
              <a:tr h="1772767">
                <a:tc>
                  <a:txBody>
                    <a:bodyPr/>
                    <a:lstStyle/>
                    <a:p>
                      <a:pPr>
                        <a:buNone/>
                      </a:pPr>
                      <a:r>
                        <a:rPr lang="en-GB" sz="1600" b="1"/>
                        <a:t>Retriever</a:t>
                      </a:r>
                      <a:endParaRPr lang="en-GB" sz="1600"/>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Fetches </a:t>
                      </a:r>
                      <a:r>
                        <a:rPr lang="en-US" sz="1600" b="1" dirty="0"/>
                        <a:t>relevant documents or text passages</a:t>
                      </a:r>
                      <a:r>
                        <a:rPr lang="en-US" sz="1600" dirty="0"/>
                        <a:t> from a large corpus based on the user query</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dirty="0"/>
                        <a:t>• </a:t>
                      </a:r>
                      <a:r>
                        <a:rPr lang="en-GB" sz="1600" b="1" dirty="0"/>
                        <a:t>BM25</a:t>
                      </a:r>
                      <a:r>
                        <a:rPr lang="en-GB" sz="1600" dirty="0"/>
                        <a:t> (keyword-based) </a:t>
                      </a:r>
                    </a:p>
                    <a:p>
                      <a:pPr>
                        <a:buNone/>
                      </a:pPr>
                      <a:r>
                        <a:rPr lang="en-GB" sz="1600" dirty="0"/>
                        <a:t>• </a:t>
                      </a:r>
                      <a:r>
                        <a:rPr lang="en-GB" sz="1600" b="1" dirty="0"/>
                        <a:t>Dense vector search</a:t>
                      </a:r>
                      <a:r>
                        <a:rPr lang="en-GB" sz="1600" dirty="0"/>
                        <a:t> (FAISS, Elasticsearch) </a:t>
                      </a:r>
                    </a:p>
                    <a:p>
                      <a:pPr>
                        <a:buNone/>
                      </a:pPr>
                      <a:r>
                        <a:rPr lang="en-GB" sz="1600" dirty="0"/>
                        <a:t>• </a:t>
                      </a:r>
                      <a:r>
                        <a:rPr lang="en-GB" sz="1600" b="1" dirty="0"/>
                        <a:t>DPR</a:t>
                      </a:r>
                      <a:r>
                        <a:rPr lang="en-GB" sz="1600" dirty="0"/>
                        <a:t> (Dense Passage Retrieval)</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a:t>User query or prompt</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a:t>Top-</a:t>
                      </a:r>
                      <a:r>
                        <a:rPr lang="en-GB" sz="1600" i="1"/>
                        <a:t>k</a:t>
                      </a:r>
                      <a:r>
                        <a:rPr lang="en-GB" sz="1600"/>
                        <a:t> relevant documents</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58785735"/>
                  </a:ext>
                </a:extLst>
              </a:tr>
              <a:tr h="2014508">
                <a:tc>
                  <a:txBody>
                    <a:bodyPr/>
                    <a:lstStyle/>
                    <a:p>
                      <a:pPr>
                        <a:buNone/>
                      </a:pPr>
                      <a:r>
                        <a:rPr lang="en-GB" sz="1600" b="1"/>
                        <a:t>Generator</a:t>
                      </a:r>
                      <a:endParaRPr lang="en-GB" sz="1600"/>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US" sz="1600" dirty="0"/>
                        <a:t>A </a:t>
                      </a:r>
                      <a:r>
                        <a:rPr lang="en-US" sz="1600" b="1" dirty="0"/>
                        <a:t>language model</a:t>
                      </a:r>
                      <a:r>
                        <a:rPr lang="en-US" sz="1600" dirty="0"/>
                        <a:t> (e.g., GPT, BART, T5) that takes the </a:t>
                      </a:r>
                      <a:r>
                        <a:rPr lang="en-US" sz="1600" b="1" dirty="0"/>
                        <a:t>query + retrieved documents</a:t>
                      </a:r>
                      <a:r>
                        <a:rPr lang="en-US" sz="1600" dirty="0"/>
                        <a:t> as input and generates a </a:t>
                      </a:r>
                      <a:r>
                        <a:rPr lang="en-US" sz="1600" b="1" dirty="0"/>
                        <a:t>contextually grounded response</a:t>
                      </a:r>
                      <a:endParaRPr lang="en-US" sz="1600" dirty="0"/>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dirty="0"/>
                        <a:t>• GPT family (OpenAI) • BART, T5 (Google) </a:t>
                      </a:r>
                    </a:p>
                    <a:p>
                      <a:pPr>
                        <a:buNone/>
                      </a:pPr>
                      <a:r>
                        <a:rPr lang="en-GB" sz="1600" dirty="0"/>
                        <a:t>• Claude, Gemini, Mistral</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a:t>User query + retrieved text</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GB" sz="1600" dirty="0"/>
                        <a:t>Final, grounded, natural-language response</a:t>
                      </a:r>
                    </a:p>
                  </a:txBody>
                  <a:tcPr marL="80580" marR="80580" marT="40290" marB="40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511693822"/>
                  </a:ext>
                </a:extLst>
              </a:tr>
            </a:tbl>
          </a:graphicData>
        </a:graphic>
      </p:graphicFrame>
    </p:spTree>
    <p:extLst>
      <p:ext uri="{BB962C8B-B14F-4D97-AF65-F5344CB8AC3E}">
        <p14:creationId xmlns:p14="http://schemas.microsoft.com/office/powerpoint/2010/main" val="815638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AA106-CBAF-A7A1-9AA1-C1FED763CAE7}"/>
              </a:ext>
            </a:extLst>
          </p:cNvPr>
          <p:cNvSpPr>
            <a:spLocks noGrp="1"/>
          </p:cNvSpPr>
          <p:nvPr>
            <p:ph type="title"/>
          </p:nvPr>
        </p:nvSpPr>
        <p:spPr/>
        <p:txBody>
          <a:bodyPr/>
          <a:lstStyle/>
          <a:p>
            <a:r>
              <a:rPr lang="en-IN" dirty="0"/>
              <a:t>RAG Example – Inputs</a:t>
            </a:r>
            <a:endParaRPr lang="en-GB" dirty="0"/>
          </a:p>
        </p:txBody>
      </p:sp>
      <p:sp>
        <p:nvSpPr>
          <p:cNvPr id="3" name="Content Placeholder 2">
            <a:extLst>
              <a:ext uri="{FF2B5EF4-FFF2-40B4-BE49-F238E27FC236}">
                <a16:creationId xmlns:a16="http://schemas.microsoft.com/office/drawing/2014/main" id="{0A21FAF9-1F66-B924-BB31-4312229AFCE0}"/>
              </a:ext>
            </a:extLst>
          </p:cNvPr>
          <p:cNvSpPr>
            <a:spLocks noGrp="1"/>
          </p:cNvSpPr>
          <p:nvPr>
            <p:ph idx="1"/>
          </p:nvPr>
        </p:nvSpPr>
        <p:spPr/>
        <p:txBody>
          <a:bodyPr/>
          <a:lstStyle/>
          <a:p>
            <a:r>
              <a:rPr lang="en-IN" dirty="0"/>
              <a:t>User’s query and our knowledge base</a:t>
            </a:r>
            <a:endParaRPr lang="en-GB" dirty="0"/>
          </a:p>
        </p:txBody>
      </p:sp>
      <p:graphicFrame>
        <p:nvGraphicFramePr>
          <p:cNvPr id="4" name="Table 3">
            <a:extLst>
              <a:ext uri="{FF2B5EF4-FFF2-40B4-BE49-F238E27FC236}">
                <a16:creationId xmlns:a16="http://schemas.microsoft.com/office/drawing/2014/main" id="{CB7C8113-16A3-D35B-9C09-57706E5CEA01}"/>
              </a:ext>
            </a:extLst>
          </p:cNvPr>
          <p:cNvGraphicFramePr>
            <a:graphicFrameLocks noGrp="1"/>
          </p:cNvGraphicFramePr>
          <p:nvPr/>
        </p:nvGraphicFramePr>
        <p:xfrm>
          <a:off x="838200" y="2554426"/>
          <a:ext cx="10155347" cy="2103120"/>
        </p:xfrm>
        <a:graphic>
          <a:graphicData uri="http://schemas.openxmlformats.org/drawingml/2006/table">
            <a:tbl>
              <a:tblPr firstRow="1" bandRow="1">
                <a:tableStyleId>{5C22544A-7EE6-4342-B048-85BDC9FD1C3A}</a:tableStyleId>
              </a:tblPr>
              <a:tblGrid>
                <a:gridCol w="1793125">
                  <a:extLst>
                    <a:ext uri="{9D8B030D-6E8A-4147-A177-3AD203B41FA5}">
                      <a16:colId xmlns:a16="http://schemas.microsoft.com/office/drawing/2014/main" val="2365988646"/>
                    </a:ext>
                  </a:extLst>
                </a:gridCol>
                <a:gridCol w="8362222">
                  <a:extLst>
                    <a:ext uri="{9D8B030D-6E8A-4147-A177-3AD203B41FA5}">
                      <a16:colId xmlns:a16="http://schemas.microsoft.com/office/drawing/2014/main" val="2497761991"/>
                    </a:ext>
                  </a:extLst>
                </a:gridCol>
              </a:tblGrid>
              <a:tr h="0">
                <a:tc>
                  <a:txBody>
                    <a:bodyPr/>
                    <a:lstStyle/>
                    <a:p>
                      <a:r>
                        <a:rPr lang="en-IN" dirty="0"/>
                        <a:t>User Query</a:t>
                      </a:r>
                      <a:endParaRPr lang="en-GB" dirty="0"/>
                    </a:p>
                  </a:txBody>
                  <a:tcPr/>
                </a:tc>
                <a:tc>
                  <a:txBody>
                    <a:bodyPr/>
                    <a:lstStyle/>
                    <a:p>
                      <a:r>
                        <a:rPr lang="en-US" dirty="0"/>
                        <a:t>“What’s the refund policy for orders placed during Black Friday, and how long does it take to process a refund?”</a:t>
                      </a:r>
                      <a:endParaRPr lang="en-GB" dirty="0"/>
                    </a:p>
                  </a:txBody>
                  <a:tcPr/>
                </a:tc>
                <a:extLst>
                  <a:ext uri="{0D108BD9-81ED-4DB2-BD59-A6C34878D82A}">
                    <a16:rowId xmlns:a16="http://schemas.microsoft.com/office/drawing/2014/main" val="2351687771"/>
                  </a:ext>
                </a:extLst>
              </a:tr>
              <a:tr h="370840">
                <a:tc>
                  <a:txBody>
                    <a:bodyPr/>
                    <a:lstStyle/>
                    <a:p>
                      <a:r>
                        <a:rPr lang="en-IN" dirty="0"/>
                        <a:t>Our Document Corpus</a:t>
                      </a:r>
                      <a:endParaRPr lang="en-GB" dirty="0"/>
                    </a:p>
                  </a:txBody>
                  <a:tcPr/>
                </a:tc>
                <a:tc>
                  <a:txBody>
                    <a:bodyPr/>
                    <a:lstStyle/>
                    <a:p>
                      <a:r>
                        <a:rPr lang="en-US" b="1" dirty="0"/>
                        <a:t>Doc A:</a:t>
                      </a:r>
                      <a:r>
                        <a:rPr lang="en-US" dirty="0"/>
                        <a:t> “Standard refunds processed within 7–10 business days. Black Friday orders may take up to 14 business days due to volume.”</a:t>
                      </a:r>
                    </a:p>
                    <a:p>
                      <a:r>
                        <a:rPr lang="en-US" b="1" dirty="0"/>
                        <a:t>Doc B:</a:t>
                      </a:r>
                      <a:r>
                        <a:rPr lang="en-US" dirty="0"/>
                        <a:t> “Refunds for sale items issued as store credit only, unless otherwise stated.”</a:t>
                      </a:r>
                    </a:p>
                    <a:p>
                      <a:r>
                        <a:rPr lang="en-US" b="1" dirty="0"/>
                        <a:t>Doc C:</a:t>
                      </a:r>
                      <a:r>
                        <a:rPr lang="en-US" dirty="0"/>
                        <a:t> “To request a refund, open a ticket and provide order number. Refunds processed after item return is confirmed.”</a:t>
                      </a:r>
                      <a:endParaRPr lang="en-GB" dirty="0"/>
                    </a:p>
                  </a:txBody>
                  <a:tcPr/>
                </a:tc>
                <a:extLst>
                  <a:ext uri="{0D108BD9-81ED-4DB2-BD59-A6C34878D82A}">
                    <a16:rowId xmlns:a16="http://schemas.microsoft.com/office/drawing/2014/main" val="3117837487"/>
                  </a:ext>
                </a:extLst>
              </a:tr>
            </a:tbl>
          </a:graphicData>
        </a:graphic>
      </p:graphicFrame>
    </p:spTree>
    <p:extLst>
      <p:ext uri="{BB962C8B-B14F-4D97-AF65-F5344CB8AC3E}">
        <p14:creationId xmlns:p14="http://schemas.microsoft.com/office/powerpoint/2010/main" val="601246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570E6CA-1587-C03E-CB2F-AC0634D3327B}"/>
              </a:ext>
            </a:extLst>
          </p:cNvPr>
          <p:cNvGraphicFramePr>
            <a:graphicFrameLocks noGrp="1"/>
          </p:cNvGraphicFramePr>
          <p:nvPr>
            <p:ph idx="1"/>
          </p:nvPr>
        </p:nvGraphicFramePr>
        <p:xfrm>
          <a:off x="265245" y="97723"/>
          <a:ext cx="11656855" cy="6566639"/>
        </p:xfrm>
        <a:graphic>
          <a:graphicData uri="http://schemas.openxmlformats.org/drawingml/2006/table">
            <a:tbl>
              <a:tblPr/>
              <a:tblGrid>
                <a:gridCol w="585724">
                  <a:extLst>
                    <a:ext uri="{9D8B030D-6E8A-4147-A177-3AD203B41FA5}">
                      <a16:colId xmlns:a16="http://schemas.microsoft.com/office/drawing/2014/main" val="3856510757"/>
                    </a:ext>
                  </a:extLst>
                </a:gridCol>
                <a:gridCol w="1621228">
                  <a:extLst>
                    <a:ext uri="{9D8B030D-6E8A-4147-A177-3AD203B41FA5}">
                      <a16:colId xmlns:a16="http://schemas.microsoft.com/office/drawing/2014/main" val="3062957704"/>
                    </a:ext>
                  </a:extLst>
                </a:gridCol>
                <a:gridCol w="3221558">
                  <a:extLst>
                    <a:ext uri="{9D8B030D-6E8A-4147-A177-3AD203B41FA5}">
                      <a16:colId xmlns:a16="http://schemas.microsoft.com/office/drawing/2014/main" val="3346583590"/>
                    </a:ext>
                  </a:extLst>
                </a:gridCol>
                <a:gridCol w="3228964">
                  <a:extLst>
                    <a:ext uri="{9D8B030D-6E8A-4147-A177-3AD203B41FA5}">
                      <a16:colId xmlns:a16="http://schemas.microsoft.com/office/drawing/2014/main" val="4062829991"/>
                    </a:ext>
                  </a:extLst>
                </a:gridCol>
                <a:gridCol w="2999381">
                  <a:extLst>
                    <a:ext uri="{9D8B030D-6E8A-4147-A177-3AD203B41FA5}">
                      <a16:colId xmlns:a16="http://schemas.microsoft.com/office/drawing/2014/main" val="3542606598"/>
                    </a:ext>
                  </a:extLst>
                </a:gridCol>
              </a:tblGrid>
              <a:tr h="244431">
                <a:tc>
                  <a:txBody>
                    <a:bodyPr/>
                    <a:lstStyle/>
                    <a:p>
                      <a:pPr algn="r">
                        <a:buNone/>
                      </a:pPr>
                      <a:r>
                        <a:rPr lang="en-GB" sz="1400" b="1"/>
                        <a:t>Step</a:t>
                      </a:r>
                      <a:endParaRPr lang="en-GB"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b="1"/>
                        <a:t>Action</a:t>
                      </a:r>
                      <a:endParaRPr lang="en-GB"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b="1"/>
                        <a:t>Input</a:t>
                      </a:r>
                      <a:endParaRPr lang="en-GB"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b="1"/>
                        <a:t>Process</a:t>
                      </a:r>
                      <a:endParaRPr lang="en-GB"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b="1"/>
                        <a:t>Output</a:t>
                      </a:r>
                      <a:endParaRPr lang="en-GB"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9653361"/>
                  </a:ext>
                </a:extLst>
              </a:tr>
              <a:tr h="459309">
                <a:tc>
                  <a:txBody>
                    <a:bodyPr/>
                    <a:lstStyle/>
                    <a:p>
                      <a:pPr algn="r">
                        <a:buNone/>
                      </a:pPr>
                      <a:r>
                        <a:rPr lang="en-GB" sz="1400"/>
                        <a:t>1</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t>Receive user query</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User text (e.g., “Refund policy for Black Friday?”)</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Accept &amp; normalize (trim, lowercase if needed)</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latin typeface="Courier New" panose="02070309020205020404" pitchFamily="49" charset="0"/>
                        </a:rPr>
                        <a:t>query</a:t>
                      </a:r>
                      <a:r>
                        <a:rPr lang="en-GB" sz="1400"/>
                        <a:t> string</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7843658"/>
                  </a:ext>
                </a:extLst>
              </a:tr>
              <a:tr h="622488">
                <a:tc>
                  <a:txBody>
                    <a:bodyPr/>
                    <a:lstStyle/>
                    <a:p>
                      <a:pPr algn="r">
                        <a:buNone/>
                      </a:pPr>
                      <a:r>
                        <a:rPr lang="en-GB" sz="1400"/>
                        <a:t>2</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t>Compute query embedding</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Courier New" panose="02070309020205020404" pitchFamily="49" charset="0"/>
                        </a:rPr>
                        <a:t>query</a:t>
                      </a:r>
                      <a:endParaRPr lang="en-GB" sz="1400" dirty="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Tokenize → pass to embedding model → vector</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latin typeface="Courier New" panose="02070309020205020404" pitchFamily="49" charset="0"/>
                        </a:rPr>
                        <a:t>query_embedding</a:t>
                      </a:r>
                      <a:r>
                        <a:rPr lang="en-GB" sz="1400"/>
                        <a:t> (vector)</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0963796"/>
                  </a:ext>
                </a:extLst>
              </a:tr>
              <a:tr h="674187">
                <a:tc>
                  <a:txBody>
                    <a:bodyPr/>
                    <a:lstStyle/>
                    <a:p>
                      <a:pPr algn="r">
                        <a:buNone/>
                      </a:pPr>
                      <a:r>
                        <a:rPr lang="en-GB" sz="1400"/>
                        <a:t>3</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t>Search vector store</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query_embedding</a:t>
                      </a:r>
                      <a:r>
                        <a:rPr lang="en-US" sz="1400"/>
                        <a:t> + indexed doc vectors</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Compute similarity (cosine) → retrieve matching chunks</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latin typeface="Courier New" panose="02070309020205020404" pitchFamily="49" charset="0"/>
                        </a:rPr>
                        <a:t>candidates = [(doc_id, text, score), ...]</a:t>
                      </a:r>
                      <a:endParaRPr lang="en-GB"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8620060"/>
                  </a:ext>
                </a:extLst>
              </a:tr>
              <a:tr h="459309">
                <a:tc>
                  <a:txBody>
                    <a:bodyPr/>
                    <a:lstStyle/>
                    <a:p>
                      <a:pPr algn="r">
                        <a:buNone/>
                      </a:pPr>
                      <a:r>
                        <a:rPr lang="en-GB" sz="1400"/>
                        <a:t>4</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t>(Optional) Re-rank and filter</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latin typeface="Courier New" panose="02070309020205020404" pitchFamily="49" charset="0"/>
                        </a:rPr>
                        <a:t>candidates</a:t>
                      </a:r>
                      <a:r>
                        <a:rPr lang="en-GB" sz="1400"/>
                        <a:t> + optional BM25/sparse score</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Combine scores, filter low-confidence or stale docs</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latin typeface="Courier New" panose="02070309020205020404" pitchFamily="49" charset="0"/>
                        </a:rPr>
                        <a:t>ranked_docs</a:t>
                      </a:r>
                      <a:endParaRPr lang="en-GB"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8943636"/>
                  </a:ext>
                </a:extLst>
              </a:tr>
              <a:tr h="459309">
                <a:tc>
                  <a:txBody>
                    <a:bodyPr/>
                    <a:lstStyle/>
                    <a:p>
                      <a:pPr algn="r">
                        <a:buNone/>
                      </a:pPr>
                      <a:r>
                        <a:rPr lang="en-GB" sz="1400"/>
                        <a:t>5</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t>Select top-k context</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latin typeface="Courier New" panose="02070309020205020404" pitchFamily="49" charset="0"/>
                        </a:rPr>
                        <a:t>ranked_docs</a:t>
                      </a:r>
                      <a:endParaRPr lang="en-GB"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Choose best K passages, enforce token budget</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latin typeface="Courier New" panose="02070309020205020404" pitchFamily="49" charset="0"/>
                        </a:rPr>
                        <a:t>context_passages</a:t>
                      </a:r>
                      <a:endParaRPr lang="en-GB"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040182"/>
                  </a:ext>
                </a:extLst>
              </a:tr>
              <a:tr h="885149">
                <a:tc>
                  <a:txBody>
                    <a:bodyPr/>
                    <a:lstStyle/>
                    <a:p>
                      <a:pPr algn="r">
                        <a:buNone/>
                      </a:pPr>
                      <a:r>
                        <a:rPr lang="en-GB" sz="1400"/>
                        <a:t>6</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t>Build generator prompt</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latin typeface="Courier New" panose="02070309020205020404" pitchFamily="49" charset="0"/>
                        </a:rPr>
                        <a:t>query</a:t>
                      </a:r>
                      <a:r>
                        <a:rPr lang="en-GB" sz="1400"/>
                        <a:t> + </a:t>
                      </a:r>
                      <a:r>
                        <a:rPr lang="en-GB" sz="1400">
                          <a:latin typeface="Courier New" panose="02070309020205020404" pitchFamily="49" charset="0"/>
                        </a:rPr>
                        <a:t>context_passages</a:t>
                      </a:r>
                      <a:r>
                        <a:rPr lang="en-GB" sz="1400"/>
                        <a:t> + instructions</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Create prompt template that instructs LLM to use ONLY provided docs and cite sources</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err="1">
                          <a:latin typeface="Courier New" panose="02070309020205020404" pitchFamily="49" charset="0"/>
                        </a:rPr>
                        <a:t>assembled_prompt</a:t>
                      </a:r>
                      <a:r>
                        <a:rPr lang="en-GB" sz="1400" dirty="0"/>
                        <a:t> (string)</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8867146"/>
                  </a:ext>
                </a:extLst>
              </a:tr>
              <a:tr h="739896">
                <a:tc>
                  <a:txBody>
                    <a:bodyPr/>
                    <a:lstStyle/>
                    <a:p>
                      <a:pPr algn="r">
                        <a:buNone/>
                      </a:pPr>
                      <a:r>
                        <a:rPr lang="en-GB" sz="1400"/>
                        <a:t>7</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t>Call generator (LLM)</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assembled_prompt</a:t>
                      </a:r>
                      <a:r>
                        <a:rPr lang="en-US" sz="1400"/>
                        <a:t>, </a:t>
                      </a:r>
                      <a:r>
                        <a:rPr lang="en-US" sz="1400">
                          <a:latin typeface="Courier New" panose="02070309020205020404" pitchFamily="49" charset="0"/>
                        </a:rPr>
                        <a:t>temperature</a:t>
                      </a:r>
                      <a:r>
                        <a:rPr lang="en-US" sz="1400"/>
                        <a:t>, </a:t>
                      </a:r>
                      <a:r>
                        <a:rPr lang="en-US" sz="1400">
                          <a:latin typeface="Courier New" panose="02070309020205020404" pitchFamily="49" charset="0"/>
                        </a:rPr>
                        <a:t>max_tokens</a:t>
                      </a:r>
                      <a:endParaRPr lang="en-US"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LLM generates grounded response (use low temp for facts)</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latin typeface="Courier New" panose="02070309020205020404" pitchFamily="49" charset="0"/>
                        </a:rPr>
                        <a:t>raw_response</a:t>
                      </a:r>
                      <a:r>
                        <a:rPr lang="en-GB" sz="1400"/>
                        <a:t> (text + optional metadata)</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4943116"/>
                  </a:ext>
                </a:extLst>
              </a:tr>
              <a:tr h="674187">
                <a:tc>
                  <a:txBody>
                    <a:bodyPr/>
                    <a:lstStyle/>
                    <a:p>
                      <a:pPr algn="r">
                        <a:buNone/>
                      </a:pPr>
                      <a:r>
                        <a:rPr lang="en-GB" sz="1400"/>
                        <a:t>8</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t>Post-process output</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latin typeface="Courier New" panose="02070309020205020404" pitchFamily="49" charset="0"/>
                        </a:rPr>
                        <a:t>raw_response</a:t>
                      </a:r>
                      <a:endParaRPr lang="en-GB"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Extract citations, trim, check for hallucination, add confidence or fallback</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Courier New" panose="02070309020205020404" pitchFamily="49" charset="0"/>
                        </a:rPr>
                        <a:t>final_answer</a:t>
                      </a:r>
                      <a:r>
                        <a:rPr lang="en-US" sz="1400"/>
                        <a:t>, </a:t>
                      </a:r>
                      <a:r>
                        <a:rPr lang="en-US" sz="1400">
                          <a:latin typeface="Courier New" panose="02070309020205020404" pitchFamily="49" charset="0"/>
                        </a:rPr>
                        <a:t>sources</a:t>
                      </a:r>
                      <a:r>
                        <a:rPr lang="en-US" sz="1400"/>
                        <a:t>, </a:t>
                      </a:r>
                      <a:r>
                        <a:rPr lang="en-US" sz="1400">
                          <a:latin typeface="Courier New" panose="02070309020205020404" pitchFamily="49" charset="0"/>
                        </a:rPr>
                        <a:t>confidence_flag</a:t>
                      </a:r>
                      <a:endParaRPr lang="en-US"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7784154"/>
                  </a:ext>
                </a:extLst>
              </a:tr>
              <a:tr h="674187">
                <a:tc>
                  <a:txBody>
                    <a:bodyPr/>
                    <a:lstStyle/>
                    <a:p>
                      <a:pPr algn="r">
                        <a:buNone/>
                      </a:pPr>
                      <a:r>
                        <a:rPr lang="en-GB" sz="1400"/>
                        <a:t>9</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t>Return result to user</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latin typeface="Courier New" panose="02070309020205020404" pitchFamily="49" charset="0"/>
                        </a:rPr>
                        <a:t>final_answer</a:t>
                      </a:r>
                      <a:r>
                        <a:rPr lang="en-GB" sz="1400"/>
                        <a:t>, </a:t>
                      </a:r>
                      <a:r>
                        <a:rPr lang="en-GB" sz="1400">
                          <a:latin typeface="Courier New" panose="02070309020205020404" pitchFamily="49" charset="0"/>
                        </a:rPr>
                        <a:t>sources</a:t>
                      </a:r>
                      <a:endParaRPr lang="en-GB" sz="1400"/>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Format for UI (text, bullets, source links) and send</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t>Shown reply + sources</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5545290"/>
                  </a:ext>
                </a:extLst>
              </a:tr>
              <a:tr h="674187">
                <a:tc>
                  <a:txBody>
                    <a:bodyPr/>
                    <a:lstStyle/>
                    <a:p>
                      <a:pPr algn="r">
                        <a:buNone/>
                      </a:pPr>
                      <a:r>
                        <a:rPr lang="en-GB" sz="1400"/>
                        <a:t>10</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t>Logging, feedback and index update</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Query, chosen docs, user feedback</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Log for evaluation, optionally re-index corrected docs or update embeddings</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t>Improved retrieval &amp; audit trail</a:t>
                      </a:r>
                    </a:p>
                  </a:txBody>
                  <a:tcPr marL="25152" marR="25152" marT="12576" marB="125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5544229"/>
                  </a:ext>
                </a:extLst>
              </a:tr>
            </a:tbl>
          </a:graphicData>
        </a:graphic>
      </p:graphicFrame>
    </p:spTree>
    <p:extLst>
      <p:ext uri="{BB962C8B-B14F-4D97-AF65-F5344CB8AC3E}">
        <p14:creationId xmlns:p14="http://schemas.microsoft.com/office/powerpoint/2010/main" val="2998782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4EBF-00AF-8F2E-2386-A3F9AC4CB3FB}"/>
              </a:ext>
            </a:extLst>
          </p:cNvPr>
          <p:cNvSpPr>
            <a:spLocks noGrp="1"/>
          </p:cNvSpPr>
          <p:nvPr>
            <p:ph type="title"/>
          </p:nvPr>
        </p:nvSpPr>
        <p:spPr/>
        <p:txBody>
          <a:bodyPr/>
          <a:lstStyle/>
          <a:p>
            <a:r>
              <a:rPr lang="en-IN" dirty="0"/>
              <a:t>Customer Service Agent (2_10_openai_agent_memory.py)</a:t>
            </a:r>
            <a:endParaRPr lang="en-GB" dirty="0"/>
          </a:p>
        </p:txBody>
      </p:sp>
      <p:sp>
        <p:nvSpPr>
          <p:cNvPr id="3" name="Content Placeholder 2">
            <a:extLst>
              <a:ext uri="{FF2B5EF4-FFF2-40B4-BE49-F238E27FC236}">
                <a16:creationId xmlns:a16="http://schemas.microsoft.com/office/drawing/2014/main" id="{6951962B-6D8B-F264-60B3-3A08EF258096}"/>
              </a:ext>
            </a:extLst>
          </p:cNvPr>
          <p:cNvSpPr>
            <a:spLocks noGrp="1"/>
          </p:cNvSpPr>
          <p:nvPr>
            <p:ph idx="1"/>
          </p:nvPr>
        </p:nvSpPr>
        <p:spPr/>
        <p:txBody>
          <a:bodyPr/>
          <a:lstStyle/>
          <a:p>
            <a:r>
              <a:rPr lang="en-IN" dirty="0"/>
              <a:t>Read </a:t>
            </a:r>
            <a:r>
              <a:rPr lang="en-IN" dirty="0">
                <a:hlinkClick r:id="rId2"/>
              </a:rPr>
              <a:t>https://www.kaggle.com/datasets/kreeshrajani/3k-conversations-dataset-for-chatbot</a:t>
            </a:r>
            <a:r>
              <a:rPr lang="en-IN" dirty="0"/>
              <a:t> to preload data</a:t>
            </a:r>
          </a:p>
          <a:p>
            <a:r>
              <a:rPr lang="en-IN" dirty="0"/>
              <a:t>Vectorize it and load it in short term and long term memory (both implemented in </a:t>
            </a:r>
            <a:r>
              <a:rPr lang="en-IN" dirty="0" err="1"/>
              <a:t>ChromaDB</a:t>
            </a:r>
            <a:r>
              <a:rPr lang="en-IN" dirty="0"/>
              <a:t>)</a:t>
            </a:r>
          </a:p>
          <a:p>
            <a:r>
              <a:rPr lang="en-IN" dirty="0"/>
              <a:t>Working: Next slide</a:t>
            </a:r>
          </a:p>
        </p:txBody>
      </p:sp>
    </p:spTree>
    <p:extLst>
      <p:ext uri="{BB962C8B-B14F-4D97-AF65-F5344CB8AC3E}">
        <p14:creationId xmlns:p14="http://schemas.microsoft.com/office/powerpoint/2010/main" val="660885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7D445-9FBC-285D-B02F-A1A89E585AFA}"/>
            </a:ext>
          </a:extLst>
        </p:cNvPr>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9282E535-98BB-9EFD-5529-2F8098F5EF18}"/>
              </a:ext>
            </a:extLst>
          </p:cNvPr>
          <p:cNvGraphicFramePr>
            <a:graphicFrameLocks noGrp="1"/>
          </p:cNvGraphicFramePr>
          <p:nvPr>
            <p:ph idx="1"/>
          </p:nvPr>
        </p:nvGraphicFramePr>
        <p:xfrm>
          <a:off x="244305" y="52667"/>
          <a:ext cx="11698734" cy="6529020"/>
        </p:xfrm>
        <a:graphic>
          <a:graphicData uri="http://schemas.openxmlformats.org/drawingml/2006/table">
            <a:tbl>
              <a:tblPr/>
              <a:tblGrid>
                <a:gridCol w="998162">
                  <a:extLst>
                    <a:ext uri="{9D8B030D-6E8A-4147-A177-3AD203B41FA5}">
                      <a16:colId xmlns:a16="http://schemas.microsoft.com/office/drawing/2014/main" val="514827921"/>
                    </a:ext>
                  </a:extLst>
                </a:gridCol>
                <a:gridCol w="1864449">
                  <a:extLst>
                    <a:ext uri="{9D8B030D-6E8A-4147-A177-3AD203B41FA5}">
                      <a16:colId xmlns:a16="http://schemas.microsoft.com/office/drawing/2014/main" val="2860616440"/>
                    </a:ext>
                  </a:extLst>
                </a:gridCol>
                <a:gridCol w="8836123">
                  <a:extLst>
                    <a:ext uri="{9D8B030D-6E8A-4147-A177-3AD203B41FA5}">
                      <a16:colId xmlns:a16="http://schemas.microsoft.com/office/drawing/2014/main" val="2600752292"/>
                    </a:ext>
                  </a:extLst>
                </a:gridCol>
              </a:tblGrid>
              <a:tr h="84084">
                <a:tc>
                  <a:txBody>
                    <a:bodyPr/>
                    <a:lstStyle/>
                    <a:p>
                      <a:pPr>
                        <a:buNone/>
                      </a:pPr>
                      <a:r>
                        <a:rPr lang="en-GB" sz="1600" b="1" dirty="0"/>
                        <a:t>Aspect</a:t>
                      </a:r>
                      <a:endParaRPr lang="en-GB" sz="1600" dirty="0"/>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GB" sz="1600" b="1"/>
                        <a:t>Purpose</a:t>
                      </a:r>
                      <a:endParaRPr lang="en-GB" sz="1600"/>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GB" sz="1600" b="1"/>
                        <a:t>How It Works</a:t>
                      </a:r>
                      <a:endParaRPr lang="en-GB" sz="1600"/>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544464331"/>
                  </a:ext>
                </a:extLst>
              </a:tr>
              <a:tr h="588587">
                <a:tc>
                  <a:txBody>
                    <a:bodyPr/>
                    <a:lstStyle/>
                    <a:p>
                      <a:pPr>
                        <a:buNone/>
                      </a:pPr>
                      <a:r>
                        <a:rPr lang="en-GB" sz="1600" b="1"/>
                        <a:t>Setup</a:t>
                      </a:r>
                      <a:endParaRPr lang="en-GB" sz="1600"/>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Initialize AI and vector storage system</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GB" sz="1600"/>
                        <a:t>- Loads OpenAI client using </a:t>
                      </a:r>
                      <a:r>
                        <a:rPr lang="en-GB" sz="1600">
                          <a:latin typeface="Courier New" panose="02070309020205020404" pitchFamily="49" charset="0"/>
                        </a:rPr>
                        <a:t>gpt-4o-mini</a:t>
                      </a:r>
                      <a:r>
                        <a:rPr lang="en-GB" sz="1600"/>
                        <a:t> model.- Initializes HuggingFace sentence-transformer (</a:t>
                      </a:r>
                      <a:r>
                        <a:rPr lang="en-GB" sz="1600">
                          <a:latin typeface="Courier New" panose="02070309020205020404" pitchFamily="49" charset="0"/>
                        </a:rPr>
                        <a:t>all-MiniLM-L6-v2</a:t>
                      </a:r>
                      <a:r>
                        <a:rPr lang="en-GB" sz="1600"/>
                        <a:t>) for embeddings.- Creates two persistent Chroma databases for memory (short-term and long-term).- Ensures directory structure for storing vector data on disk.</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577958359"/>
                  </a:ext>
                </a:extLst>
              </a:tr>
              <a:tr h="525524">
                <a:tc>
                  <a:txBody>
                    <a:bodyPr/>
                    <a:lstStyle/>
                    <a:p>
                      <a:pPr>
                        <a:buNone/>
                      </a:pPr>
                      <a:r>
                        <a:rPr lang="en-GB" sz="1600" b="1"/>
                        <a:t>Short-Term Memory</a:t>
                      </a:r>
                      <a:endParaRPr lang="en-GB" sz="1600"/>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GB" sz="1600"/>
                        <a:t>Store recent, temporary conversation context</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 Maintains recent conversational exchanges (default: 30 minutes).- Automatically removes expired entries based on timestamp metadata.- Provides immediate context continuity for natural responses.- Stored in </a:t>
                      </a:r>
                      <a:r>
                        <a:rPr lang="en-US" sz="1600">
                          <a:latin typeface="Courier New" panose="02070309020205020404" pitchFamily="49" charset="0"/>
                        </a:rPr>
                        <a:t>short_term</a:t>
                      </a:r>
                      <a:r>
                        <a:rPr lang="en-US" sz="1600"/>
                        <a:t> Chroma collection.</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57958913"/>
                  </a:ext>
                </a:extLst>
              </a:tr>
              <a:tr h="525524">
                <a:tc>
                  <a:txBody>
                    <a:bodyPr/>
                    <a:lstStyle/>
                    <a:p>
                      <a:pPr>
                        <a:buNone/>
                      </a:pPr>
                      <a:r>
                        <a:rPr lang="en-GB" sz="1600" b="1"/>
                        <a:t>Long-Term Memory</a:t>
                      </a:r>
                      <a:endParaRPr lang="en-GB" sz="1600"/>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Preserve accumulated and reference knowledge</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 Loads pre-existing FAQ or conversation pairs from </a:t>
                      </a:r>
                      <a:r>
                        <a:rPr lang="en-US" sz="1600">
                          <a:latin typeface="Courier New" panose="02070309020205020404" pitchFamily="49" charset="0"/>
                        </a:rPr>
                        <a:t>Conversation.csv</a:t>
                      </a:r>
                      <a:r>
                        <a:rPr lang="en-US" sz="1600"/>
                        <a:t>.- Retains important past conversations permanently for future reuse.- Automatically skips reload if data already exists in vector DB.- Stored in </a:t>
                      </a:r>
                      <a:r>
                        <a:rPr lang="en-US" sz="1600">
                          <a:latin typeface="Courier New" panose="02070309020205020404" pitchFamily="49" charset="0"/>
                        </a:rPr>
                        <a:t>long_term</a:t>
                      </a:r>
                      <a:r>
                        <a:rPr lang="en-US" sz="1600"/>
                        <a:t> Chroma collection.</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798568794"/>
                  </a:ext>
                </a:extLst>
              </a:tr>
              <a:tr h="525524">
                <a:tc>
                  <a:txBody>
                    <a:bodyPr/>
                    <a:lstStyle/>
                    <a:p>
                      <a:pPr>
                        <a:buNone/>
                      </a:pPr>
                      <a:r>
                        <a:rPr lang="en-GB" sz="1600" b="1"/>
                        <a:t>Memory Search</a:t>
                      </a:r>
                      <a:endParaRPr lang="en-GB" sz="1600"/>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GB" sz="1600"/>
                        <a:t>Retrieve contextually similar information</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 Converts user query into vector embedding.- Searches short- and long-term Chroma collections.- Uses cosine similarity (lower distance = higher similarity).- Returns top-k closest results with similarity scores.- Results are used as conversational context.</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352721406"/>
                  </a:ext>
                </a:extLst>
              </a:tr>
              <a:tr h="462461">
                <a:tc>
                  <a:txBody>
                    <a:bodyPr/>
                    <a:lstStyle/>
                    <a:p>
                      <a:pPr>
                        <a:buNone/>
                      </a:pPr>
                      <a:r>
                        <a:rPr lang="en-GB" sz="1600" b="1"/>
                        <a:t>Cleanup Process</a:t>
                      </a:r>
                      <a:endParaRPr lang="en-GB" sz="1600"/>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Maintain relevance in short-term memory</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 Iterates through stored entries in </a:t>
                      </a:r>
                      <a:r>
                        <a:rPr lang="en-US" sz="1600">
                          <a:latin typeface="Courier New" panose="02070309020205020404" pitchFamily="49" charset="0"/>
                        </a:rPr>
                        <a:t>short_term</a:t>
                      </a:r>
                      <a:r>
                        <a:rPr lang="en-US" sz="1600"/>
                        <a:t> memory.- Compares timestamps with current time.- Deletes entries older than 30 minutes (or configured limit).- Leaves long-term memory intact to preserve history.</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060119909"/>
                  </a:ext>
                </a:extLst>
              </a:tr>
              <a:tr h="651650">
                <a:tc>
                  <a:txBody>
                    <a:bodyPr/>
                    <a:lstStyle/>
                    <a:p>
                      <a:pPr>
                        <a:buNone/>
                      </a:pPr>
                      <a:r>
                        <a:rPr lang="en-GB" sz="1600" b="1"/>
                        <a:t>Response Generation</a:t>
                      </a:r>
                      <a:endParaRPr lang="en-GB" sz="1600"/>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Produce the AI’s final conversational reply</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1. Cleans up expired short-term entries.2. Searches both memory stores for similar past dialogues.3. Displays similarity analysis and matching content.4. Merges both memory contexts.5. Sends combined prompt to OpenAI Chat Completion API.6. Returns response that aligns with both user query and memory context.</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641618082"/>
                  </a:ext>
                </a:extLst>
              </a:tr>
              <a:tr h="525524">
                <a:tc>
                  <a:txBody>
                    <a:bodyPr/>
                    <a:lstStyle/>
                    <a:p>
                      <a:pPr>
                        <a:buNone/>
                      </a:pPr>
                      <a:r>
                        <a:rPr lang="en-GB" sz="1600" b="1"/>
                        <a:t>Memory Storage</a:t>
                      </a:r>
                      <a:endParaRPr lang="en-GB" sz="1600"/>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Determine what to retain and where</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 Every new interaction is stored in short-term memory for context continuity.- Long-term memory receives the same record for ongoing learning.- Optionally, filters can be applied (e.g., only store entries containing "policy", "remember", or "important").</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146100236"/>
                  </a:ext>
                </a:extLst>
              </a:tr>
              <a:tr h="462461">
                <a:tc>
                  <a:txBody>
                    <a:bodyPr/>
                    <a:lstStyle/>
                    <a:p>
                      <a:pPr>
                        <a:buNone/>
                      </a:pPr>
                      <a:r>
                        <a:rPr lang="en-GB" sz="1600" b="1"/>
                        <a:t>Similarity Scoring</a:t>
                      </a:r>
                      <a:endParaRPr lang="en-GB" sz="1600"/>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a:t>Quantify how close stored memory is to current input</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buNone/>
                      </a:pPr>
                      <a:r>
                        <a:rPr lang="en-US" sz="1600" dirty="0"/>
                        <a:t>- Chroma returns distance scores; smaller distance = more similarity.- Approximate similarity percentage derived as </a:t>
                      </a:r>
                      <a:r>
                        <a:rPr lang="en-US" sz="1600" dirty="0">
                          <a:latin typeface="Courier New" panose="02070309020205020404" pitchFamily="49" charset="0"/>
                        </a:rPr>
                        <a:t>(1 - distance) × 100</a:t>
                      </a:r>
                      <a:r>
                        <a:rPr lang="en-US" sz="1600" dirty="0"/>
                        <a:t>.- 100% = perfect contextual match, 0% = no match.- Printed in memory retrieval analysis output.</a:t>
                      </a:r>
                    </a:p>
                  </a:txBody>
                  <a:tcPr marL="21021" marR="21021" marT="10510" marB="105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4099597016"/>
                  </a:ext>
                </a:extLst>
              </a:tr>
            </a:tbl>
          </a:graphicData>
        </a:graphic>
      </p:graphicFrame>
      <p:sp>
        <p:nvSpPr>
          <p:cNvPr id="5" name="Title 4">
            <a:extLst>
              <a:ext uri="{FF2B5EF4-FFF2-40B4-BE49-F238E27FC236}">
                <a16:creationId xmlns:a16="http://schemas.microsoft.com/office/drawing/2014/main" id="{E76378A8-25E0-3629-A937-28225CCCB150}"/>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382226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7602A-CE57-569E-2E71-8F9B22964BF6}"/>
              </a:ext>
            </a:extLst>
          </p:cNvPr>
          <p:cNvSpPr>
            <a:spLocks noGrp="1"/>
          </p:cNvSpPr>
          <p:nvPr>
            <p:ph type="title"/>
          </p:nvPr>
        </p:nvSpPr>
        <p:spPr/>
        <p:txBody>
          <a:bodyPr/>
          <a:lstStyle/>
          <a:p>
            <a:r>
              <a:rPr lang="en-IN" dirty="0"/>
              <a:t>Handoffs (</a:t>
            </a:r>
            <a:r>
              <a:rPr lang="en-US" dirty="0"/>
              <a:t>2_11_openai_agent_handoff.py)</a:t>
            </a:r>
            <a:endParaRPr lang="en-GB" dirty="0"/>
          </a:p>
        </p:txBody>
      </p:sp>
      <p:graphicFrame>
        <p:nvGraphicFramePr>
          <p:cNvPr id="6" name="Content Placeholder 5">
            <a:extLst>
              <a:ext uri="{FF2B5EF4-FFF2-40B4-BE49-F238E27FC236}">
                <a16:creationId xmlns:a16="http://schemas.microsoft.com/office/drawing/2014/main" id="{FAF710C5-016C-D62F-6E07-667919BA60F4}"/>
              </a:ext>
            </a:extLst>
          </p:cNvPr>
          <p:cNvGraphicFramePr>
            <a:graphicFrameLocks noGrp="1"/>
          </p:cNvGraphicFramePr>
          <p:nvPr>
            <p:ph idx="1"/>
          </p:nvPr>
        </p:nvGraphicFramePr>
        <p:xfrm>
          <a:off x="523510" y="1795022"/>
          <a:ext cx="11091462" cy="4951768"/>
        </p:xfrm>
        <a:graphic>
          <a:graphicData uri="http://schemas.openxmlformats.org/drawingml/2006/table">
            <a:tbl>
              <a:tblPr/>
              <a:tblGrid>
                <a:gridCol w="1926524">
                  <a:extLst>
                    <a:ext uri="{9D8B030D-6E8A-4147-A177-3AD203B41FA5}">
                      <a16:colId xmlns:a16="http://schemas.microsoft.com/office/drawing/2014/main" val="2968606842"/>
                    </a:ext>
                  </a:extLst>
                </a:gridCol>
                <a:gridCol w="4613881">
                  <a:extLst>
                    <a:ext uri="{9D8B030D-6E8A-4147-A177-3AD203B41FA5}">
                      <a16:colId xmlns:a16="http://schemas.microsoft.com/office/drawing/2014/main" val="3936321401"/>
                    </a:ext>
                  </a:extLst>
                </a:gridCol>
                <a:gridCol w="4551057">
                  <a:extLst>
                    <a:ext uri="{9D8B030D-6E8A-4147-A177-3AD203B41FA5}">
                      <a16:colId xmlns:a16="http://schemas.microsoft.com/office/drawing/2014/main" val="486928094"/>
                    </a:ext>
                  </a:extLst>
                </a:gridCol>
              </a:tblGrid>
              <a:tr h="200062">
                <a:tc>
                  <a:txBody>
                    <a:bodyPr/>
                    <a:lstStyle/>
                    <a:p>
                      <a:pPr>
                        <a:buNone/>
                      </a:pPr>
                      <a:r>
                        <a:rPr lang="en-GB" sz="1600" b="1"/>
                        <a:t>Aspect</a:t>
                      </a:r>
                      <a:endParaRPr lang="en-GB"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GB" sz="1600" b="1"/>
                        <a:t>Description</a:t>
                      </a:r>
                      <a:endParaRPr lang="en-GB"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GB" sz="1600" b="1"/>
                        <a:t>Example / Notes</a:t>
                      </a:r>
                      <a:endParaRPr lang="en-GB"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27007512"/>
                  </a:ext>
                </a:extLst>
              </a:tr>
              <a:tr h="500154">
                <a:tc>
                  <a:txBody>
                    <a:bodyPr/>
                    <a:lstStyle/>
                    <a:p>
                      <a:pPr>
                        <a:buNone/>
                      </a:pPr>
                      <a:r>
                        <a:rPr lang="en-GB" sz="1600" b="1"/>
                        <a:t>Definition</a:t>
                      </a:r>
                      <a:endParaRPr lang="en-GB"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Allows an agent to delegate tasks to another specialized agent</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One agent passes control to another based on context or expertise</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749098015"/>
                  </a:ext>
                </a:extLst>
              </a:tr>
              <a:tr h="500154">
                <a:tc>
                  <a:txBody>
                    <a:bodyPr/>
                    <a:lstStyle/>
                    <a:p>
                      <a:pPr>
                        <a:buNone/>
                      </a:pPr>
                      <a:r>
                        <a:rPr lang="en-GB" sz="1600" b="1"/>
                        <a:t>Purpose</a:t>
                      </a:r>
                      <a:endParaRPr lang="en-GB"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Useful when multiple agents handle distinct areas or specialized tasks</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E.g., separating “Order Status,” “Refund,” and “FAQ” handling</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80734009"/>
                  </a:ext>
                </a:extLst>
              </a:tr>
              <a:tr h="500154">
                <a:tc>
                  <a:txBody>
                    <a:bodyPr/>
                    <a:lstStyle/>
                    <a:p>
                      <a:pPr>
                        <a:buNone/>
                      </a:pPr>
                      <a:r>
                        <a:rPr lang="en-GB" sz="1600" b="1"/>
                        <a:t>Typical Use Case</a:t>
                      </a:r>
                      <a:endParaRPr lang="en-GB"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Customer support system where queries are routed to the correct expert agent</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“Refund Agent” for refund issues, “Order Agent” for order status, </a:t>
                      </a:r>
                      <a:r>
                        <a:rPr lang="en-US" sz="1600" dirty="0" err="1"/>
                        <a:t>etc</a:t>
                      </a:r>
                      <a:endParaRPr lang="en-US" sz="1600" dirty="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61608973"/>
                  </a:ext>
                </a:extLst>
              </a:tr>
              <a:tr h="650200">
                <a:tc>
                  <a:txBody>
                    <a:bodyPr/>
                    <a:lstStyle/>
                    <a:p>
                      <a:pPr>
                        <a:buNone/>
                      </a:pPr>
                      <a:r>
                        <a:rPr lang="en-GB" sz="1600" b="1"/>
                        <a:t>Underlying Mechanism</a:t>
                      </a:r>
                      <a:endParaRPr lang="en-GB"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A </a:t>
                      </a:r>
                      <a:r>
                        <a:rPr lang="en-US" sz="1600" i="1" dirty="0"/>
                        <a:t>handoff</a:t>
                      </a:r>
                      <a:r>
                        <a:rPr lang="en-US" sz="1600" dirty="0"/>
                        <a:t> triggers a call to the corresponding function (e.g., </a:t>
                      </a:r>
                      <a:r>
                        <a:rPr lang="en-US" sz="1600" dirty="0" err="1">
                          <a:latin typeface="Courier New" panose="02070309020205020404" pitchFamily="49" charset="0"/>
                        </a:rPr>
                        <a:t>transfer_to_refund_agent</a:t>
                      </a:r>
                      <a:r>
                        <a:rPr lang="en-US" sz="1600" dirty="0"/>
                        <a:t>)</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Enables seamless task transfer between agents</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144975619"/>
                  </a:ext>
                </a:extLst>
              </a:tr>
              <a:tr h="500154">
                <a:tc>
                  <a:txBody>
                    <a:bodyPr/>
                    <a:lstStyle/>
                    <a:p>
                      <a:pPr>
                        <a:buNone/>
                      </a:pPr>
                      <a:r>
                        <a:rPr lang="en-GB" sz="1600" b="1"/>
                        <a:t>SDK Representation</a:t>
                      </a:r>
                      <a:endParaRPr lang="en-GB"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Implemented via the </a:t>
                      </a:r>
                      <a:r>
                        <a:rPr lang="en-US" sz="1600" b="1" dirty="0">
                          <a:latin typeface="Courier New" panose="02070309020205020404" pitchFamily="49" charset="0"/>
                        </a:rPr>
                        <a:t>handoff</a:t>
                      </a:r>
                      <a:r>
                        <a:rPr lang="en-US" sz="1600" b="1" dirty="0"/>
                        <a:t> parameter</a:t>
                      </a:r>
                      <a:r>
                        <a:rPr lang="en-US" sz="1600" dirty="0"/>
                        <a:t> or a </a:t>
                      </a:r>
                      <a:r>
                        <a:rPr lang="en-US" sz="1600" b="1" dirty="0">
                          <a:latin typeface="Courier New" panose="02070309020205020404" pitchFamily="49" charset="0"/>
                        </a:rPr>
                        <a:t>Handoff</a:t>
                      </a:r>
                      <a:r>
                        <a:rPr lang="en-US" sz="1600" b="1" dirty="0"/>
                        <a:t> object</a:t>
                      </a:r>
                      <a:r>
                        <a:rPr lang="en-US" sz="1600" dirty="0"/>
                        <a:t> in an agent definition</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Agents define how and when they perform handoffs</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06096898"/>
                  </a:ext>
                </a:extLst>
              </a:tr>
              <a:tr h="500154">
                <a:tc>
                  <a:txBody>
                    <a:bodyPr/>
                    <a:lstStyle/>
                    <a:p>
                      <a:pPr>
                        <a:buNone/>
                      </a:pPr>
                      <a:r>
                        <a:rPr lang="en-GB" sz="1600" b="1"/>
                        <a:t>Creation Method</a:t>
                      </a:r>
                      <a:endParaRPr lang="en-GB"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Created using the </a:t>
                      </a:r>
                      <a:r>
                        <a:rPr lang="en-US" sz="1600" dirty="0">
                          <a:latin typeface="Courier New" panose="02070309020205020404" pitchFamily="49" charset="0"/>
                        </a:rPr>
                        <a:t>handoff()</a:t>
                      </a:r>
                      <a:r>
                        <a:rPr lang="en-US" sz="1600" dirty="0"/>
                        <a:t> function provided by the Agents SDK</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a:t>Example: </a:t>
                      </a:r>
                      <a:r>
                        <a:rPr lang="en-US" sz="1600">
                          <a:latin typeface="Courier New" panose="02070309020205020404" pitchFamily="49" charset="0"/>
                        </a:rPr>
                        <a:t>refund_handoff = handoff(to="RefundAgent")</a:t>
                      </a:r>
                      <a:endParaRPr lang="en-US"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51902431"/>
                  </a:ext>
                </a:extLst>
              </a:tr>
              <a:tr h="500154">
                <a:tc>
                  <a:txBody>
                    <a:bodyPr/>
                    <a:lstStyle/>
                    <a:p>
                      <a:pPr>
                        <a:buNone/>
                      </a:pPr>
                      <a:r>
                        <a:rPr lang="en-GB" sz="1600" b="1"/>
                        <a:t>Customization</a:t>
                      </a:r>
                      <a:endParaRPr lang="en-GB"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The </a:t>
                      </a:r>
                      <a:r>
                        <a:rPr lang="en-US" sz="1600" dirty="0">
                          <a:latin typeface="Courier New" panose="02070309020205020404" pitchFamily="49" charset="0"/>
                        </a:rPr>
                        <a:t>Handoff</a:t>
                      </a:r>
                      <a:r>
                        <a:rPr lang="en-US" sz="1600" dirty="0"/>
                        <a:t> object can include metadata or conditions controlling when to perform the handoff</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a:t>E.g., </a:t>
                      </a:r>
                      <a:r>
                        <a:rPr lang="en-US" sz="1600">
                          <a:latin typeface="Courier New" panose="02070309020205020404" pitchFamily="49" charset="0"/>
                        </a:rPr>
                        <a:t>handoff(condition="refund_request_detected")</a:t>
                      </a:r>
                      <a:endParaRPr lang="en-US"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5059936"/>
                  </a:ext>
                </a:extLst>
              </a:tr>
              <a:tr h="500154">
                <a:tc>
                  <a:txBody>
                    <a:bodyPr/>
                    <a:lstStyle/>
                    <a:p>
                      <a:pPr>
                        <a:buNone/>
                      </a:pPr>
                      <a:r>
                        <a:rPr lang="en-GB" sz="1600" b="1"/>
                        <a:t>Result of Handoff</a:t>
                      </a:r>
                      <a:endParaRPr lang="en-GB" sz="1600"/>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a:t>The system calls a specific tool/function to execute the transfer</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600" dirty="0" err="1">
                          <a:latin typeface="Courier New" panose="02070309020205020404" pitchFamily="49" charset="0"/>
                        </a:rPr>
                        <a:t>transfer_to_refund_agent</a:t>
                      </a:r>
                      <a:r>
                        <a:rPr lang="en-US" sz="1600" dirty="0">
                          <a:latin typeface="Courier New" panose="02070309020205020404" pitchFamily="49" charset="0"/>
                        </a:rPr>
                        <a:t>()</a:t>
                      </a:r>
                      <a:r>
                        <a:rPr lang="en-US" sz="1600" dirty="0"/>
                        <a:t> is invoked automatically</a:t>
                      </a:r>
                    </a:p>
                  </a:txBody>
                  <a:tcPr marL="50015" marR="50015" marT="25008" marB="250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83637755"/>
                  </a:ext>
                </a:extLst>
              </a:tr>
            </a:tbl>
          </a:graphicData>
        </a:graphic>
      </p:graphicFrame>
    </p:spTree>
    <p:extLst>
      <p:ext uri="{BB962C8B-B14F-4D97-AF65-F5344CB8AC3E}">
        <p14:creationId xmlns:p14="http://schemas.microsoft.com/office/powerpoint/2010/main" val="30447968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3960</Words>
  <Application>Microsoft Office PowerPoint</Application>
  <PresentationFormat>Widescreen</PresentationFormat>
  <Paragraphs>524</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Cascadia Code</vt:lpstr>
      <vt:lpstr>Cascadia Mono</vt:lpstr>
      <vt:lpstr>Courier New</vt:lpstr>
      <vt:lpstr>Office Theme</vt:lpstr>
      <vt:lpstr>2) OpenAI Agents API</vt:lpstr>
      <vt:lpstr>Agents API</vt:lpstr>
      <vt:lpstr>Agents API Basics</vt:lpstr>
      <vt:lpstr>OpenAI Agents SDK</vt:lpstr>
      <vt:lpstr>Agents API: Sync or Async?</vt:lpstr>
      <vt:lpstr>Sync versus Async: Sample Code</vt:lpstr>
      <vt:lpstr>First Agent SDK Example (Sync Approach)</vt:lpstr>
      <vt:lpstr>asyncio in Python</vt:lpstr>
      <vt:lpstr>asyncio Code Example</vt:lpstr>
      <vt:lpstr>Sync Versus Async Processing in Agents</vt:lpstr>
      <vt:lpstr>PowerPoint Presentation</vt:lpstr>
      <vt:lpstr>Function (Tool) Calling Workflow</vt:lpstr>
      <vt:lpstr>Tool Workflow</vt:lpstr>
      <vt:lpstr>Function (Tool) Calling</vt:lpstr>
      <vt:lpstr>Vectors and Embedding</vt:lpstr>
      <vt:lpstr>Vector Embeddings and Semantic Search</vt:lpstr>
      <vt:lpstr>Computing Embeddings</vt:lpstr>
      <vt:lpstr>Comparing Embeddings</vt:lpstr>
      <vt:lpstr>RAG (Retrieval-Augmented Generation)</vt:lpstr>
      <vt:lpstr>RAG: Core Components</vt:lpstr>
      <vt:lpstr>RAG Example – Inputs</vt:lpstr>
      <vt:lpstr>PowerPoint Presentation</vt:lpstr>
      <vt:lpstr>Customer Service Agent (2_10_openai_agent_memory.py)</vt:lpstr>
      <vt:lpstr>PowerPoint Presentation</vt:lpstr>
      <vt:lpstr>Handoffs (2_11_openai_agent_handoff.py)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Kahate</dc:creator>
  <cp:lastModifiedBy>Atul Kahate</cp:lastModifiedBy>
  <cp:revision>5</cp:revision>
  <dcterms:created xsi:type="dcterms:W3CDTF">2025-09-25T12:33:45Z</dcterms:created>
  <dcterms:modified xsi:type="dcterms:W3CDTF">2025-11-08T08:27:31Z</dcterms:modified>
</cp:coreProperties>
</file>